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Play"/>
      <p:regular r:id="rId9"/>
      <p:bold r:id="rId10"/>
    </p:embeddedFont>
    <p:embeddedFont>
      <p:font typeface="Roboto Mon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oLTBJuvGmSorlVfripA4J4GUz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regular.fntdata"/><Relationship Id="rId10" Type="http://schemas.openxmlformats.org/officeDocument/2006/relationships/font" Target="fonts/Play-bold.fntdata"/><Relationship Id="rId13" Type="http://schemas.openxmlformats.org/officeDocument/2006/relationships/font" Target="fonts/RobotoMono-italic.fntdata"/><Relationship Id="rId12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Play-regular.fntdata"/><Relationship Id="rId15" Type="http://customschemas.google.com/relationships/presentationmetadata" Target="metadata"/><Relationship Id="rId14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23edfdd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a23edfdd7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Lab 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520950" y="919801"/>
            <a:ext cx="10804200" cy="59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Create</a:t>
            </a:r>
            <a:r>
              <a:rPr lang="en-US" sz="1800">
                <a:solidFill>
                  <a:schemeClr val="dk1"/>
                </a:solidFill>
              </a:rPr>
              <a:t> two DataFrames (already provided in the python file):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df_people</a:t>
            </a:r>
            <a:r>
              <a:rPr lang="en-US" sz="1800">
                <a:solidFill>
                  <a:schemeClr val="dk1"/>
                </a:solidFill>
              </a:rPr>
              <a:t>: columns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id, name, age</a:t>
            </a:r>
            <a:b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df_scores</a:t>
            </a:r>
            <a:r>
              <a:rPr lang="en-US" sz="1800">
                <a:solidFill>
                  <a:schemeClr val="dk1"/>
                </a:solidFill>
              </a:rPr>
              <a:t>: columns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id, score</a:t>
            </a:r>
            <a:b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Sort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df_people</a:t>
            </a:r>
            <a:r>
              <a:rPr lang="en-US" sz="1800">
                <a:solidFill>
                  <a:schemeClr val="dk1"/>
                </a:solidFill>
              </a:rPr>
              <a:t> by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 sz="1800">
                <a:solidFill>
                  <a:schemeClr val="dk1"/>
                </a:solidFill>
              </a:rPr>
              <a:t> ascending; then by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 sz="1800">
                <a:solidFill>
                  <a:schemeClr val="dk1"/>
                </a:solidFill>
              </a:rPr>
              <a:t> asc,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name</a:t>
            </a:r>
            <a:r>
              <a:rPr lang="en-US" sz="1800">
                <a:solidFill>
                  <a:schemeClr val="dk1"/>
                </a:solidFill>
              </a:rPr>
              <a:t> desc.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Select</a:t>
            </a:r>
            <a:r>
              <a:rPr lang="en-US" sz="1800">
                <a:solidFill>
                  <a:schemeClr val="dk1"/>
                </a:solidFill>
              </a:rPr>
              <a:t>: from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df_people</a:t>
            </a:r>
            <a:r>
              <a:rPr lang="en-US" sz="1800">
                <a:solidFill>
                  <a:schemeClr val="dk1"/>
                </a:solidFill>
              </a:rPr>
              <a:t>, keep columns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["name","age"]</a:t>
            </a:r>
            <a:r>
              <a:rPr lang="en-US" sz="1800">
                <a:solidFill>
                  <a:schemeClr val="dk1"/>
                </a:solidFill>
              </a:rPr>
              <a:t> and rows where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 &gt;= 21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Resize</a:t>
            </a:r>
            <a:r>
              <a:rPr lang="en-US" sz="1800">
                <a:solidFill>
                  <a:schemeClr val="dk1"/>
                </a:solidFill>
              </a:rPr>
              <a:t> (change shape):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Add </a:t>
            </a:r>
            <a:r>
              <a:rPr b="1" lang="en-US" sz="1800">
                <a:solidFill>
                  <a:schemeClr val="dk1"/>
                </a:solidFill>
              </a:rPr>
              <a:t>one new row</a:t>
            </a:r>
            <a:r>
              <a:rPr lang="en-US" sz="1800">
                <a:solidFill>
                  <a:schemeClr val="dk1"/>
                </a:solidFill>
              </a:rPr>
              <a:t> to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df_people</a:t>
            </a:r>
            <a:r>
              <a:rPr lang="en-US" sz="1800">
                <a:solidFill>
                  <a:schemeClr val="dk1"/>
                </a:solidFill>
              </a:rPr>
              <a:t> (your choice of values)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Add a </a:t>
            </a:r>
            <a:r>
              <a:rPr b="1" lang="en-US" sz="1800">
                <a:solidFill>
                  <a:schemeClr val="dk1"/>
                </a:solidFill>
              </a:rPr>
              <a:t>new column</a:t>
            </a: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age_plus_1 = age + 1</a:t>
            </a:r>
            <a:endParaRPr sz="18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Drop the original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age</a:t>
            </a:r>
            <a:r>
              <a:rPr lang="en-US" sz="1800">
                <a:solidFill>
                  <a:schemeClr val="dk1"/>
                </a:solidFill>
              </a:rPr>
              <a:t> column (so shape changes)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Merge</a:t>
            </a:r>
            <a:r>
              <a:rPr lang="en-US" sz="1800">
                <a:solidFill>
                  <a:schemeClr val="dk1"/>
                </a:solidFill>
              </a:rPr>
              <a:t>: left-merge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df_people</a:t>
            </a:r>
            <a:r>
              <a:rPr lang="en-US" sz="1800">
                <a:solidFill>
                  <a:schemeClr val="dk1"/>
                </a:solidFill>
              </a:rPr>
              <a:t> with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df_scores</a:t>
            </a:r>
            <a:r>
              <a:rPr lang="en-US" sz="1800">
                <a:solidFill>
                  <a:schemeClr val="dk1"/>
                </a:solidFill>
              </a:rPr>
              <a:t> on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id</a:t>
            </a:r>
            <a:r>
              <a:rPr lang="en-US" sz="1800">
                <a:solidFill>
                  <a:schemeClr val="dk1"/>
                </a:solidFill>
              </a:rPr>
              <a:t> (keep all people).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US" sz="1800">
                <a:solidFill>
                  <a:schemeClr val="dk1"/>
                </a:solidFill>
              </a:rPr>
              <a:t>Concat</a:t>
            </a:r>
            <a:r>
              <a:rPr lang="en-US" sz="1800">
                <a:solidFill>
                  <a:schemeClr val="dk1"/>
                </a:solidFill>
              </a:rPr>
              <a:t>: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Row-wise: split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df_people</a:t>
            </a:r>
            <a:r>
              <a:rPr lang="en-US" sz="1800">
                <a:solidFill>
                  <a:schemeClr val="dk1"/>
                </a:solidFill>
              </a:rPr>
              <a:t> into two parts and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concat</a:t>
            </a:r>
            <a:r>
              <a:rPr lang="en-US" sz="1800">
                <a:solidFill>
                  <a:schemeClr val="dk1"/>
                </a:solidFill>
              </a:rPr>
              <a:t> back together</a:t>
            </a:r>
            <a:br>
              <a:rPr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Column-wise: concat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df_people[["id"]]</a:t>
            </a:r>
            <a:r>
              <a:rPr lang="en-US" sz="1800">
                <a:solidFill>
                  <a:schemeClr val="dk1"/>
                </a:solidFill>
              </a:rPr>
              <a:t> and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df_scores[["score"]]</a:t>
            </a:r>
            <a:r>
              <a:rPr lang="en-US" sz="1800">
                <a:solidFill>
                  <a:schemeClr val="dk1"/>
                </a:solidFill>
              </a:rPr>
              <a:t> (same length not required; just see how pandas aligns by index)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3974300" y="62925"/>
            <a:ext cx="36177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Things to Do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23edfdd7a_0_2"/>
          <p:cNvSpPr txBox="1"/>
          <p:nvPr/>
        </p:nvSpPr>
        <p:spPr>
          <a:xfrm>
            <a:off x="520950" y="919801"/>
            <a:ext cx="108042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df = pd.DataFrame({})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df.sort_values()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df.loc or df.iloc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concat and drop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pd.merge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-US" sz="1700">
                <a:solidFill>
                  <a:schemeClr val="dk1"/>
                </a:solidFill>
              </a:rPr>
              <a:t>pd.concat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96" name="Google Shape;96;g3a23edfdd7a_0_2"/>
          <p:cNvSpPr txBox="1"/>
          <p:nvPr/>
        </p:nvSpPr>
        <p:spPr>
          <a:xfrm>
            <a:off x="3974300" y="62925"/>
            <a:ext cx="36177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Hints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US" sz="3200"/>
              <a:t>Submission Instructions</a:t>
            </a:r>
            <a:endParaRPr/>
          </a:p>
        </p:txBody>
      </p:sp>
      <p:sp>
        <p:nvSpPr>
          <p:cNvPr id="102" name="Google Shape;102;p5"/>
          <p:cNvSpPr txBox="1"/>
          <p:nvPr/>
        </p:nvSpPr>
        <p:spPr>
          <a:xfrm>
            <a:off x="838200" y="1647579"/>
            <a:ext cx="11342914" cy="35209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Submit the following in iCollege:</a:t>
            </a:r>
            <a:endParaRPr/>
          </a:p>
          <a:p>
            <a:pPr indent="-571500" lvl="1" marL="10287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AutoNum type="roman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Source code file for Task 1 (</a:t>
            </a: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YOUR_FULL_NAME_Lab12.py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571500" lvl="1" marL="10287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lay"/>
              <a:buAutoNum type="romanLcPeriod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Screenshots of the  program output (</a:t>
            </a:r>
            <a:r>
              <a:rPr b="0" i="0" lang="en-US" sz="24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jpg/png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Due date/time: Same Day within the lab period (strongly recommended)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Late submission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0" i="1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10% late submission penalty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1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Same Day - after the lab period but before 11:59PM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Demonstrate your solution to the Lab Instructor and be prepared to answer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     a few questions on your solution.</a:t>
            </a:r>
            <a:endParaRPr b="0" i="0" sz="2400" u="none" cap="none" strike="noStrike">
              <a:solidFill>
                <a:srgbClr val="000000"/>
              </a:solidFill>
              <a:highlight>
                <a:srgbClr val="FF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2024-11-10T20:09:03Z</dcterms:created>
  <dc:creator>S M Towhidul Islam</dc:creator>
</cp:coreProperties>
</file>
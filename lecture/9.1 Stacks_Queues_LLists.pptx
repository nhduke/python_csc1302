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54" r:id="rId5"/>
    <p:sldId id="455" r:id="rId6"/>
    <p:sldId id="453" r:id="rId7"/>
    <p:sldId id="256" r:id="rId8"/>
    <p:sldId id="261" r:id="rId9"/>
    <p:sldId id="270" r:id="rId10"/>
    <p:sldId id="273" r:id="rId11"/>
    <p:sldId id="275" r:id="rId12"/>
    <p:sldId id="274" r:id="rId13"/>
    <p:sldId id="257" r:id="rId14"/>
    <p:sldId id="276" r:id="rId15"/>
    <p:sldId id="271" r:id="rId16"/>
    <p:sldId id="277" r:id="rId17"/>
    <p:sldId id="278" r:id="rId18"/>
    <p:sldId id="262" r:id="rId19"/>
    <p:sldId id="290" r:id="rId20"/>
    <p:sldId id="291" r:id="rId21"/>
    <p:sldId id="288" r:id="rId22"/>
    <p:sldId id="286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2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08" y="176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68C1-89C5-A801-333B-A59FE5D3B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C5CFD-47DA-5184-7EBB-AE092465A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5C423-8AC1-0A28-EBD0-236C4493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0C323-BDD2-9236-5266-6A14C305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221F-C069-3C9C-2ED5-E1AFD596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1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F4F-988C-FCEA-BF8F-EF8F2E88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704C7-D0C9-D4F4-3CA2-67284F3E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62901-9AD9-B438-0104-718DDC9F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F82D-F903-7BF3-E752-B599C549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4EBA-D2F0-2AD1-F2DE-8430A60B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1CC3-DFD2-9B3B-D960-9BFBA2C9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54B96-E148-3FF8-C7DC-5A8C77193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D8B2-43AE-7877-B9D3-C7A66187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567A-E1A2-8AD1-9EC3-A6BAE183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25D0D-BFA2-20CB-6E24-71D613EE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6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24C2-DDA6-3BA1-425A-79772226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6C518-E6A3-F40A-1ABB-A4ACA9F44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20D3C-939F-6BC5-E01F-668877B3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3A49-9E51-E153-7D87-FAB33C06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AC03D-2FA4-B6E3-A462-209F5416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DE4BE-A015-E6E0-0381-EA7E5F0D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8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C639-388E-FA27-58E1-43F0F56A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965E-9C0A-F605-92AD-E1126E43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E5C2D-0ED7-7C4F-3FBC-B80A9C0FF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77B5A-E758-D5E7-80AC-4DBB8CDF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C1C36-B957-82C0-DC1F-1200DC325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017DD-C8B3-E8FA-7EEB-69EED89C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5226-ADF3-5A9C-B0A6-BFF96D9D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191D2-A4E4-0E89-9329-5AB1EC89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1758-22C8-3848-98EA-E114A233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9C9A1-8BE9-E293-9F23-955A6E2E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FF5B2-D70D-859E-F41E-658A7BD2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32D67-539E-38AD-80F7-E94A6217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0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F1330-A7FA-8BEB-E0EB-D83291A9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E37DA-9850-DD6B-C893-49CECF36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29113-3BA2-9CD6-C646-F8EB8F01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3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B096-324A-265B-C774-9A85A43D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672C-E9D5-9EC2-B753-9E09E6009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4E709-29A1-98DE-C7DF-FF53D4BE7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648D8-6125-DFD1-B2CC-2EF73E1E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FC982-8AF9-2ACB-5A26-4643520C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58640-8F15-070D-1674-0EBEF101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CB7E-3DEA-E613-0108-BB4AD02D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4AEC0-F832-591D-A07D-E75A90FDA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28920-FB33-6BD4-AF8A-66BFD4C8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11F3-C06D-7868-19DC-DCDCCDB1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DA9B5-45CA-DAAE-67F3-4E18551C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6441A-179C-DD7D-9831-2A42C10C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6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3DF3-21D0-5AC9-B82F-0831D232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7E3A5-AC7A-CB56-A4B2-4B8752D51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9652-0FD5-CD9D-CA47-1A5F684A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01E-AC4F-7B24-F812-008CAD28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1D21-999D-411E-083F-A9235BA7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4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D5BE1-0A5F-00BD-1834-BB3CF0D47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6CAEE-F515-B04E-4E21-59E2DC41D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73F4-31C1-2F5E-9203-B58E43D3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C354-CAC3-3F07-84B6-34B23E33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28CEC-DED9-AC3D-4B01-AC536FEC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2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21765-8019-0899-6F5F-01228F6E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7D82-DBA6-5E81-8E9B-B71080678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167F8-18D1-3568-86BD-91F0D56B5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9D881-4E34-4093-ABCE-2C8772594A0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D8D21-A637-6538-7DE6-BEAB73C4F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4484B-54F3-C8E0-649A-DC1AB4DCF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25EEE83-7763-D340-CD1A-C802308F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26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Career Readiness Modules - Part I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-Has been posted on </a:t>
            </a:r>
            <a:r>
              <a:rPr lang="en-US" dirty="0" err="1"/>
              <a:t>iCollege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0498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7B95-65EB-6D47-2F01-502018AE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53E87A-094D-13F5-91AD-5E51E8DC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26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Exam 2 – Mon, Oct 27, 2025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Syllabus has been uploaded on </a:t>
            </a:r>
            <a:r>
              <a:rPr lang="en-US" dirty="0" err="1"/>
              <a:t>iCollege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106828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ABE0-ED66-759C-1203-F97A81BA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Office Hours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CDCDC-3C38-F97A-4E42-A00459347D53}"/>
              </a:ext>
            </a:extLst>
          </p:cNvPr>
          <p:cNvSpPr/>
          <p:nvPr/>
        </p:nvSpPr>
        <p:spPr>
          <a:xfrm>
            <a:off x="2547367" y="2136338"/>
            <a:ext cx="6487673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strike="sngStrike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MW 12:30PM-1:30PM</a:t>
            </a:r>
          </a:p>
          <a:p>
            <a:pPr algn="ctr"/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0" b="0" cap="none" spc="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FRI 12:00PM-1:15PM</a:t>
            </a:r>
          </a:p>
        </p:txBody>
      </p:sp>
    </p:spTree>
    <p:extLst>
      <p:ext uri="{BB962C8B-B14F-4D97-AF65-F5344CB8AC3E}">
        <p14:creationId xmlns:p14="http://schemas.microsoft.com/office/powerpoint/2010/main" val="352408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1886-6835-97CA-8DB1-E7A0B584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009" y="1122363"/>
            <a:ext cx="10917876" cy="2306637"/>
          </a:xfrm>
        </p:spPr>
        <p:txBody>
          <a:bodyPr/>
          <a:lstStyle/>
          <a:p>
            <a:r>
              <a:rPr lang="en-US" sz="3200" dirty="0"/>
              <a:t>Data Structure </a:t>
            </a:r>
            <a:br>
              <a:rPr lang="en-US" dirty="0"/>
            </a:br>
            <a:r>
              <a:rPr lang="en-US" sz="4400" dirty="0"/>
              <a:t>Stacks, Queues, 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2CFCB-28B4-24C1-C777-395C4D616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817" y="3815794"/>
            <a:ext cx="9144000" cy="1655762"/>
          </a:xfrm>
        </p:spPr>
        <p:txBody>
          <a:bodyPr/>
          <a:lstStyle/>
          <a:p>
            <a:r>
              <a:rPr lang="en-US" dirty="0"/>
              <a:t>with Python</a:t>
            </a:r>
          </a:p>
        </p:txBody>
      </p:sp>
    </p:spTree>
    <p:extLst>
      <p:ext uri="{BB962C8B-B14F-4D97-AF65-F5344CB8AC3E}">
        <p14:creationId xmlns:p14="http://schemas.microsoft.com/office/powerpoint/2010/main" val="143565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874C-0179-3803-01A9-2A5F9094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F308B-DF9B-424B-CD89-302C824BA4E7}"/>
              </a:ext>
            </a:extLst>
          </p:cNvPr>
          <p:cNvSpPr txBox="1"/>
          <p:nvPr/>
        </p:nvSpPr>
        <p:spPr>
          <a:xfrm>
            <a:off x="1192976" y="3429000"/>
            <a:ext cx="31618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Common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push()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pop()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isEmpty</a:t>
            </a:r>
            <a:r>
              <a:rPr lang="en-US" sz="2400" dirty="0"/>
              <a:t>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top()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…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4DC3E7-F1DE-8B34-DD70-9E1067130D3E}"/>
              </a:ext>
            </a:extLst>
          </p:cNvPr>
          <p:cNvCxnSpPr>
            <a:cxnSpLocks/>
          </p:cNvCxnSpPr>
          <p:nvPr/>
        </p:nvCxnSpPr>
        <p:spPr>
          <a:xfrm>
            <a:off x="9528116" y="2889766"/>
            <a:ext cx="0" cy="25873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F9EB76-773E-8D0A-EA22-A6CC50708B90}"/>
              </a:ext>
            </a:extLst>
          </p:cNvPr>
          <p:cNvCxnSpPr>
            <a:cxnSpLocks/>
          </p:cNvCxnSpPr>
          <p:nvPr/>
        </p:nvCxnSpPr>
        <p:spPr>
          <a:xfrm flipH="1">
            <a:off x="9528116" y="5477102"/>
            <a:ext cx="7273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8F10A5-CF1B-685F-478C-DEA8ABADE7BF}"/>
              </a:ext>
            </a:extLst>
          </p:cNvPr>
          <p:cNvCxnSpPr>
            <a:cxnSpLocks/>
          </p:cNvCxnSpPr>
          <p:nvPr/>
        </p:nvCxnSpPr>
        <p:spPr>
          <a:xfrm>
            <a:off x="10252016" y="2886302"/>
            <a:ext cx="0" cy="25873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4D50449-B11D-CA0E-FE94-2BB8BBA38C09}"/>
              </a:ext>
            </a:extLst>
          </p:cNvPr>
          <p:cNvSpPr/>
          <p:nvPr/>
        </p:nvSpPr>
        <p:spPr>
          <a:xfrm>
            <a:off x="9661924" y="2984848"/>
            <a:ext cx="450764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3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0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9</a:t>
            </a: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500B6678-7A3A-13BB-E588-14B3C3810053}"/>
              </a:ext>
            </a:extLst>
          </p:cNvPr>
          <p:cNvSpPr/>
          <p:nvPr/>
        </p:nvSpPr>
        <p:spPr>
          <a:xfrm>
            <a:off x="9661530" y="2139824"/>
            <a:ext cx="395111" cy="75635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ABC3-8E03-7230-65BD-D41C43B83D67}"/>
              </a:ext>
            </a:extLst>
          </p:cNvPr>
          <p:cNvSpPr txBox="1"/>
          <p:nvPr/>
        </p:nvSpPr>
        <p:spPr>
          <a:xfrm>
            <a:off x="9435878" y="5574661"/>
            <a:ext cx="84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7515E-15D3-D254-EC12-73001CAF3DD5}"/>
              </a:ext>
            </a:extLst>
          </p:cNvPr>
          <p:cNvSpPr txBox="1"/>
          <p:nvPr/>
        </p:nvSpPr>
        <p:spPr>
          <a:xfrm>
            <a:off x="10186589" y="2351683"/>
            <a:ext cx="68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1EF5-B7B6-C060-B29E-B0E32F91E2C8}"/>
              </a:ext>
            </a:extLst>
          </p:cNvPr>
          <p:cNvSpPr txBox="1"/>
          <p:nvPr/>
        </p:nvSpPr>
        <p:spPr>
          <a:xfrm>
            <a:off x="1196438" y="1587003"/>
            <a:ext cx="8331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A stack is a collection of objects that are inserted and removed according to the last-in, first-out (LIFO) principle.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This is an abstract data type (ADT) – where operations are</a:t>
            </a:r>
          </a:p>
          <a:p>
            <a:r>
              <a:rPr lang="en-US" sz="2400" dirty="0"/>
              <a:t>     defined, however, implementations are not specified.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386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D02FC-A76A-2A0B-3CA9-C901C382FD79}"/>
              </a:ext>
            </a:extLst>
          </p:cNvPr>
          <p:cNvSpPr txBox="1"/>
          <p:nvPr/>
        </p:nvSpPr>
        <p:spPr>
          <a:xfrm>
            <a:off x="1631371" y="1871646"/>
            <a:ext cx="56760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Function call stack: manage function calls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Undo/Redo operations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Browser history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DFS / Backtracking algorithm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many others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336521-A9AA-7D0A-D07D-AA33BF205792}"/>
              </a:ext>
            </a:extLst>
          </p:cNvPr>
          <p:cNvSpPr txBox="1">
            <a:spLocks/>
          </p:cNvSpPr>
          <p:nvPr/>
        </p:nvSpPr>
        <p:spPr>
          <a:xfrm>
            <a:off x="838200" y="69250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Stack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6987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1E43-2D76-7732-0A0B-35571E4B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F922D6-CFD3-BBB4-556E-EB333277C52C}"/>
              </a:ext>
            </a:extLst>
          </p:cNvPr>
          <p:cNvSpPr txBox="1">
            <a:spLocks/>
          </p:cNvSpPr>
          <p:nvPr/>
        </p:nvSpPr>
        <p:spPr>
          <a:xfrm>
            <a:off x="6550231" y="52624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Stack Implementation</a:t>
            </a:r>
          </a:p>
          <a:p>
            <a:r>
              <a:rPr lang="en-US" dirty="0"/>
              <a:t>(list based)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97CDD-9BE3-CF75-1E9A-2FD4CFC9F289}"/>
              </a:ext>
            </a:extLst>
          </p:cNvPr>
          <p:cNvSpPr txBox="1"/>
          <p:nvPr/>
        </p:nvSpPr>
        <p:spPr>
          <a:xfrm>
            <a:off x="942109" y="394692"/>
            <a:ext cx="1213757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F8E6D"/>
                </a:solidFill>
                <a:effectLst/>
              </a:rPr>
              <a:t>class </a:t>
            </a:r>
            <a:r>
              <a:rPr lang="en-US" dirty="0">
                <a:solidFill>
                  <a:srgbClr val="BCBEC4"/>
                </a:solidFill>
                <a:effectLst/>
              </a:rPr>
              <a:t>Stack: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</a:rPr>
              <a:t>__</a:t>
            </a:r>
            <a:r>
              <a:rPr lang="en-US" dirty="0" err="1">
                <a:solidFill>
                  <a:srgbClr val="B200B2"/>
                </a:solidFill>
                <a:effectLst/>
              </a:rPr>
              <a:t>init</a:t>
            </a:r>
            <a:r>
              <a:rPr lang="en-US" dirty="0">
                <a:solidFill>
                  <a:srgbClr val="B200B2"/>
                </a:solidFill>
                <a:effectLst/>
              </a:rPr>
              <a:t>__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._data</a:t>
            </a:r>
            <a:r>
              <a:rPr lang="en-US" dirty="0">
                <a:solidFill>
                  <a:srgbClr val="BCBEC4"/>
                </a:solidFill>
                <a:effectLst/>
              </a:rPr>
              <a:t> = []  </a:t>
            </a:r>
            <a:r>
              <a:rPr lang="en-US" dirty="0">
                <a:solidFill>
                  <a:srgbClr val="7A7E85"/>
                </a:solidFill>
                <a:effectLst/>
              </a:rPr>
              <a:t># nonpublic list instance</a:t>
            </a:r>
            <a:br>
              <a:rPr lang="en-US" dirty="0">
                <a:solidFill>
                  <a:srgbClr val="7A7E85"/>
                </a:solidFill>
                <a:effectLst/>
              </a:rPr>
            </a:br>
            <a:br>
              <a:rPr lang="en-US" dirty="0">
                <a:solidFill>
                  <a:srgbClr val="7A7E85"/>
                </a:solidFill>
                <a:effectLst/>
              </a:rPr>
            </a:br>
            <a:r>
              <a:rPr lang="en-US" dirty="0">
                <a:solidFill>
                  <a:srgbClr val="7A7E85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</a:rPr>
              <a:t>__</a:t>
            </a:r>
            <a:r>
              <a:rPr lang="en-US" dirty="0" err="1">
                <a:solidFill>
                  <a:srgbClr val="B200B2"/>
                </a:solidFill>
                <a:effectLst/>
              </a:rPr>
              <a:t>len</a:t>
            </a:r>
            <a:r>
              <a:rPr lang="en-US" dirty="0">
                <a:solidFill>
                  <a:srgbClr val="B200B2"/>
                </a:solidFill>
                <a:effectLst/>
              </a:rPr>
              <a:t>__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return </a:t>
            </a:r>
            <a:r>
              <a:rPr lang="en-US" dirty="0" err="1">
                <a:solidFill>
                  <a:srgbClr val="8888C6"/>
                </a:solidFill>
                <a:effectLst/>
              </a:rPr>
              <a:t>len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._data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 err="1">
                <a:solidFill>
                  <a:srgbClr val="56A8F5"/>
                </a:solidFill>
                <a:effectLst/>
              </a:rPr>
              <a:t>is_empty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return </a:t>
            </a:r>
            <a:r>
              <a:rPr lang="en-US" dirty="0" err="1">
                <a:solidFill>
                  <a:srgbClr val="8888C6"/>
                </a:solidFill>
                <a:effectLst/>
              </a:rPr>
              <a:t>len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._data</a:t>
            </a:r>
            <a:r>
              <a:rPr lang="en-US" dirty="0">
                <a:solidFill>
                  <a:srgbClr val="BCBEC4"/>
                </a:solidFill>
                <a:effectLst/>
              </a:rPr>
              <a:t>) == </a:t>
            </a:r>
            <a:r>
              <a:rPr lang="en-US" dirty="0">
                <a:solidFill>
                  <a:srgbClr val="2AACB8"/>
                </a:solidFill>
                <a:effectLst/>
              </a:rPr>
              <a:t>0</a:t>
            </a:r>
            <a:br>
              <a:rPr lang="en-US" dirty="0">
                <a:solidFill>
                  <a:srgbClr val="2AACB8"/>
                </a:solidFill>
                <a:effectLst/>
              </a:rPr>
            </a:br>
            <a:br>
              <a:rPr lang="en-US" dirty="0">
                <a:solidFill>
                  <a:srgbClr val="2AACB8"/>
                </a:solidFill>
                <a:effectLst/>
              </a:rPr>
            </a:br>
            <a:r>
              <a:rPr lang="en-US" dirty="0">
                <a:solidFill>
                  <a:srgbClr val="2AACB8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>
                <a:solidFill>
                  <a:srgbClr val="56A8F5"/>
                </a:solidFill>
                <a:effectLst/>
              </a:rPr>
              <a:t>push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, e):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._</a:t>
            </a:r>
            <a:r>
              <a:rPr lang="en-US" dirty="0" err="1">
                <a:solidFill>
                  <a:srgbClr val="BCBEC4"/>
                </a:solidFill>
                <a:effectLst/>
              </a:rPr>
              <a:t>data.append</a:t>
            </a:r>
            <a:r>
              <a:rPr lang="en-US" dirty="0">
                <a:solidFill>
                  <a:srgbClr val="BCBEC4"/>
                </a:solidFill>
                <a:effectLst/>
              </a:rPr>
              <a:t>(e)  </a:t>
            </a:r>
            <a:r>
              <a:rPr lang="en-US" dirty="0">
                <a:solidFill>
                  <a:srgbClr val="7A7E85"/>
                </a:solidFill>
                <a:effectLst/>
              </a:rPr>
              <a:t># new item stored at end of list</a:t>
            </a:r>
            <a:br>
              <a:rPr lang="en-US" dirty="0">
                <a:solidFill>
                  <a:srgbClr val="7A7E85"/>
                </a:solidFill>
                <a:effectLst/>
              </a:rPr>
            </a:br>
            <a:br>
              <a:rPr lang="en-US" dirty="0">
                <a:solidFill>
                  <a:srgbClr val="7A7E85"/>
                </a:solidFill>
                <a:effectLst/>
              </a:rPr>
            </a:br>
            <a:r>
              <a:rPr lang="en-US" dirty="0">
                <a:solidFill>
                  <a:srgbClr val="7A7E85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>
                <a:solidFill>
                  <a:srgbClr val="56A8F5"/>
                </a:solidFill>
                <a:effectLst/>
              </a:rPr>
              <a:t>top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if 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.is_empty</a:t>
            </a:r>
            <a:r>
              <a:rPr lang="en-US" dirty="0">
                <a:solidFill>
                  <a:srgbClr val="BCBEC4"/>
                </a:solidFill>
                <a:effectLst/>
              </a:rPr>
              <a:t>():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            </a:t>
            </a:r>
            <a:r>
              <a:rPr lang="en-US" dirty="0">
                <a:solidFill>
                  <a:srgbClr val="CF8E6D"/>
                </a:solidFill>
                <a:effectLst/>
              </a:rPr>
              <a:t>raise </a:t>
            </a:r>
            <a:r>
              <a:rPr lang="en-US" dirty="0">
                <a:solidFill>
                  <a:srgbClr val="BCBEC4"/>
                </a:solidFill>
                <a:effectLst/>
              </a:rPr>
              <a:t>Empty(</a:t>
            </a:r>
            <a:r>
              <a:rPr lang="en-US" dirty="0">
                <a:solidFill>
                  <a:srgbClr val="6AAB73"/>
                </a:solidFill>
                <a:effectLst/>
              </a:rPr>
              <a:t>'Stack is empty'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return 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._data</a:t>
            </a:r>
            <a:r>
              <a:rPr lang="en-US" dirty="0">
                <a:solidFill>
                  <a:srgbClr val="BCBEC4"/>
                </a:solidFill>
                <a:effectLst/>
              </a:rPr>
              <a:t>[-</a:t>
            </a:r>
            <a:r>
              <a:rPr lang="en-US" dirty="0">
                <a:solidFill>
                  <a:srgbClr val="2AACB8"/>
                </a:solidFill>
                <a:effectLst/>
              </a:rPr>
              <a:t>1</a:t>
            </a:r>
            <a:r>
              <a:rPr lang="en-US" dirty="0">
                <a:solidFill>
                  <a:srgbClr val="BCBEC4"/>
                </a:solidFill>
                <a:effectLst/>
              </a:rPr>
              <a:t>]  </a:t>
            </a:r>
            <a:r>
              <a:rPr lang="en-US" dirty="0">
                <a:solidFill>
                  <a:srgbClr val="7A7E85"/>
                </a:solidFill>
                <a:effectLst/>
              </a:rPr>
              <a:t># the last item in the list</a:t>
            </a:r>
            <a:br>
              <a:rPr lang="en-US" dirty="0">
                <a:solidFill>
                  <a:srgbClr val="7A7E85"/>
                </a:solidFill>
                <a:effectLst/>
              </a:rPr>
            </a:br>
            <a:br>
              <a:rPr lang="en-US" dirty="0">
                <a:solidFill>
                  <a:srgbClr val="7A7E85"/>
                </a:solidFill>
                <a:effectLst/>
              </a:rPr>
            </a:br>
            <a:r>
              <a:rPr lang="en-US" dirty="0">
                <a:solidFill>
                  <a:srgbClr val="7A7E85"/>
                </a:solidFill>
                <a:effectLst/>
              </a:rPr>
              <a:t>    </a:t>
            </a:r>
            <a:r>
              <a:rPr lang="en-US" dirty="0">
                <a:solidFill>
                  <a:srgbClr val="CF8E6D"/>
                </a:solidFill>
                <a:effectLst/>
              </a:rPr>
              <a:t>def </a:t>
            </a:r>
            <a:r>
              <a:rPr lang="en-US" dirty="0">
                <a:solidFill>
                  <a:srgbClr val="56A8F5"/>
                </a:solidFill>
                <a:effectLst/>
              </a:rPr>
              <a:t>pop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):</a:t>
            </a:r>
            <a:br>
              <a:rPr lang="en-US" i="1" dirty="0">
                <a:solidFill>
                  <a:srgbClr val="5F826B"/>
                </a:solidFill>
                <a:effectLst/>
              </a:rPr>
            </a:br>
            <a:r>
              <a:rPr lang="en-US" i="1" dirty="0">
                <a:solidFill>
                  <a:srgbClr val="5F826B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if </a:t>
            </a:r>
            <a:r>
              <a:rPr lang="en-US" dirty="0" err="1">
                <a:solidFill>
                  <a:srgbClr val="94558D"/>
                </a:solidFill>
                <a:effectLst/>
              </a:rPr>
              <a:t>self</a:t>
            </a:r>
            <a:r>
              <a:rPr lang="en-US" dirty="0" err="1">
                <a:solidFill>
                  <a:srgbClr val="BCBEC4"/>
                </a:solidFill>
                <a:effectLst/>
              </a:rPr>
              <a:t>.is_empty</a:t>
            </a:r>
            <a:r>
              <a:rPr lang="en-US" dirty="0">
                <a:solidFill>
                  <a:srgbClr val="BCBEC4"/>
                </a:solidFill>
                <a:effectLst/>
              </a:rPr>
              <a:t>():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            </a:t>
            </a:r>
            <a:r>
              <a:rPr lang="en-US" dirty="0">
                <a:solidFill>
                  <a:srgbClr val="CF8E6D"/>
                </a:solidFill>
                <a:effectLst/>
              </a:rPr>
              <a:t>raise </a:t>
            </a:r>
            <a:r>
              <a:rPr lang="en-US" dirty="0">
                <a:solidFill>
                  <a:srgbClr val="BCBEC4"/>
                </a:solidFill>
                <a:effectLst/>
              </a:rPr>
              <a:t>Empty(</a:t>
            </a:r>
            <a:r>
              <a:rPr lang="en-US" dirty="0">
                <a:solidFill>
                  <a:srgbClr val="6AAB73"/>
                </a:solidFill>
                <a:effectLst/>
              </a:rPr>
              <a:t>'Stack is empty'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        </a:t>
            </a:r>
            <a:r>
              <a:rPr lang="en-US" dirty="0">
                <a:solidFill>
                  <a:srgbClr val="CF8E6D"/>
                </a:solidFill>
                <a:effectLst/>
              </a:rPr>
              <a:t>return </a:t>
            </a:r>
            <a:r>
              <a:rPr lang="en-US" dirty="0">
                <a:solidFill>
                  <a:srgbClr val="94558D"/>
                </a:solidFill>
                <a:effectLst/>
              </a:rPr>
              <a:t>self</a:t>
            </a:r>
            <a:r>
              <a:rPr lang="en-US" dirty="0">
                <a:solidFill>
                  <a:srgbClr val="BCBEC4"/>
                </a:solidFill>
                <a:effectLst/>
              </a:rPr>
              <a:t>._</a:t>
            </a:r>
            <a:r>
              <a:rPr lang="en-US" dirty="0" err="1">
                <a:solidFill>
                  <a:srgbClr val="BCBEC4"/>
                </a:solidFill>
                <a:effectLst/>
              </a:rPr>
              <a:t>data.pop</a:t>
            </a:r>
            <a:r>
              <a:rPr lang="en-US" dirty="0">
                <a:solidFill>
                  <a:srgbClr val="BCBEC4"/>
                </a:solidFill>
                <a:effectLst/>
              </a:rPr>
              <a:t>()  </a:t>
            </a:r>
            <a:r>
              <a:rPr lang="en-US" dirty="0">
                <a:solidFill>
                  <a:srgbClr val="7A7E85"/>
                </a:solidFill>
                <a:effectLst/>
              </a:rPr>
              <a:t># remove last item from list</a:t>
            </a:r>
            <a:br>
              <a:rPr lang="en-US" dirty="0">
                <a:solidFill>
                  <a:srgbClr val="7A7E85"/>
                </a:solidFill>
                <a:effectLst/>
              </a:rPr>
            </a:br>
            <a:endParaRPr lang="en-US" dirty="0">
              <a:solidFill>
                <a:srgbClr val="BCBEC4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09CB7-69C3-B2F5-C2BF-EFA3A78E3441}"/>
              </a:ext>
            </a:extLst>
          </p:cNvPr>
          <p:cNvSpPr txBox="1"/>
          <p:nvPr/>
        </p:nvSpPr>
        <p:spPr>
          <a:xfrm>
            <a:off x="7116289" y="4074848"/>
            <a:ext cx="85324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#Driver Code</a:t>
            </a:r>
          </a:p>
          <a:p>
            <a:r>
              <a:rPr lang="en-US" dirty="0"/>
              <a:t>stack = Stack()</a:t>
            </a:r>
            <a:br>
              <a:rPr lang="en-US" dirty="0"/>
            </a:br>
            <a:r>
              <a:rPr lang="en-US" dirty="0" err="1"/>
              <a:t>stack.push</a:t>
            </a:r>
            <a:r>
              <a:rPr lang="en-US" dirty="0"/>
              <a:t>(5)</a:t>
            </a:r>
            <a:br>
              <a:rPr lang="en-US" dirty="0"/>
            </a:br>
            <a:r>
              <a:rPr lang="en-US" dirty="0" err="1"/>
              <a:t>stack.push</a:t>
            </a:r>
            <a:r>
              <a:rPr lang="en-US" dirty="0"/>
              <a:t>(3)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stack.top</a:t>
            </a:r>
            <a:r>
              <a:rPr lang="en-US" dirty="0"/>
              <a:t>()) #Prints 3</a:t>
            </a:r>
            <a:br>
              <a:rPr lang="en-US" dirty="0"/>
            </a:br>
            <a:r>
              <a:rPr lang="en-US" dirty="0" err="1"/>
              <a:t>stack.pop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stack.top</a:t>
            </a:r>
            <a:r>
              <a:rPr lang="en-US" dirty="0"/>
              <a:t>()) #Prints 5</a:t>
            </a:r>
          </a:p>
        </p:txBody>
      </p:sp>
    </p:spTree>
    <p:extLst>
      <p:ext uri="{BB962C8B-B14F-4D97-AF65-F5344CB8AC3E}">
        <p14:creationId xmlns:p14="http://schemas.microsoft.com/office/powerpoint/2010/main" val="199320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54C3BA-3BA6-3A04-76BA-2F143DB0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276" y="1374403"/>
            <a:ext cx="4045940" cy="3766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A2480F-1DD6-0459-3F09-0F9FBD5A1EDB}"/>
              </a:ext>
            </a:extLst>
          </p:cNvPr>
          <p:cNvSpPr txBox="1"/>
          <p:nvPr/>
        </p:nvSpPr>
        <p:spPr>
          <a:xfrm>
            <a:off x="3141922" y="5362041"/>
            <a:ext cx="59081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Performance of array-based stack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36785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A2877-E7CB-A82D-01D1-158C83D4CADC}"/>
              </a:ext>
            </a:extLst>
          </p:cNvPr>
          <p:cNvSpPr txBox="1"/>
          <p:nvPr/>
        </p:nvSpPr>
        <p:spPr>
          <a:xfrm>
            <a:off x="1330036" y="1116281"/>
            <a:ext cx="26680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Suggested Reading:</a:t>
            </a:r>
          </a:p>
          <a:p>
            <a:r>
              <a:rPr lang="en-US" sz="2400" dirty="0"/>
              <a:t>40.1 Stacks</a:t>
            </a:r>
          </a:p>
        </p:txBody>
      </p:sp>
    </p:spTree>
    <p:extLst>
      <p:ext uri="{BB962C8B-B14F-4D97-AF65-F5344CB8AC3E}">
        <p14:creationId xmlns:p14="http://schemas.microsoft.com/office/powerpoint/2010/main" val="326092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874C-0179-3803-01A9-2A5F9094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FD066-8460-C8D4-10E9-05E3BB4ED5C0}"/>
              </a:ext>
            </a:extLst>
          </p:cNvPr>
          <p:cNvSpPr txBox="1"/>
          <p:nvPr/>
        </p:nvSpPr>
        <p:spPr>
          <a:xfrm>
            <a:off x="986877" y="3429000"/>
            <a:ext cx="31618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Common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enqueue()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dequeue()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isEmpty</a:t>
            </a:r>
            <a:r>
              <a:rPr lang="en-US" sz="2400" dirty="0"/>
              <a:t>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front()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…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2B381D-E58E-335B-8A6B-E414CF0331C7}"/>
              </a:ext>
            </a:extLst>
          </p:cNvPr>
          <p:cNvCxnSpPr>
            <a:cxnSpLocks/>
          </p:cNvCxnSpPr>
          <p:nvPr/>
        </p:nvCxnSpPr>
        <p:spPr>
          <a:xfrm flipH="1">
            <a:off x="7189996" y="4689572"/>
            <a:ext cx="3140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D15ED0-F3CA-51E0-5A22-FFABB9939C71}"/>
              </a:ext>
            </a:extLst>
          </p:cNvPr>
          <p:cNvCxnSpPr>
            <a:cxnSpLocks/>
          </p:cNvCxnSpPr>
          <p:nvPr/>
        </p:nvCxnSpPr>
        <p:spPr>
          <a:xfrm>
            <a:off x="7189995" y="5248820"/>
            <a:ext cx="3149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D3C3B88-3E14-F305-B84A-7BBF2FD4FAA8}"/>
              </a:ext>
            </a:extLst>
          </p:cNvPr>
          <p:cNvSpPr/>
          <p:nvPr/>
        </p:nvSpPr>
        <p:spPr>
          <a:xfrm>
            <a:off x="7325462" y="4592744"/>
            <a:ext cx="272022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1  3  0  2</a:t>
            </a: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8216515D-FB71-70C1-57DF-7D6E5810A5D9}"/>
              </a:ext>
            </a:extLst>
          </p:cNvPr>
          <p:cNvSpPr/>
          <p:nvPr/>
        </p:nvSpPr>
        <p:spPr>
          <a:xfrm rot="5400000">
            <a:off x="10813730" y="4557376"/>
            <a:ext cx="395111" cy="75635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9075E656-FCC4-027B-FBFC-614E1E2458D4}"/>
              </a:ext>
            </a:extLst>
          </p:cNvPr>
          <p:cNvSpPr/>
          <p:nvPr/>
        </p:nvSpPr>
        <p:spPr>
          <a:xfrm rot="5400000">
            <a:off x="6281241" y="4557376"/>
            <a:ext cx="395111" cy="75635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84BC78-28EB-DA57-850A-1AECEDEAEDCC}"/>
              </a:ext>
            </a:extLst>
          </p:cNvPr>
          <p:cNvSpPr txBox="1"/>
          <p:nvPr/>
        </p:nvSpPr>
        <p:spPr>
          <a:xfrm>
            <a:off x="8330300" y="545535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C4AD8-C556-5756-6BB6-8528C6D66ED7}"/>
              </a:ext>
            </a:extLst>
          </p:cNvPr>
          <p:cNvSpPr txBox="1"/>
          <p:nvPr/>
        </p:nvSpPr>
        <p:spPr>
          <a:xfrm>
            <a:off x="10525989" y="4241800"/>
            <a:ext cx="104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19E1D1-8C24-EB35-D6EC-BDF732DDF821}"/>
              </a:ext>
            </a:extLst>
          </p:cNvPr>
          <p:cNvSpPr txBox="1"/>
          <p:nvPr/>
        </p:nvSpPr>
        <p:spPr>
          <a:xfrm>
            <a:off x="6016078" y="4247444"/>
            <a:ext cx="843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F1178-7A0D-EA92-44DF-56DE7A6A2013}"/>
              </a:ext>
            </a:extLst>
          </p:cNvPr>
          <p:cNvSpPr txBox="1"/>
          <p:nvPr/>
        </p:nvSpPr>
        <p:spPr>
          <a:xfrm>
            <a:off x="986877" y="1827457"/>
            <a:ext cx="10009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A queue is a collection of objects that are inserted and removed according to the first-in, first-out (FIFO) principle.</a:t>
            </a:r>
          </a:p>
        </p:txBody>
      </p:sp>
    </p:spTree>
    <p:extLst>
      <p:ext uri="{BB962C8B-B14F-4D97-AF65-F5344CB8AC3E}">
        <p14:creationId xmlns:p14="http://schemas.microsoft.com/office/powerpoint/2010/main" val="151393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6" grpId="0" animBg="1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9B73E-3791-AE4A-75CD-BCB5F80DA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15" y="1392673"/>
            <a:ext cx="6416659" cy="2036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3EB42B-2B87-E9B0-DDA1-4FDC7800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474" y="3728677"/>
            <a:ext cx="7049101" cy="3016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6E9A7-50DC-2D2F-AEA9-14CD5121B6C4}"/>
              </a:ext>
            </a:extLst>
          </p:cNvPr>
          <p:cNvSpPr txBox="1"/>
          <p:nvPr/>
        </p:nvSpPr>
        <p:spPr>
          <a:xfrm>
            <a:off x="4358244" y="576785"/>
            <a:ext cx="4230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Real-world </a:t>
            </a:r>
            <a:r>
              <a:rPr lang="en-US" sz="2400" dirty="0" err="1"/>
              <a:t>exmaples</a:t>
            </a:r>
            <a:r>
              <a:rPr lang="en-US" sz="2400" dirty="0"/>
              <a:t> of a Queue</a:t>
            </a:r>
          </a:p>
        </p:txBody>
      </p:sp>
    </p:spTree>
    <p:extLst>
      <p:ext uri="{BB962C8B-B14F-4D97-AF65-F5344CB8AC3E}">
        <p14:creationId xmlns:p14="http://schemas.microsoft.com/office/powerpoint/2010/main" val="40928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D02FC-A76A-2A0B-3CA9-C901C382FD79}"/>
              </a:ext>
            </a:extLst>
          </p:cNvPr>
          <p:cNvSpPr txBox="1"/>
          <p:nvPr/>
        </p:nvSpPr>
        <p:spPr>
          <a:xfrm>
            <a:off x="1631371" y="1871646"/>
            <a:ext cx="438549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Task management / scheduling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Print job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Server request handling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Buffering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many more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336521-A9AA-7D0A-D07D-AA33BF205792}"/>
              </a:ext>
            </a:extLst>
          </p:cNvPr>
          <p:cNvSpPr txBox="1">
            <a:spLocks/>
          </p:cNvSpPr>
          <p:nvPr/>
        </p:nvSpPr>
        <p:spPr>
          <a:xfrm>
            <a:off x="838200" y="69250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Queue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2670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8BE5D-5E47-5D2D-D566-CE2408567065}"/>
              </a:ext>
            </a:extLst>
          </p:cNvPr>
          <p:cNvSpPr txBox="1"/>
          <p:nvPr/>
        </p:nvSpPr>
        <p:spPr>
          <a:xfrm>
            <a:off x="6697683" y="742316"/>
            <a:ext cx="48503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Queue Implementation (list/array based)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BAA1C-24D8-D739-D7D6-EB85CA99D786}"/>
              </a:ext>
            </a:extLst>
          </p:cNvPr>
          <p:cNvSpPr txBox="1"/>
          <p:nvPr/>
        </p:nvSpPr>
        <p:spPr>
          <a:xfrm>
            <a:off x="1368137" y="157811"/>
            <a:ext cx="7864433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class </a:t>
            </a:r>
            <a:r>
              <a:rPr lang="en-US" sz="2400" dirty="0">
                <a:highlight>
                  <a:srgbClr val="FFFF00"/>
                </a:highlight>
              </a:rPr>
              <a:t>Queue</a:t>
            </a:r>
            <a:r>
              <a:rPr lang="en-US" sz="2400" dirty="0"/>
              <a:t>:</a:t>
            </a:r>
          </a:p>
          <a:p>
            <a:r>
              <a:rPr lang="en-US" sz="2400" dirty="0"/>
              <a:t>    def __</a:t>
            </a:r>
            <a:r>
              <a:rPr lang="en-US" sz="2400" dirty="0" err="1"/>
              <a:t>init</a:t>
            </a:r>
            <a:r>
              <a:rPr lang="en-US" sz="2400" dirty="0"/>
              <a:t>__(self):</a:t>
            </a:r>
          </a:p>
          <a:p>
            <a:r>
              <a:rPr lang="en-US" sz="2400" dirty="0"/>
              <a:t>        </a:t>
            </a:r>
            <a:r>
              <a:rPr lang="en-US" sz="2400" dirty="0" err="1">
                <a:highlight>
                  <a:srgbClr val="FFFF00"/>
                </a:highlight>
              </a:rPr>
              <a:t>self.items</a:t>
            </a:r>
            <a:r>
              <a:rPr lang="en-US" sz="2400" dirty="0">
                <a:highlight>
                  <a:srgbClr val="FFFF00"/>
                </a:highlight>
              </a:rPr>
              <a:t> = []</a:t>
            </a:r>
          </a:p>
          <a:p>
            <a:endParaRPr lang="en-US" sz="2400" dirty="0"/>
          </a:p>
          <a:p>
            <a:r>
              <a:rPr lang="en-US" sz="2400" dirty="0"/>
              <a:t>    def </a:t>
            </a:r>
            <a:r>
              <a:rPr lang="en-US" sz="2400" dirty="0" err="1"/>
              <a:t>is_empty</a:t>
            </a:r>
            <a:r>
              <a:rPr lang="en-US" sz="2400" dirty="0"/>
              <a:t>(self):</a:t>
            </a:r>
          </a:p>
          <a:p>
            <a:r>
              <a:rPr lang="en-US" sz="2400" dirty="0"/>
              <a:t>        return </a:t>
            </a:r>
            <a:r>
              <a:rPr lang="en-US" sz="2400" dirty="0" err="1"/>
              <a:t>len</a:t>
            </a:r>
            <a:r>
              <a:rPr lang="en-US" sz="2400" dirty="0"/>
              <a:t>(</a:t>
            </a:r>
            <a:r>
              <a:rPr lang="en-US" sz="2400" dirty="0" err="1"/>
              <a:t>self.items</a:t>
            </a:r>
            <a:r>
              <a:rPr lang="en-US" sz="2400" dirty="0"/>
              <a:t>) == 0</a:t>
            </a:r>
          </a:p>
          <a:p>
            <a:endParaRPr lang="en-US" sz="2400" dirty="0"/>
          </a:p>
          <a:p>
            <a:r>
              <a:rPr lang="en-US" sz="2400" dirty="0"/>
              <a:t>    def </a:t>
            </a:r>
            <a:r>
              <a:rPr lang="en-US" sz="2400" dirty="0">
                <a:highlight>
                  <a:srgbClr val="FFFF00"/>
                </a:highlight>
              </a:rPr>
              <a:t>enqueue</a:t>
            </a:r>
            <a:r>
              <a:rPr lang="en-US" sz="2400" dirty="0"/>
              <a:t>(self, item):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self.items.append</a:t>
            </a:r>
            <a:r>
              <a:rPr lang="en-US" sz="2400" dirty="0"/>
              <a:t>(item)</a:t>
            </a:r>
          </a:p>
          <a:p>
            <a:endParaRPr lang="en-US" sz="2400" dirty="0"/>
          </a:p>
          <a:p>
            <a:r>
              <a:rPr lang="en-US" sz="2400" dirty="0"/>
              <a:t>    def dequeue(self):</a:t>
            </a:r>
          </a:p>
          <a:p>
            <a:r>
              <a:rPr lang="en-US" sz="2400" dirty="0"/>
              <a:t>        if </a:t>
            </a:r>
            <a:r>
              <a:rPr lang="en-US" sz="2400" dirty="0" err="1"/>
              <a:t>self.is_empty</a:t>
            </a:r>
            <a:r>
              <a:rPr lang="en-US" sz="2400" dirty="0"/>
              <a:t>():</a:t>
            </a:r>
          </a:p>
          <a:p>
            <a:r>
              <a:rPr lang="en-US" sz="2400" dirty="0"/>
              <a:t>            raise Empty(‘Queue is empty!’)</a:t>
            </a:r>
          </a:p>
          <a:p>
            <a:r>
              <a:rPr lang="en-US" sz="2400" dirty="0"/>
              <a:t>        </a:t>
            </a:r>
            <a:r>
              <a:rPr lang="en-US" sz="2400" dirty="0">
                <a:highlight>
                  <a:srgbClr val="FFFF00"/>
                </a:highlight>
              </a:rPr>
              <a:t>return </a:t>
            </a:r>
            <a:r>
              <a:rPr lang="en-US" sz="2400" dirty="0" err="1">
                <a:highlight>
                  <a:srgbClr val="FFFF00"/>
                </a:highlight>
              </a:rPr>
              <a:t>self.items.pop</a:t>
            </a:r>
            <a:r>
              <a:rPr lang="en-US" sz="2400" dirty="0">
                <a:highlight>
                  <a:srgbClr val="FFFF00"/>
                </a:highlight>
              </a:rPr>
              <a:t>(0)</a:t>
            </a:r>
          </a:p>
          <a:p>
            <a:endParaRPr lang="en-US" sz="2400" dirty="0"/>
          </a:p>
          <a:p>
            <a:r>
              <a:rPr lang="en-US" sz="2400" dirty="0"/>
              <a:t>    def peek(self):</a:t>
            </a:r>
          </a:p>
          <a:p>
            <a:r>
              <a:rPr lang="en-US" sz="2400" dirty="0"/>
              <a:t>        if </a:t>
            </a:r>
            <a:r>
              <a:rPr lang="en-US" sz="2400" dirty="0" err="1"/>
              <a:t>self.is_empty</a:t>
            </a:r>
            <a:r>
              <a:rPr lang="en-US" sz="2400" dirty="0"/>
              <a:t>():</a:t>
            </a:r>
          </a:p>
          <a:p>
            <a:r>
              <a:rPr lang="en-US" sz="2400" dirty="0"/>
              <a:t>            raise Empty(‘Queue is empty!’)</a:t>
            </a:r>
          </a:p>
          <a:p>
            <a:r>
              <a:rPr lang="en-US" sz="2400" dirty="0"/>
              <a:t>        return </a:t>
            </a:r>
            <a:r>
              <a:rPr lang="en-US" sz="2400" dirty="0" err="1">
                <a:highlight>
                  <a:srgbClr val="FFFF00"/>
                </a:highlight>
              </a:rPr>
              <a:t>self.items</a:t>
            </a:r>
            <a:r>
              <a:rPr lang="en-US" sz="2400" dirty="0">
                <a:highlight>
                  <a:srgbClr val="FFFF00"/>
                </a:highlight>
              </a:rPr>
              <a:t>[0]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ED9852-A8F8-DC2E-7F8E-6CF0E14FD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189259"/>
              </p:ext>
            </p:extLst>
          </p:nvPr>
        </p:nvGraphicFramePr>
        <p:xfrm>
          <a:off x="6508625" y="3166773"/>
          <a:ext cx="4977978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663">
                  <a:extLst>
                    <a:ext uri="{9D8B030D-6E8A-4147-A177-3AD203B41FA5}">
                      <a16:colId xmlns:a16="http://schemas.microsoft.com/office/drawing/2014/main" val="1582279081"/>
                    </a:ext>
                  </a:extLst>
                </a:gridCol>
                <a:gridCol w="829663">
                  <a:extLst>
                    <a:ext uri="{9D8B030D-6E8A-4147-A177-3AD203B41FA5}">
                      <a16:colId xmlns:a16="http://schemas.microsoft.com/office/drawing/2014/main" val="1890427600"/>
                    </a:ext>
                  </a:extLst>
                </a:gridCol>
                <a:gridCol w="829663">
                  <a:extLst>
                    <a:ext uri="{9D8B030D-6E8A-4147-A177-3AD203B41FA5}">
                      <a16:colId xmlns:a16="http://schemas.microsoft.com/office/drawing/2014/main" val="2356807508"/>
                    </a:ext>
                  </a:extLst>
                </a:gridCol>
                <a:gridCol w="829663">
                  <a:extLst>
                    <a:ext uri="{9D8B030D-6E8A-4147-A177-3AD203B41FA5}">
                      <a16:colId xmlns:a16="http://schemas.microsoft.com/office/drawing/2014/main" val="736202098"/>
                    </a:ext>
                  </a:extLst>
                </a:gridCol>
                <a:gridCol w="829663">
                  <a:extLst>
                    <a:ext uri="{9D8B030D-6E8A-4147-A177-3AD203B41FA5}">
                      <a16:colId xmlns:a16="http://schemas.microsoft.com/office/drawing/2014/main" val="2809804816"/>
                    </a:ext>
                  </a:extLst>
                </a:gridCol>
                <a:gridCol w="829663">
                  <a:extLst>
                    <a:ext uri="{9D8B030D-6E8A-4147-A177-3AD203B41FA5}">
                      <a16:colId xmlns:a16="http://schemas.microsoft.com/office/drawing/2014/main" val="547927425"/>
                    </a:ext>
                  </a:extLst>
                </a:gridCol>
              </a:tblGrid>
              <a:tr h="699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1</a:t>
                      </a:r>
                    </a:p>
                    <a:p>
                      <a:endParaRPr lang="en-US" sz="32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2</a:t>
                      </a:r>
                    </a:p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3</a:t>
                      </a:r>
                    </a:p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4</a:t>
                      </a:r>
                    </a:p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5</a:t>
                      </a:r>
                    </a:p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13064"/>
                  </a:ext>
                </a:extLst>
              </a:tr>
            </a:tbl>
          </a:graphicData>
        </a:graphic>
      </p:graphicFrame>
      <p:sp>
        <p:nvSpPr>
          <p:cNvPr id="4" name="Right Arrow 3">
            <a:extLst>
              <a:ext uri="{FF2B5EF4-FFF2-40B4-BE49-F238E27FC236}">
                <a16:creationId xmlns:a16="http://schemas.microsoft.com/office/drawing/2014/main" id="{7B95E93C-31D9-CE59-F2EC-97601909B820}"/>
              </a:ext>
            </a:extLst>
          </p:cNvPr>
          <p:cNvSpPr/>
          <p:nvPr/>
        </p:nvSpPr>
        <p:spPr>
          <a:xfrm rot="10800000">
            <a:off x="5826034" y="3320745"/>
            <a:ext cx="539931" cy="391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7308710-A75D-0751-0DAF-F3E81E573ADB}"/>
              </a:ext>
            </a:extLst>
          </p:cNvPr>
          <p:cNvSpPr/>
          <p:nvPr/>
        </p:nvSpPr>
        <p:spPr>
          <a:xfrm rot="10800000">
            <a:off x="11547985" y="3320746"/>
            <a:ext cx="539931" cy="391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1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111FB-FC3F-A8DA-633B-AC7EB4AA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073" y="1134424"/>
            <a:ext cx="3893838" cy="3615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18639C-507B-73A4-9592-6E80D4B2309E}"/>
              </a:ext>
            </a:extLst>
          </p:cNvPr>
          <p:cNvSpPr txBox="1"/>
          <p:nvPr/>
        </p:nvSpPr>
        <p:spPr>
          <a:xfrm>
            <a:off x="2945081" y="5011387"/>
            <a:ext cx="6591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 of array-based queue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97423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874C-0179-3803-01A9-2A5F9094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(Singly Linked List)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1FC2440-6161-4BDF-955C-0BCE43EFA818}"/>
              </a:ext>
            </a:extLst>
          </p:cNvPr>
          <p:cNvGraphicFramePr>
            <a:graphicFrameLocks noGrp="1"/>
          </p:cNvGraphicFramePr>
          <p:nvPr/>
        </p:nvGraphicFramePr>
        <p:xfrm>
          <a:off x="2127315" y="1920086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D409D4-7DCD-BC34-023D-7C10DB97CA68}"/>
              </a:ext>
            </a:extLst>
          </p:cNvPr>
          <p:cNvGraphicFramePr>
            <a:graphicFrameLocks noGrp="1"/>
          </p:cNvGraphicFramePr>
          <p:nvPr/>
        </p:nvGraphicFramePr>
        <p:xfrm>
          <a:off x="4274769" y="1920086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E030114D-26D6-C75B-389B-D2F940452C54}"/>
              </a:ext>
            </a:extLst>
          </p:cNvPr>
          <p:cNvGraphicFramePr>
            <a:graphicFrameLocks noGrp="1"/>
          </p:cNvGraphicFramePr>
          <p:nvPr/>
        </p:nvGraphicFramePr>
        <p:xfrm>
          <a:off x="6419915" y="1920086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8221D24-5632-3804-E712-07157FFD1B33}"/>
              </a:ext>
            </a:extLst>
          </p:cNvPr>
          <p:cNvGraphicFramePr>
            <a:graphicFrameLocks noGrp="1"/>
          </p:cNvGraphicFramePr>
          <p:nvPr/>
        </p:nvGraphicFramePr>
        <p:xfrm>
          <a:off x="8618169" y="1920086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D73BC24C-A978-1521-2934-78D5AA48E9FF}"/>
              </a:ext>
            </a:extLst>
          </p:cNvPr>
          <p:cNvSpPr/>
          <p:nvPr/>
        </p:nvSpPr>
        <p:spPr>
          <a:xfrm>
            <a:off x="5730651" y="2011987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A0A3A73-D95B-74FF-3376-FFBB278414DD}"/>
              </a:ext>
            </a:extLst>
          </p:cNvPr>
          <p:cNvSpPr/>
          <p:nvPr/>
        </p:nvSpPr>
        <p:spPr>
          <a:xfrm>
            <a:off x="7898888" y="1996401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4248916-B17A-D047-C4C0-297B89CCB87E}"/>
              </a:ext>
            </a:extLst>
          </p:cNvPr>
          <p:cNvSpPr/>
          <p:nvPr/>
        </p:nvSpPr>
        <p:spPr>
          <a:xfrm>
            <a:off x="10087906" y="1996401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9DA688F-BD65-EADE-0BEC-8A69A41A3102}"/>
              </a:ext>
            </a:extLst>
          </p:cNvPr>
          <p:cNvSpPr/>
          <p:nvPr/>
        </p:nvSpPr>
        <p:spPr>
          <a:xfrm>
            <a:off x="3593588" y="1996401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B920D-40C0-B1D6-8C11-4606DE4B7DC5}"/>
              </a:ext>
            </a:extLst>
          </p:cNvPr>
          <p:cNvSpPr txBox="1"/>
          <p:nvPr/>
        </p:nvSpPr>
        <p:spPr>
          <a:xfrm>
            <a:off x="2505002" y="2411219"/>
            <a:ext cx="72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HEAD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E09BF-7875-CFCF-2959-8840411806C9}"/>
              </a:ext>
            </a:extLst>
          </p:cNvPr>
          <p:cNvSpPr txBox="1"/>
          <p:nvPr/>
        </p:nvSpPr>
        <p:spPr>
          <a:xfrm>
            <a:off x="10815269" y="192084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084F0F-A5C9-7520-C2F3-DDF93C29F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117" y="2595885"/>
            <a:ext cx="5105842" cy="3071126"/>
          </a:xfrm>
          <a:prstGeom prst="rect">
            <a:avLst/>
          </a:prstGeom>
        </p:spPr>
      </p:pic>
      <p:graphicFrame>
        <p:nvGraphicFramePr>
          <p:cNvPr id="19" name="Table 3">
            <a:extLst>
              <a:ext uri="{FF2B5EF4-FFF2-40B4-BE49-F238E27FC236}">
                <a16:creationId xmlns:a16="http://schemas.microsoft.com/office/drawing/2014/main" id="{75BFF5B4-6C32-1681-5F27-C2ED0D5A37CF}"/>
              </a:ext>
            </a:extLst>
          </p:cNvPr>
          <p:cNvGraphicFramePr>
            <a:graphicFrameLocks noGrp="1"/>
          </p:cNvGraphicFramePr>
          <p:nvPr/>
        </p:nvGraphicFramePr>
        <p:xfrm>
          <a:off x="2336160" y="6113908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FFC3066-08DF-DF99-7FD7-FA40B55976B4}"/>
              </a:ext>
            </a:extLst>
          </p:cNvPr>
          <p:cNvGraphicFramePr>
            <a:graphicFrameLocks noGrp="1"/>
          </p:cNvGraphicFramePr>
          <p:nvPr/>
        </p:nvGraphicFramePr>
        <p:xfrm>
          <a:off x="4483614" y="6113908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AD3FE622-0283-1BF6-E406-913BE2B15EB6}"/>
              </a:ext>
            </a:extLst>
          </p:cNvPr>
          <p:cNvGraphicFramePr>
            <a:graphicFrameLocks noGrp="1"/>
          </p:cNvGraphicFramePr>
          <p:nvPr/>
        </p:nvGraphicFramePr>
        <p:xfrm>
          <a:off x="6628760" y="6113908"/>
          <a:ext cx="14697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4869">
                  <a:extLst>
                    <a:ext uri="{9D8B030D-6E8A-4147-A177-3AD203B41FA5}">
                      <a16:colId xmlns:a16="http://schemas.microsoft.com/office/drawing/2014/main" val="3170472045"/>
                    </a:ext>
                  </a:extLst>
                </a:gridCol>
                <a:gridCol w="734869">
                  <a:extLst>
                    <a:ext uri="{9D8B030D-6E8A-4147-A177-3AD203B41FA5}">
                      <a16:colId xmlns:a16="http://schemas.microsoft.com/office/drawing/2014/main" val="388454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4567"/>
                  </a:ext>
                </a:extLst>
              </a:tr>
            </a:tbl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FBF805E8-B765-B92E-3417-2E76A615BBB1}"/>
              </a:ext>
            </a:extLst>
          </p:cNvPr>
          <p:cNvSpPr/>
          <p:nvPr/>
        </p:nvSpPr>
        <p:spPr>
          <a:xfrm>
            <a:off x="5939496" y="6205809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8C5CBAB-03E9-61FF-E712-5712583BFB27}"/>
              </a:ext>
            </a:extLst>
          </p:cNvPr>
          <p:cNvSpPr/>
          <p:nvPr/>
        </p:nvSpPr>
        <p:spPr>
          <a:xfrm>
            <a:off x="3802433" y="6190223"/>
            <a:ext cx="689264" cy="218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933037-69ED-14FA-7497-E0F7D058A1A3}"/>
              </a:ext>
            </a:extLst>
          </p:cNvPr>
          <p:cNvSpPr txBox="1"/>
          <p:nvPr/>
        </p:nvSpPr>
        <p:spPr>
          <a:xfrm>
            <a:off x="2708397" y="6495183"/>
            <a:ext cx="72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HEAD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8780E5F8-80FC-C5A4-D09D-CB84D02CDCFB}"/>
              </a:ext>
            </a:extLst>
          </p:cNvPr>
          <p:cNvSpPr/>
          <p:nvPr/>
        </p:nvSpPr>
        <p:spPr>
          <a:xfrm>
            <a:off x="10318609" y="505392"/>
            <a:ext cx="993319" cy="10450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C3817-FDFF-66E7-1D3E-334935620AA2}"/>
              </a:ext>
            </a:extLst>
          </p:cNvPr>
          <p:cNvSpPr txBox="1"/>
          <p:nvPr/>
        </p:nvSpPr>
        <p:spPr>
          <a:xfrm>
            <a:off x="8990406" y="1473189"/>
            <a:ext cx="578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TAIL</a:t>
            </a:r>
          </a:p>
        </p:txBody>
      </p:sp>
    </p:spTree>
    <p:extLst>
      <p:ext uri="{BB962C8B-B14F-4D97-AF65-F5344CB8AC3E}">
        <p14:creationId xmlns:p14="http://schemas.microsoft.com/office/powerpoint/2010/main" val="74581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/>
      <p:bldP spid="16" grpId="0"/>
      <p:bldP spid="22" grpId="0" animBg="1"/>
      <p:bldP spid="23" grpId="0" animBg="1"/>
      <p:bldP spid="25" grpId="0"/>
      <p:bldP spid="14" grpId="0"/>
      <p:bldP spid="1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06D39E-1A97-AB31-3C79-33CBE98A20AE}"/>
              </a:ext>
            </a:extLst>
          </p:cNvPr>
          <p:cNvSpPr txBox="1"/>
          <p:nvPr/>
        </p:nvSpPr>
        <p:spPr>
          <a:xfrm>
            <a:off x="3677309" y="2804254"/>
            <a:ext cx="5257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Exercise 1: How to iterate over a Linked List?</a:t>
            </a:r>
          </a:p>
        </p:txBody>
      </p:sp>
    </p:spTree>
    <p:extLst>
      <p:ext uri="{BB962C8B-B14F-4D97-AF65-F5344CB8AC3E}">
        <p14:creationId xmlns:p14="http://schemas.microsoft.com/office/powerpoint/2010/main" val="3667827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2B5C-7098-8BA3-B035-8501DBF7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F0B57-15D6-6093-50F1-1C89C21CB209}"/>
              </a:ext>
            </a:extLst>
          </p:cNvPr>
          <p:cNvSpPr txBox="1"/>
          <p:nvPr/>
        </p:nvSpPr>
        <p:spPr>
          <a:xfrm>
            <a:off x="3677309" y="2804254"/>
            <a:ext cx="57082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Exercise 2: How to insert a node in a Linked List?</a:t>
            </a:r>
          </a:p>
        </p:txBody>
      </p:sp>
    </p:spTree>
    <p:extLst>
      <p:ext uri="{BB962C8B-B14F-4D97-AF65-F5344CB8AC3E}">
        <p14:creationId xmlns:p14="http://schemas.microsoft.com/office/powerpoint/2010/main" val="1978272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CCA8328-2A64-9777-DC4C-2556B8397554}"/>
              </a:ext>
            </a:extLst>
          </p:cNvPr>
          <p:cNvSpPr txBox="1"/>
          <p:nvPr/>
        </p:nvSpPr>
        <p:spPr>
          <a:xfrm>
            <a:off x="2916528" y="2525486"/>
            <a:ext cx="608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Exercise 3: Deleting a node from the linked list?</a:t>
            </a:r>
          </a:p>
        </p:txBody>
      </p:sp>
    </p:spTree>
    <p:extLst>
      <p:ext uri="{BB962C8B-B14F-4D97-AF65-F5344CB8AC3E}">
        <p14:creationId xmlns:p14="http://schemas.microsoft.com/office/powerpoint/2010/main" val="3088818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7AC350-ED0A-64A3-3198-0224FA391464}"/>
              </a:ext>
            </a:extLst>
          </p:cNvPr>
          <p:cNvSpPr txBox="1"/>
          <p:nvPr/>
        </p:nvSpPr>
        <p:spPr>
          <a:xfrm>
            <a:off x="5296395" y="486888"/>
            <a:ext cx="2354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List vs Linked List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8D49C23-57D7-CF05-0F0C-AD650C272491}"/>
              </a:ext>
            </a:extLst>
          </p:cNvPr>
          <p:cNvGraphicFramePr>
            <a:graphicFrameLocks noGrp="1"/>
          </p:cNvGraphicFramePr>
          <p:nvPr/>
        </p:nvGraphicFramePr>
        <p:xfrm>
          <a:off x="1894435" y="1415581"/>
          <a:ext cx="8127999" cy="3756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787442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404783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7407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b"/>
                      <a:endParaRPr lang="en-US" sz="1600" b="1" dirty="0">
                        <a:effectLst/>
                      </a:endParaRPr>
                    </a:p>
                  </a:txBody>
                  <a:tcPr marL="41050" marR="41050" marT="20525" marB="20525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600" b="1">
                          <a:effectLst/>
                        </a:rPr>
                        <a:t>List</a:t>
                      </a:r>
                    </a:p>
                  </a:txBody>
                  <a:tcPr marL="41050" marR="41050" marT="20525" marB="20525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600" b="1">
                          <a:effectLst/>
                        </a:rPr>
                        <a:t>Linked List</a:t>
                      </a:r>
                    </a:p>
                  </a:txBody>
                  <a:tcPr marL="41050" marR="41050" marT="20525" marB="20525" anchor="b"/>
                </a:tc>
                <a:extLst>
                  <a:ext uri="{0D108BD9-81ED-4DB2-BD59-A6C34878D82A}">
                    <a16:rowId xmlns:a16="http://schemas.microsoft.com/office/drawing/2014/main" val="212713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Implementation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dynamic array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series of connected nodes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527427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Memory Allocation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Contiguous block of memory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Non-contiguous nodes in memory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76285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Insertion/Deletion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Slower for middle insertions/deletions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Faster for middle insertions/deletions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01944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Access by Index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Fast access by index (O(1))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Slow access by index (O(n))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720454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Common Operations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Appending, slicing, extending, etc.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Traversing, inserting, deleting, etc.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47824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Built-in Support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Yes (built-in data structure)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No (needs custom implementation)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4269239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Use Cases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When random access is important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>
                          <a:effectLst/>
                        </a:rPr>
                        <a:t>When frequent insertions and deletions are frequent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519483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953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0FC7D-E670-564C-1733-3796CB330A59}"/>
              </a:ext>
            </a:extLst>
          </p:cNvPr>
          <p:cNvSpPr txBox="1"/>
          <p:nvPr/>
        </p:nvSpPr>
        <p:spPr>
          <a:xfrm>
            <a:off x="4684972" y="2917164"/>
            <a:ext cx="28220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188990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Props1.xml><?xml version="1.0" encoding="utf-8"?>
<ds:datastoreItem xmlns:ds="http://schemas.openxmlformats.org/officeDocument/2006/customXml" ds:itemID="{41196ED0-0AA5-4873-B108-CECD088481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789BCC-42DA-4F72-89DE-FD4A139154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3C06BF-FFE8-42CE-9471-A3F1B8C3B734}">
  <ds:schemaRefs>
    <ds:schemaRef ds:uri="http://schemas.microsoft.com/office/infopath/2007/PartnerControls"/>
    <ds:schemaRef ds:uri="http://schemas.microsoft.com/office/2006/metadata/properties"/>
    <ds:schemaRef ds:uri="890a661f-6afe-4b4e-bef4-5bc2e81fdcdf"/>
    <ds:schemaRef ds:uri="http://purl.org/dc/dcmitype/"/>
    <ds:schemaRef ds:uri="de7bfbcc-834f-422c-a61f-4e1400314c9a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4784</TotalTime>
  <Words>734</Words>
  <Application>Microsoft Macintosh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Wingdings</vt:lpstr>
      <vt:lpstr>Office Theme</vt:lpstr>
      <vt:lpstr>Career Readiness Modules - Part I  -Has been posted on iCollege!</vt:lpstr>
      <vt:lpstr>Exam 2 – Mon, Oct 27, 2025  Syllabus has been uploaded on iCollege …</vt:lpstr>
      <vt:lpstr>Change of Office Hours</vt:lpstr>
      <vt:lpstr>Data Structure  Stacks, Queues, Linked Lists</vt:lpstr>
      <vt:lpstr>Stack</vt:lpstr>
      <vt:lpstr>PowerPoint Presentation</vt:lpstr>
      <vt:lpstr>PowerPoint Presentation</vt:lpstr>
      <vt:lpstr>PowerPoint Presentation</vt:lpstr>
      <vt:lpstr>PowerPoint Presentation</vt:lpstr>
      <vt:lpstr>Queue</vt:lpstr>
      <vt:lpstr>PowerPoint Presentation</vt:lpstr>
      <vt:lpstr>PowerPoint Presentation</vt:lpstr>
      <vt:lpstr>PowerPoint Presentation</vt:lpstr>
      <vt:lpstr>PowerPoint Presentation</vt:lpstr>
      <vt:lpstr>Linked List (Singly Linked List)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</dc:title>
  <dc:creator>S M Towhidul Islam</dc:creator>
  <cp:lastModifiedBy>S M Towhidul Islam</cp:lastModifiedBy>
  <cp:revision>22</cp:revision>
  <dcterms:created xsi:type="dcterms:W3CDTF">2023-06-26T02:20:56Z</dcterms:created>
  <dcterms:modified xsi:type="dcterms:W3CDTF">2025-10-20T19:30:06Z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
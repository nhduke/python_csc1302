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A7F9E9-5134-474E-822B-063C7228FAA1}" v="155" dt="2023-07-12T17:09:29.0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472" y="176"/>
      </p:cViewPr>
      <p:guideLst>
        <p:guide orient="horz" pos="213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C5CC-EDCC-0AD2-4C80-C64286E1E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3471C-E953-C59A-2469-6FF6D1BBF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61CEB-2B1C-1D89-53D3-64887AF63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D4D8B-DBF3-4B20-95B5-D69DB35DBBC4}" type="datetimeFigureOut">
              <a:rPr lang="en-US" smtClean="0"/>
              <a:t>4/17/25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3C3D0-4072-4AF9-7F7D-0186083F7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25A55-E45C-8C64-2FAE-2E86C85FC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83ED-1383-47AE-AFD1-FE3ACFBEA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24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25AB2-E552-2618-4A60-7B34FD0D9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0D099-A948-201F-94EC-81709A1FF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E81C6-7023-4A12-2E49-DEDF3D07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D4D8B-DBF3-4B20-95B5-D69DB35DBBC4}" type="datetimeFigureOut">
              <a:rPr lang="en-US" smtClean="0"/>
              <a:t>4/17/25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3C81D-783D-07AD-24EC-4A323440A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7949A-5013-7F77-88D7-B6CCD5FD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83ED-1383-47AE-AFD1-FE3ACFBEA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3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F9784-D0C4-CF8F-E3A3-94F7D8376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1F6A7-E5E6-972F-3FC1-E68C72B2F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4B155-54E9-BD34-92C9-397A152F5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D4D8B-DBF3-4B20-95B5-D69DB35DBBC4}" type="datetimeFigureOut">
              <a:rPr lang="en-US" smtClean="0"/>
              <a:t>4/17/25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11EB9-D6CD-36C9-F1EA-93C58A6DB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2D443-C1A4-63BA-FEAA-F5B6C77D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83ED-1383-47AE-AFD1-FE3ACFBEA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24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0D94-52D0-06E4-3CDA-C14189AB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BED90-7696-7BCA-AF45-54670947F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39F07-ECA1-13A2-6D9A-2373CC688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77F82-7448-52CF-1D39-64590EF1D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D4D8B-DBF3-4B20-95B5-D69DB35DBBC4}" type="datetimeFigureOut">
              <a:rPr lang="en-US" smtClean="0"/>
              <a:t>4/17/25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9B554-26C7-B43F-589E-87BAF3AC1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D0606-AF56-CBCB-A5D2-4210661C6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83ED-1383-47AE-AFD1-FE3ACFBEA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415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00AC-CC5B-FDBC-FD26-25B92BF9D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B957C-46BE-1BF8-8ECA-858AE6460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266A3-AC7A-DB3E-1AA6-02C9AF341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0951F-8845-B181-753D-DF214C986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339715-C1EC-F36D-734B-C01A992AC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7E9495-74CC-9A09-86F4-E1BF16494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D4D8B-DBF3-4B20-95B5-D69DB35DBBC4}" type="datetimeFigureOut">
              <a:rPr lang="en-US" smtClean="0"/>
              <a:t>4/17/25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7B62C1-39F4-77F4-9425-1325AACC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A66574-163D-C56B-66DF-4F666DBF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83ED-1383-47AE-AFD1-FE3ACFBEA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22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80A07-1AE7-28AC-EF89-1CAAE5582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53847-02E6-C06B-700B-F52B1E25B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D4D8B-DBF3-4B20-95B5-D69DB35DBBC4}" type="datetimeFigureOut">
              <a:rPr lang="en-US" smtClean="0"/>
              <a:t>4/17/25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27B50-FB3A-983E-B96C-6570611DB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A4A41-292D-69CF-79E5-9323F6C25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83ED-1383-47AE-AFD1-FE3ACFBEA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82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A6A582-1261-AA29-B186-BBB345538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D4D8B-DBF3-4B20-95B5-D69DB35DBBC4}" type="datetimeFigureOut">
              <a:rPr lang="en-US" smtClean="0"/>
              <a:t>4/17/25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B9E37-40F7-048C-5368-6B6032D46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259A1-7F93-5DC6-0817-896D0B2A6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83ED-1383-47AE-AFD1-FE3ACFBEA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70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4629B-9217-3B05-BB23-E93531B2C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CFEE7-B79E-2093-FDDA-DE59DEB27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24921F-B8EF-588A-79EB-7B4626ACE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31A23-92AD-50CE-CEE7-1EB6BE4C4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D4D8B-DBF3-4B20-95B5-D69DB35DBBC4}" type="datetimeFigureOut">
              <a:rPr lang="en-US" smtClean="0"/>
              <a:t>4/17/25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4A8AE-99A8-6FFF-1F72-1382195B5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CF0F8F-AF5A-24D7-CC4D-966DBCD6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83ED-1383-47AE-AFD1-FE3ACFBEA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31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22E4-9E38-95E8-60E4-D44000B3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232D5A-377A-04A2-551D-C4BABC92F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5E993D-EBDD-4840-BC34-78F737DDF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717EF-4887-E6C9-7549-08E41D30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D4D8B-DBF3-4B20-95B5-D69DB35DBBC4}" type="datetimeFigureOut">
              <a:rPr lang="en-US" smtClean="0"/>
              <a:t>4/17/25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D253A-93C1-6564-D17E-85C9566EE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5186C-972F-94EA-9CFD-6F8BEA3D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83ED-1383-47AE-AFD1-FE3ACFBEA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16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3A150-62F4-5C78-A53F-920F2E6DC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659FEC-9517-EFC2-F363-C1442597C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4CDFB-F452-7A3D-0061-79827E8E9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D4D8B-DBF3-4B20-95B5-D69DB35DBBC4}" type="datetimeFigureOut">
              <a:rPr lang="en-US" smtClean="0"/>
              <a:t>4/17/25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95F1B-631D-843D-6934-2BABB6411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04EE4-FE95-1E94-DF3D-E081E1910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83ED-1383-47AE-AFD1-FE3ACFBEA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5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7B4E7E-E30A-317C-197D-B7B141FDA9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C568FD-3BF7-754F-F658-377D7911A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C2F7F-5DF0-D687-FEC3-15D73F68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D4D8B-DBF3-4B20-95B5-D69DB35DBBC4}" type="datetimeFigureOut">
              <a:rPr lang="en-US" smtClean="0"/>
              <a:t>4/17/25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4ECBA-8573-DAAF-D724-76A2955C8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145C6-D638-5988-AEC6-083451AC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83ED-1383-47AE-AFD1-FE3ACFBEA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1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2A030-C3D4-8898-5EFF-60DA9526F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60596-FBDE-5F78-4B96-FA7F7BE1A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666A5-A43D-005E-0B90-8CE0AFE74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D4D8B-DBF3-4B20-95B5-D69DB35DBBC4}" type="datetimeFigureOut">
              <a:rPr lang="en-US" smtClean="0"/>
              <a:t>4/17/25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8C5DE-7A89-FCD2-BDA3-BA112F96F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CA967-2142-0E7D-4FA4-3709A04AA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C83ED-1383-47AE-AFD1-FE3ACFBEA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9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B07CD-E368-8D3E-B4F5-927C6CD667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Matplotlib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3FD1D-D878-AF79-5A94-1490499465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54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79090E-B25C-E7E0-2972-FCEB5B95213F}"/>
              </a:ext>
            </a:extLst>
          </p:cNvPr>
          <p:cNvSpPr txBox="1"/>
          <p:nvPr/>
        </p:nvSpPr>
        <p:spPr>
          <a:xfrm>
            <a:off x="1248021" y="1490008"/>
            <a:ext cx="101543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matplotlib - one of the most common data visualization packages in Python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matplotlib is used to create static, dynamic, and interactive plots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Figures can be created using </a:t>
            </a:r>
            <a:r>
              <a:rPr lang="en-US" sz="2400" dirty="0" err="1"/>
              <a:t>pyplot</a:t>
            </a:r>
            <a:r>
              <a:rPr lang="en-US" sz="2400" dirty="0"/>
              <a:t> – a library within matplotlib package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5FF32D3-0318-25AA-0AA7-E475A8A0E996}"/>
              </a:ext>
            </a:extLst>
          </p:cNvPr>
          <p:cNvSpPr txBox="1">
            <a:spLocks/>
          </p:cNvSpPr>
          <p:nvPr/>
        </p:nvSpPr>
        <p:spPr>
          <a:xfrm>
            <a:off x="740108" y="724048"/>
            <a:ext cx="7572110" cy="488822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84631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FA36C-4D77-87EB-854B-34D9D5A00C0C}"/>
              </a:ext>
            </a:extLst>
          </p:cNvPr>
          <p:cNvSpPr txBox="1">
            <a:spLocks/>
          </p:cNvSpPr>
          <p:nvPr/>
        </p:nvSpPr>
        <p:spPr>
          <a:xfrm>
            <a:off x="740108" y="724048"/>
            <a:ext cx="7572110" cy="488822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Plotting with matplotlib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E5E45-9130-9BB0-5DE8-E1238D25F641}"/>
              </a:ext>
            </a:extLst>
          </p:cNvPr>
          <p:cNvSpPr txBox="1"/>
          <p:nvPr/>
        </p:nvSpPr>
        <p:spPr>
          <a:xfrm>
            <a:off x="2506806" y="2967335"/>
            <a:ext cx="6094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37474F"/>
                </a:solidFill>
                <a:effectLst/>
                <a:latin typeface="Courier New" panose="02070309020205020404" pitchFamily="49" charset="0"/>
              </a:rPr>
              <a:t>import </a:t>
            </a:r>
            <a:r>
              <a:rPr lang="en-US" sz="2400" b="0" i="0" dirty="0" err="1">
                <a:solidFill>
                  <a:srgbClr val="37474F"/>
                </a:solidFill>
                <a:effectLst/>
                <a:latin typeface="Courier New" panose="02070309020205020404" pitchFamily="49" charset="0"/>
              </a:rPr>
              <a:t>matplotlib.pyplot</a:t>
            </a:r>
            <a:r>
              <a:rPr lang="en-US" sz="2400" b="0" i="0" dirty="0">
                <a:solidFill>
                  <a:srgbClr val="37474F"/>
                </a:solidFill>
                <a:effectLst/>
                <a:latin typeface="Courier New" panose="02070309020205020404" pitchFamily="49" charset="0"/>
              </a:rPr>
              <a:t> as </a:t>
            </a:r>
            <a:r>
              <a:rPr lang="en-US" sz="2400" b="0" i="0" dirty="0" err="1">
                <a:solidFill>
                  <a:srgbClr val="37474F"/>
                </a:solidFill>
                <a:effectLst/>
                <a:latin typeface="Courier New" panose="02070309020205020404" pitchFamily="49" charset="0"/>
              </a:rPr>
              <a:t>plt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37920C-8872-1184-7040-46924E818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9" y="3803228"/>
            <a:ext cx="11758922" cy="12881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6C35D5-EE3A-282A-CF8B-DB1889424B97}"/>
              </a:ext>
            </a:extLst>
          </p:cNvPr>
          <p:cNvSpPr txBox="1"/>
          <p:nvPr/>
        </p:nvSpPr>
        <p:spPr>
          <a:xfrm>
            <a:off x="2565688" y="1827707"/>
            <a:ext cx="6094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37474F"/>
                </a:solidFill>
                <a:latin typeface="Courier New" panose="02070309020205020404" pitchFamily="49" charset="0"/>
              </a:rPr>
              <a:t>p</a:t>
            </a:r>
            <a:r>
              <a:rPr lang="en-US" sz="2400" b="0" i="0" dirty="0">
                <a:solidFill>
                  <a:srgbClr val="37474F"/>
                </a:solidFill>
                <a:effectLst/>
                <a:latin typeface="Courier New" panose="02070309020205020404" pitchFamily="49" charset="0"/>
              </a:rPr>
              <a:t>ip install matplotlib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107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512AF4-AC24-EBFB-5363-674C80DAB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855" y="156895"/>
            <a:ext cx="9602372" cy="65442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FFC966-C2B0-C3E1-9A6F-854DBE77979E}"/>
              </a:ext>
            </a:extLst>
          </p:cNvPr>
          <p:cNvSpPr/>
          <p:nvPr/>
        </p:nvSpPr>
        <p:spPr>
          <a:xfrm>
            <a:off x="9007366" y="124692"/>
            <a:ext cx="1851134" cy="7585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4E922D-4396-E6F7-57B3-9E9E48A837DB}"/>
              </a:ext>
            </a:extLst>
          </p:cNvPr>
          <p:cNvSpPr/>
          <p:nvPr/>
        </p:nvSpPr>
        <p:spPr>
          <a:xfrm>
            <a:off x="5315130" y="509154"/>
            <a:ext cx="1851134" cy="526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F1316A-DF3D-C990-7E77-E90A69B2A3A6}"/>
              </a:ext>
            </a:extLst>
          </p:cNvPr>
          <p:cNvSpPr/>
          <p:nvPr/>
        </p:nvSpPr>
        <p:spPr>
          <a:xfrm>
            <a:off x="1330036" y="3332017"/>
            <a:ext cx="1375064" cy="526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5929A9-B64B-C7F4-7097-1325E937F7FA}"/>
              </a:ext>
            </a:extLst>
          </p:cNvPr>
          <p:cNvSpPr/>
          <p:nvPr/>
        </p:nvSpPr>
        <p:spPr>
          <a:xfrm>
            <a:off x="5706521" y="6179127"/>
            <a:ext cx="1851134" cy="526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2DAA9B-6150-2D77-C41C-C5AC9B84D96F}"/>
              </a:ext>
            </a:extLst>
          </p:cNvPr>
          <p:cNvSpPr/>
          <p:nvPr/>
        </p:nvSpPr>
        <p:spPr>
          <a:xfrm>
            <a:off x="3597166" y="2500745"/>
            <a:ext cx="1213825" cy="526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71FC24-19FD-C137-412C-6B389D6BD9BA}"/>
              </a:ext>
            </a:extLst>
          </p:cNvPr>
          <p:cNvSpPr/>
          <p:nvPr/>
        </p:nvSpPr>
        <p:spPr>
          <a:xfrm>
            <a:off x="7805485" y="4942608"/>
            <a:ext cx="1255388" cy="526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3FFFDB-1273-60FA-8223-6FD91E42D5FC}"/>
              </a:ext>
            </a:extLst>
          </p:cNvPr>
          <p:cNvSpPr/>
          <p:nvPr/>
        </p:nvSpPr>
        <p:spPr>
          <a:xfrm>
            <a:off x="4355702" y="1721427"/>
            <a:ext cx="1390471" cy="526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192847-690B-5A4E-CE9F-5FBF116D9864}"/>
              </a:ext>
            </a:extLst>
          </p:cNvPr>
          <p:cNvSpPr/>
          <p:nvPr/>
        </p:nvSpPr>
        <p:spPr>
          <a:xfrm>
            <a:off x="6340366" y="4048990"/>
            <a:ext cx="1348907" cy="526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8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2BDE33-F910-F752-2C75-7B136F5BB50F}"/>
              </a:ext>
            </a:extLst>
          </p:cNvPr>
          <p:cNvSpPr txBox="1"/>
          <p:nvPr/>
        </p:nvSpPr>
        <p:spPr>
          <a:xfrm>
            <a:off x="948171" y="3327461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Labeling plots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81C4D-B3FA-91E7-6E6E-C9C439B81645}"/>
              </a:ext>
            </a:extLst>
          </p:cNvPr>
          <p:cNvSpPr txBox="1"/>
          <p:nvPr/>
        </p:nvSpPr>
        <p:spPr>
          <a:xfrm>
            <a:off x="2163906" y="4127562"/>
            <a:ext cx="80295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 a title to a figure,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is used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functions are used to add text for the axes: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plt.xlabel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adds text for the x-axis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plt.ylabel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adds text for the y-axis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C45A80-5F37-0104-F916-0A9EBBF85B53}"/>
              </a:ext>
            </a:extLst>
          </p:cNvPr>
          <p:cNvSpPr txBox="1"/>
          <p:nvPr/>
        </p:nvSpPr>
        <p:spPr>
          <a:xfrm>
            <a:off x="975880" y="861352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Creating plots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0E542F-C1C9-9D5F-C181-6482E6AEBA6E}"/>
              </a:ext>
            </a:extLst>
          </p:cNvPr>
          <p:cNvSpPr txBox="1"/>
          <p:nvPr/>
        </p:nvSpPr>
        <p:spPr>
          <a:xfrm>
            <a:off x="2091171" y="1474531"/>
            <a:ext cx="60942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matplotlib.pyplot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sz="2400" dirty="0">
                <a:solidFill>
                  <a:srgbClr val="0033B3"/>
                </a:solidFill>
                <a:effectLst/>
                <a:latin typeface="JetBrains Mono"/>
              </a:rPr>
              <a:t>as </a:t>
            </a: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plt.plot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</a:p>
          <a:p>
            <a:r>
              <a:rPr lang="en-US" sz="2400" dirty="0" err="1">
                <a:solidFill>
                  <a:srgbClr val="080808"/>
                </a:solidFill>
                <a:latin typeface="JetBrains Mono"/>
              </a:rPr>
              <a:t>plt.show</a:t>
            </a:r>
            <a:r>
              <a:rPr lang="en-US" sz="2400" dirty="0">
                <a:solidFill>
                  <a:srgbClr val="080808"/>
                </a:solidFill>
                <a:latin typeface="JetBrains Mono"/>
              </a:rPr>
              <a:t>()</a:t>
            </a:r>
            <a:endParaRPr lang="en-US" sz="240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50210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8B0B3C-CD59-DFAA-43EF-630D7F8B6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11388"/>
            <a:ext cx="5669771" cy="44352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2FCE64-C6C3-F655-5F88-4BD63B551E8B}"/>
              </a:ext>
            </a:extLst>
          </p:cNvPr>
          <p:cNvSpPr txBox="1"/>
          <p:nvPr/>
        </p:nvSpPr>
        <p:spPr>
          <a:xfrm>
            <a:off x="737128" y="636335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Labeling plots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E7A920-B3E6-5519-8805-CF8876F59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2" y="1893440"/>
            <a:ext cx="4961050" cy="299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1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E05A93-9F6A-63D1-94FD-2DE463613D55}"/>
              </a:ext>
            </a:extLst>
          </p:cNvPr>
          <p:cNvSpPr txBox="1"/>
          <p:nvPr/>
        </p:nvSpPr>
        <p:spPr>
          <a:xfrm>
            <a:off x="899793" y="733374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Creating plots with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F7A510-C9D2-E9AB-DAFE-8993FA7AA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8910"/>
            <a:ext cx="6001406" cy="31200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8AE2CB-CF7F-F87F-7E15-B7E739016A24}"/>
              </a:ext>
            </a:extLst>
          </p:cNvPr>
          <p:cNvSpPr txBox="1"/>
          <p:nvPr/>
        </p:nvSpPr>
        <p:spPr>
          <a:xfrm>
            <a:off x="6027576" y="539921"/>
            <a:ext cx="636814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matplotlib.pyplot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sz="2400" dirty="0">
                <a:solidFill>
                  <a:srgbClr val="0033B3"/>
                </a:solidFill>
                <a:effectLst/>
                <a:latin typeface="JetBrains Mono"/>
              </a:rPr>
              <a:t>as </a:t>
            </a: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pandas </a:t>
            </a:r>
            <a:r>
              <a:rPr lang="en-US" sz="2400" dirty="0">
                <a:solidFill>
                  <a:srgbClr val="0033B3"/>
                </a:solidFill>
                <a:effectLst/>
                <a:latin typeface="JetBrains Mono"/>
              </a:rPr>
              <a:t>as 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pd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matplotlib</a:t>
            </a:r>
          </a:p>
          <a:p>
            <a:endParaRPr lang="en-US" sz="2400" dirty="0">
              <a:solidFill>
                <a:srgbClr val="080808"/>
              </a:solidFill>
              <a:effectLst/>
              <a:latin typeface="JetBrains Mono"/>
            </a:endParaRPr>
          </a:p>
          <a:p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days = </a:t>
            </a: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pd.Series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([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6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7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revenue= </a:t>
            </a: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pd.Series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([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900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1200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</a:p>
          <a:p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500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600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2000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expenses = </a:t>
            </a: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pd.Series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([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800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800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800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800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</a:p>
          <a:p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800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])</a:t>
            </a:r>
          </a:p>
          <a:p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plt.plot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(days, revenue, </a:t>
            </a:r>
            <a:r>
              <a:rPr lang="en-US" sz="2400" dirty="0">
                <a:solidFill>
                  <a:srgbClr val="660099"/>
                </a:solidFill>
                <a:effectLst/>
                <a:latin typeface="JetBrains Mono"/>
              </a:rPr>
              <a:t>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'Revenue'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plt.plot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(days, expenses, </a:t>
            </a:r>
            <a:r>
              <a:rPr lang="en-US" sz="2400" dirty="0">
                <a:solidFill>
                  <a:srgbClr val="660099"/>
                </a:solidFill>
                <a:effectLst/>
                <a:latin typeface="JetBrains Mono"/>
              </a:rPr>
              <a:t>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'Expenses'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plt.title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'Business'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plt.xlabel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'Day'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plt.ylabel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'USD'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plt.show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29416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721C06-E084-5432-4F28-14E3F699E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953" y="1705992"/>
            <a:ext cx="7590836" cy="4001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63030-3624-DBD5-18F5-C03282232F2B}"/>
              </a:ext>
            </a:extLst>
          </p:cNvPr>
          <p:cNvSpPr txBox="1"/>
          <p:nvPr/>
        </p:nvSpPr>
        <p:spPr>
          <a:xfrm>
            <a:off x="1115292" y="94255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80808"/>
                </a:solidFill>
                <a:effectLst/>
                <a:latin typeface="JetBrains Mono"/>
              </a:rPr>
              <a:t>plt.legend</a:t>
            </a:r>
            <a:r>
              <a:rPr lang="en-US" sz="32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2455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5495E4-3B5D-33D6-0E9B-ABA8A7AF2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862" y="2042084"/>
            <a:ext cx="8103476" cy="42467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368BE7-2064-F6CC-CC8B-E7B0C1AE0336}"/>
              </a:ext>
            </a:extLst>
          </p:cNvPr>
          <p:cNvSpPr txBox="1"/>
          <p:nvPr/>
        </p:nvSpPr>
        <p:spPr>
          <a:xfrm>
            <a:off x="1229472" y="110020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80808"/>
                </a:solidFill>
                <a:effectLst/>
                <a:latin typeface="JetBrains Mono"/>
              </a:rPr>
              <a:t>plt.text</a:t>
            </a:r>
            <a:r>
              <a:rPr lang="en-US" sz="3200" dirty="0">
                <a:solidFill>
                  <a:srgbClr val="080808"/>
                </a:solidFill>
                <a:effectLst/>
                <a:latin typeface="JetBrains Mono"/>
              </a:rPr>
              <a:t>(4, 1500, ‘Sample Text’)</a:t>
            </a:r>
          </a:p>
        </p:txBody>
      </p:sp>
    </p:spTree>
    <p:extLst>
      <p:ext uri="{BB962C8B-B14F-4D97-AF65-F5344CB8AC3E}">
        <p14:creationId xmlns:p14="http://schemas.microsoft.com/office/powerpoint/2010/main" val="10699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7F03B4-11B2-C0D0-0C2A-6A29D1687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851" y="1754476"/>
            <a:ext cx="9259495" cy="48217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04B06A-2942-33F4-B0CB-6DDE6B07B0D6}"/>
              </a:ext>
            </a:extLst>
          </p:cNvPr>
          <p:cNvSpPr txBox="1"/>
          <p:nvPr/>
        </p:nvSpPr>
        <p:spPr>
          <a:xfrm>
            <a:off x="1302327" y="521194"/>
            <a:ext cx="97432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plt.annotate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'Revenue on the 3rd Day'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 err="1">
                <a:solidFill>
                  <a:srgbClr val="660099"/>
                </a:solidFill>
                <a:effectLst/>
                <a:latin typeface="JetBrains Mono"/>
              </a:rPr>
              <a:t>arrowprops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 err="1">
                <a:solidFill>
                  <a:srgbClr val="000080"/>
                </a:solidFill>
                <a:effectLst/>
                <a:latin typeface="JetBrains Mono"/>
              </a:rPr>
              <a:t>dict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 err="1">
                <a:solidFill>
                  <a:srgbClr val="660099"/>
                </a:solidFill>
                <a:effectLst/>
                <a:latin typeface="JetBrains Mono"/>
              </a:rPr>
              <a:t>facecolor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'green'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), </a:t>
            </a:r>
            <a:r>
              <a:rPr lang="en-US" sz="2400" dirty="0" err="1">
                <a:solidFill>
                  <a:srgbClr val="660099"/>
                </a:solidFill>
                <a:effectLst/>
                <a:latin typeface="JetBrains Mono"/>
              </a:rPr>
              <a:t>xy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=(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1200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), </a:t>
            </a:r>
            <a:r>
              <a:rPr lang="en-US" sz="2400" dirty="0" err="1">
                <a:solidFill>
                  <a:srgbClr val="660099"/>
                </a:solidFill>
                <a:effectLst/>
                <a:latin typeface="JetBrains Mono"/>
              </a:rPr>
              <a:t>xytext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=(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1350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09120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70BE14-7BA8-5635-9F91-15862267E95A}"/>
              </a:ext>
            </a:extLst>
          </p:cNvPr>
          <p:cNvSpPr txBox="1"/>
          <p:nvPr/>
        </p:nvSpPr>
        <p:spPr>
          <a:xfrm>
            <a:off x="803565" y="57886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80808"/>
                </a:solidFill>
                <a:effectLst/>
                <a:latin typeface="JetBrains Mono"/>
              </a:rPr>
              <a:t>Changing font size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3A9B4-08CB-195B-D1D5-83022C9C5C91}"/>
              </a:ext>
            </a:extLst>
          </p:cNvPr>
          <p:cNvSpPr txBox="1"/>
          <p:nvPr/>
        </p:nvSpPr>
        <p:spPr>
          <a:xfrm>
            <a:off x="2579976" y="1421529"/>
            <a:ext cx="703204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80808"/>
                </a:solidFill>
                <a:effectLst/>
                <a:latin typeface="JetBrains Mono"/>
              </a:rPr>
              <a:t>Using matplotlib Runtime configuration(RC) method:</a:t>
            </a:r>
          </a:p>
          <a:p>
            <a:endParaRPr lang="en-US" sz="2400" dirty="0">
              <a:solidFill>
                <a:srgbClr val="080808"/>
              </a:solidFill>
              <a:effectLst/>
              <a:latin typeface="JetBrains Mono"/>
            </a:endParaRPr>
          </a:p>
          <a:p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font = {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'family' 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'normal'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'weight' 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'bold'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'size'   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24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matplotlib.rc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'font'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**font)</a:t>
            </a:r>
          </a:p>
          <a:p>
            <a:endParaRPr lang="en-US" sz="2400" dirty="0">
              <a:solidFill>
                <a:srgbClr val="080808"/>
              </a:solidFill>
              <a:latin typeface="JetBrains Mono"/>
            </a:endParaRPr>
          </a:p>
          <a:p>
            <a:r>
              <a:rPr lang="en-US" sz="2400" b="1" dirty="0">
                <a:solidFill>
                  <a:srgbClr val="080808"/>
                </a:solidFill>
                <a:effectLst/>
                <a:latin typeface="JetBrains Mono"/>
              </a:rPr>
              <a:t>Using method parameters:</a:t>
            </a:r>
          </a:p>
          <a:p>
            <a:endParaRPr lang="en-US" sz="2400" b="1" dirty="0">
              <a:solidFill>
                <a:srgbClr val="080808"/>
              </a:solidFill>
              <a:latin typeface="JetBrains Mono"/>
            </a:endParaRPr>
          </a:p>
          <a:p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plt.title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'Business'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 err="1">
                <a:solidFill>
                  <a:srgbClr val="660099"/>
                </a:solidFill>
                <a:effectLst/>
                <a:latin typeface="JetBrains Mono"/>
              </a:rPr>
              <a:t>fontsize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plt.xlabel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'Day'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 err="1">
                <a:solidFill>
                  <a:srgbClr val="660099"/>
                </a:solidFill>
                <a:effectLst/>
                <a:latin typeface="JetBrains Mono"/>
              </a:rPr>
              <a:t>fontsize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plt.ylabel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'USD'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 err="1">
                <a:solidFill>
                  <a:srgbClr val="660099"/>
                </a:solidFill>
                <a:effectLst/>
                <a:latin typeface="JetBrains Mono"/>
              </a:rPr>
              <a:t>fontsize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endParaRPr lang="en-US" sz="2400" b="1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08180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909418-4448-1DE7-60BA-FCBA7B0A16B5}"/>
              </a:ext>
            </a:extLst>
          </p:cNvPr>
          <p:cNvSpPr txBox="1"/>
          <p:nvPr/>
        </p:nvSpPr>
        <p:spPr>
          <a:xfrm>
            <a:off x="886692" y="63082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80808"/>
                </a:solidFill>
                <a:effectLst/>
                <a:latin typeface="JetBrains Mono"/>
              </a:rPr>
              <a:t>Scatter plot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06660-2641-91CF-4B23-F4B85C75EFE7}"/>
              </a:ext>
            </a:extLst>
          </p:cNvPr>
          <p:cNvSpPr txBox="1"/>
          <p:nvPr/>
        </p:nvSpPr>
        <p:spPr>
          <a:xfrm>
            <a:off x="2725016" y="1210086"/>
            <a:ext cx="6094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</a:t>
            </a:r>
            <a:r>
              <a:rPr lang="en-US" sz="2400" b="1" dirty="0" err="1">
                <a:solidFill>
                  <a:srgbClr val="080808"/>
                </a:solidFill>
                <a:effectLst/>
                <a:latin typeface="JetBrains Mono"/>
              </a:rPr>
              <a:t>scatter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(days, revenue, </a:t>
            </a:r>
            <a:r>
              <a:rPr lang="en-US" sz="2400" dirty="0">
                <a:solidFill>
                  <a:srgbClr val="660099"/>
                </a:solidFill>
                <a:effectLst/>
                <a:latin typeface="JetBrains Mono"/>
              </a:rPr>
              <a:t>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'Revenue'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</a:t>
            </a:r>
            <a:r>
              <a:rPr lang="en-US" sz="2400" b="1" dirty="0" err="1">
                <a:solidFill>
                  <a:srgbClr val="080808"/>
                </a:solidFill>
                <a:effectLst/>
                <a:latin typeface="JetBrains Mono"/>
              </a:rPr>
              <a:t>scatter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(days, expenses, </a:t>
            </a:r>
            <a:r>
              <a:rPr lang="en-US" sz="2400" dirty="0">
                <a:solidFill>
                  <a:srgbClr val="660099"/>
                </a:solidFill>
                <a:effectLst/>
                <a:latin typeface="JetBrains Mono"/>
              </a:rPr>
              <a:t>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'Expenses'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AF30D3-085C-D5D7-593B-C78A7B2E4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27" y="2246905"/>
            <a:ext cx="8749145" cy="459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21DFA-7FF0-8DCA-8D84-B32514186ED2}"/>
              </a:ext>
            </a:extLst>
          </p:cNvPr>
          <p:cNvSpPr txBox="1"/>
          <p:nvPr/>
        </p:nvSpPr>
        <p:spPr>
          <a:xfrm>
            <a:off x="886692" y="63082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80808"/>
                </a:solidFill>
                <a:effectLst/>
                <a:latin typeface="JetBrains Mono"/>
              </a:rPr>
              <a:t>Styling plots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4957FD-6610-42F6-55AA-208AFF9EE80C}"/>
              </a:ext>
            </a:extLst>
          </p:cNvPr>
          <p:cNvSpPr txBox="1"/>
          <p:nvPr/>
        </p:nvSpPr>
        <p:spPr>
          <a:xfrm>
            <a:off x="1371600" y="1806971"/>
            <a:ext cx="103597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By default, lines and scatter plots are assigned certain colors and style.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style of different plots can be changed manually: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Line color/style</a:t>
            </a:r>
          </a:p>
          <a:p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Marker style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199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EC3928-79D2-394E-584D-ED71CFA5D561}"/>
              </a:ext>
            </a:extLst>
          </p:cNvPr>
          <p:cNvSpPr txBox="1"/>
          <p:nvPr/>
        </p:nvSpPr>
        <p:spPr>
          <a:xfrm>
            <a:off x="1155990" y="720437"/>
            <a:ext cx="6094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plt.plot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(days, revenue, 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‘r:’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660099"/>
                </a:solidFill>
                <a:effectLst/>
                <a:latin typeface="JetBrains Mono"/>
              </a:rPr>
              <a:t>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'Revenue'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plt.plot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(days, expenses, 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'g-’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400" dirty="0">
                <a:solidFill>
                  <a:srgbClr val="660099"/>
                </a:solidFill>
                <a:effectLst/>
                <a:latin typeface="JetBrains Mono"/>
              </a:rPr>
              <a:t>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'Expenses'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9FC3FE-C10A-C4DF-B373-F890ECA07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304" y="1691798"/>
            <a:ext cx="8912772" cy="467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623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552B0C-1BE9-B9EA-ADA2-86FA4CAD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583" y="10510"/>
            <a:ext cx="9872528" cy="676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2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1AC73E-81C3-574D-05E6-0D2893D09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876" y="3495734"/>
            <a:ext cx="4755292" cy="3193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86E884-B49E-B1A8-80D2-D458E912B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057" y="220705"/>
            <a:ext cx="4724809" cy="3170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5E4BBC-34DD-D9D3-9E14-3D9A0D6A2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78" y="3542640"/>
            <a:ext cx="4709568" cy="3093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29026C-DC62-CC43-74AA-13C7F86ADCB0}"/>
              </a:ext>
            </a:extLst>
          </p:cNvPr>
          <p:cNvSpPr txBox="1"/>
          <p:nvPr/>
        </p:nvSpPr>
        <p:spPr>
          <a:xfrm>
            <a:off x="959429" y="51652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80808"/>
                </a:solidFill>
                <a:effectLst/>
                <a:latin typeface="JetBrains Mono"/>
              </a:rPr>
              <a:t>More Examples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296DD9-C1EA-17B3-F560-7F044309DDC1}"/>
              </a:ext>
            </a:extLst>
          </p:cNvPr>
          <p:cNvSpPr txBox="1"/>
          <p:nvPr/>
        </p:nvSpPr>
        <p:spPr>
          <a:xfrm>
            <a:off x="924792" y="1333941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80808"/>
                </a:solidFill>
                <a:latin typeface="JetBrains Mono"/>
              </a:rPr>
              <a:t>‘r--’</a:t>
            </a:r>
          </a:p>
          <a:p>
            <a:r>
              <a:rPr lang="en-US" sz="3200" dirty="0">
                <a:solidFill>
                  <a:srgbClr val="080808"/>
                </a:solidFill>
                <a:effectLst/>
                <a:latin typeface="JetBrains Mono"/>
              </a:rPr>
              <a:t>‘md’</a:t>
            </a:r>
          </a:p>
          <a:p>
            <a:r>
              <a:rPr lang="en-US" sz="3200" dirty="0">
                <a:solidFill>
                  <a:srgbClr val="080808"/>
                </a:solidFill>
                <a:latin typeface="JetBrains Mono"/>
              </a:rPr>
              <a:t>‘b^:’</a:t>
            </a:r>
            <a:endParaRPr lang="en-US" sz="3200" dirty="0">
              <a:solidFill>
                <a:srgbClr val="080808"/>
              </a:solidFill>
              <a:effectLst/>
              <a:latin typeface="JetBrains Mono"/>
            </a:endParaRPr>
          </a:p>
          <a:p>
            <a:endParaRPr lang="en-US" sz="320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12746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10B0FA-8AF4-3D0C-2C13-39B3C5375CDC}"/>
              </a:ext>
            </a:extLst>
          </p:cNvPr>
          <p:cNvSpPr txBox="1"/>
          <p:nvPr/>
        </p:nvSpPr>
        <p:spPr>
          <a:xfrm>
            <a:off x="958561" y="760906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Grid lines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09469-961D-0C69-3CB9-01FC2822A154}"/>
              </a:ext>
            </a:extLst>
          </p:cNvPr>
          <p:cNvSpPr txBox="1"/>
          <p:nvPr/>
        </p:nvSpPr>
        <p:spPr>
          <a:xfrm>
            <a:off x="1488498" y="1509052"/>
            <a:ext cx="99782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Grid lines are useful when determining the value of a point on a plot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plt.grid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() function adds grid lines to plots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70BBC8-E6CF-84DD-1B9A-BB3BE2A8C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310" y="2480804"/>
            <a:ext cx="7893269" cy="41354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ECDDB6-7207-2284-E0ED-D9D0425D0847}"/>
              </a:ext>
            </a:extLst>
          </p:cNvPr>
          <p:cNvSpPr txBox="1"/>
          <p:nvPr/>
        </p:nvSpPr>
        <p:spPr>
          <a:xfrm>
            <a:off x="1385455" y="397202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80808"/>
                </a:solidFill>
                <a:effectLst/>
                <a:latin typeface="JetBrains Mono"/>
              </a:rPr>
              <a:t>plt.grid</a:t>
            </a:r>
            <a:r>
              <a:rPr lang="en-US" sz="32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7801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76034B-2886-EED3-915D-64C562ECA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24776"/>
            <a:ext cx="6023576" cy="316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61DA19-C838-AE08-F307-272AC2AA0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2" y="1966675"/>
            <a:ext cx="6075218" cy="31858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09BA39-B96C-2EE7-6FE4-0DCC3BBD46C3}"/>
              </a:ext>
            </a:extLst>
          </p:cNvPr>
          <p:cNvSpPr txBox="1"/>
          <p:nvPr/>
        </p:nvSpPr>
        <p:spPr>
          <a:xfrm>
            <a:off x="2143990" y="543714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80808"/>
                </a:solidFill>
                <a:effectLst/>
                <a:latin typeface="JetBrains Mono"/>
              </a:rPr>
              <a:t>plt.grid</a:t>
            </a:r>
            <a:r>
              <a:rPr lang="en-US" sz="2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800" dirty="0">
                <a:solidFill>
                  <a:srgbClr val="660099"/>
                </a:solidFill>
                <a:effectLst/>
                <a:latin typeface="JetBrains Mono"/>
              </a:rPr>
              <a:t>axis</a:t>
            </a:r>
            <a:r>
              <a:rPr lang="en-US" sz="28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800" dirty="0">
                <a:solidFill>
                  <a:srgbClr val="067D17"/>
                </a:solidFill>
                <a:effectLst/>
                <a:latin typeface="JetBrains Mono"/>
              </a:rPr>
              <a:t>'y'</a:t>
            </a:r>
            <a:r>
              <a:rPr lang="en-US" sz="2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2C1928-4967-DBE9-D55E-593C27F6B408}"/>
              </a:ext>
            </a:extLst>
          </p:cNvPr>
          <p:cNvSpPr txBox="1"/>
          <p:nvPr/>
        </p:nvSpPr>
        <p:spPr>
          <a:xfrm>
            <a:off x="8156863" y="534016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80808"/>
                </a:solidFill>
                <a:effectLst/>
                <a:latin typeface="JetBrains Mono"/>
              </a:rPr>
              <a:t>plt.grid</a:t>
            </a:r>
            <a:r>
              <a:rPr lang="en-US" sz="2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800" dirty="0">
                <a:solidFill>
                  <a:srgbClr val="660099"/>
                </a:solidFill>
                <a:effectLst/>
                <a:latin typeface="JetBrains Mono"/>
              </a:rPr>
              <a:t>axis</a:t>
            </a:r>
            <a:r>
              <a:rPr lang="en-US" sz="28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800" dirty="0">
                <a:solidFill>
                  <a:srgbClr val="067D17"/>
                </a:solidFill>
                <a:effectLst/>
                <a:latin typeface="JetBrains Mono"/>
              </a:rPr>
              <a:t>‘x'</a:t>
            </a:r>
            <a:r>
              <a:rPr lang="en-US" sz="2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889349-2AEA-A5EC-C722-59ED09183F8E}"/>
              </a:ext>
            </a:extLst>
          </p:cNvPr>
          <p:cNvSpPr txBox="1"/>
          <p:nvPr/>
        </p:nvSpPr>
        <p:spPr>
          <a:xfrm>
            <a:off x="584488" y="864815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Grid lines</a:t>
            </a:r>
          </a:p>
        </p:txBody>
      </p:sp>
    </p:spTree>
    <p:extLst>
      <p:ext uri="{BB962C8B-B14F-4D97-AF65-F5344CB8AC3E}">
        <p14:creationId xmlns:p14="http://schemas.microsoft.com/office/powerpoint/2010/main" val="202841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9A9948-CFC0-AE19-F29E-846533F3E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13" y="1464905"/>
            <a:ext cx="8240110" cy="43181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2D9D8E-8EFB-63AF-76C7-7BD8D7135730}"/>
              </a:ext>
            </a:extLst>
          </p:cNvPr>
          <p:cNvSpPr txBox="1"/>
          <p:nvPr/>
        </p:nvSpPr>
        <p:spPr>
          <a:xfrm>
            <a:off x="584488" y="864815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Grid lines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B38E91-77D1-29C6-1174-ACD8E932907E}"/>
              </a:ext>
            </a:extLst>
          </p:cNvPr>
          <p:cNvSpPr txBox="1"/>
          <p:nvPr/>
        </p:nvSpPr>
        <p:spPr>
          <a:xfrm>
            <a:off x="3640281" y="602942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80808"/>
                </a:solidFill>
                <a:effectLst/>
                <a:latin typeface="JetBrains Mono"/>
              </a:rPr>
              <a:t>plt.grid</a:t>
            </a:r>
            <a:r>
              <a:rPr lang="en-US" sz="2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800" dirty="0" err="1">
                <a:solidFill>
                  <a:srgbClr val="660099"/>
                </a:solidFill>
                <a:effectLst/>
                <a:latin typeface="JetBrains Mono"/>
              </a:rPr>
              <a:t>linestyle</a:t>
            </a:r>
            <a:r>
              <a:rPr lang="en-US" sz="28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800" dirty="0">
                <a:solidFill>
                  <a:srgbClr val="067D17"/>
                </a:solidFill>
                <a:effectLst/>
                <a:latin typeface="JetBrains Mono"/>
              </a:rPr>
              <a:t>'--'</a:t>
            </a:r>
            <a:r>
              <a:rPr lang="en-US" sz="2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800" dirty="0">
                <a:solidFill>
                  <a:srgbClr val="660099"/>
                </a:solidFill>
                <a:effectLst/>
                <a:latin typeface="JetBrains Mono"/>
              </a:rPr>
              <a:t>color</a:t>
            </a:r>
            <a:r>
              <a:rPr lang="en-US" sz="28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800" dirty="0">
                <a:solidFill>
                  <a:srgbClr val="067D17"/>
                </a:solidFill>
                <a:effectLst/>
                <a:latin typeface="JetBrains Mono"/>
              </a:rPr>
              <a:t>'blue'</a:t>
            </a:r>
            <a:r>
              <a:rPr lang="en-US" sz="2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0892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F65799-A1F8-EEDB-A204-D861071F740A}"/>
              </a:ext>
            </a:extLst>
          </p:cNvPr>
          <p:cNvSpPr txBox="1"/>
          <p:nvPr/>
        </p:nvSpPr>
        <p:spPr>
          <a:xfrm>
            <a:off x="584488" y="864815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Multiple Plots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B63B4-1979-8E49-D5C8-4AF386D00B0D}"/>
              </a:ext>
            </a:extLst>
          </p:cNvPr>
          <p:cNvSpPr txBox="1"/>
          <p:nvPr/>
        </p:nvSpPr>
        <p:spPr>
          <a:xfrm>
            <a:off x="1415761" y="2052072"/>
            <a:ext cx="100038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Multiple plots can be drawn in the same figure using the </a:t>
            </a:r>
            <a:r>
              <a:rPr lang="en-US" sz="2400" b="1" dirty="0" err="1"/>
              <a:t>plt.subplot</a:t>
            </a:r>
            <a:r>
              <a:rPr lang="en-US" sz="2400" b="1" dirty="0"/>
              <a:t>() </a:t>
            </a:r>
            <a:r>
              <a:rPr lang="en-US" sz="2400" dirty="0"/>
              <a:t>function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</a:t>
            </a:r>
            <a:r>
              <a:rPr lang="en-US" sz="2400" dirty="0" err="1"/>
              <a:t>plt.subplot</a:t>
            </a:r>
            <a:r>
              <a:rPr lang="en-US" sz="2400" dirty="0"/>
              <a:t>() function takes three parameters: </a:t>
            </a:r>
            <a:r>
              <a:rPr lang="en-US" sz="2400" b="1" dirty="0" err="1"/>
              <a:t>nrows</a:t>
            </a:r>
            <a:r>
              <a:rPr lang="en-US" sz="2400" dirty="0"/>
              <a:t>, </a:t>
            </a:r>
            <a:r>
              <a:rPr lang="en-US" sz="2400" b="1" dirty="0" err="1"/>
              <a:t>ncols</a:t>
            </a:r>
            <a:r>
              <a:rPr lang="en-US" sz="2400" dirty="0"/>
              <a:t>, and </a:t>
            </a:r>
            <a:r>
              <a:rPr lang="en-US" sz="2400" b="1" dirty="0"/>
              <a:t>index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</a:t>
            </a:r>
            <a:r>
              <a:rPr lang="en-US" sz="2400" b="1" dirty="0" err="1"/>
              <a:t>nrows</a:t>
            </a:r>
            <a:r>
              <a:rPr lang="en-US" sz="2400" dirty="0"/>
              <a:t> and </a:t>
            </a:r>
            <a:r>
              <a:rPr lang="en-US" sz="2400" b="1" dirty="0" err="1"/>
              <a:t>ncols</a:t>
            </a:r>
            <a:r>
              <a:rPr lang="en-US" sz="2400" dirty="0"/>
              <a:t> parameters specify the figure layout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</a:t>
            </a:r>
            <a:r>
              <a:rPr lang="en-US" sz="2400" b="1" dirty="0"/>
              <a:t>index</a:t>
            </a:r>
            <a:r>
              <a:rPr lang="en-US" sz="2400" dirty="0"/>
              <a:t> determines which plot is created</a:t>
            </a:r>
          </a:p>
        </p:txBody>
      </p:sp>
    </p:spTree>
    <p:extLst>
      <p:ext uri="{BB962C8B-B14F-4D97-AF65-F5344CB8AC3E}">
        <p14:creationId xmlns:p14="http://schemas.microsoft.com/office/powerpoint/2010/main" val="46937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70EAE69-CB3D-69CC-BB9F-47B77CA1F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003291"/>
              </p:ext>
            </p:extLst>
          </p:nvPr>
        </p:nvGraphicFramePr>
        <p:xfrm>
          <a:off x="1720271" y="646929"/>
          <a:ext cx="3007592" cy="20443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3796">
                  <a:extLst>
                    <a:ext uri="{9D8B030D-6E8A-4147-A177-3AD203B41FA5}">
                      <a16:colId xmlns:a16="http://schemas.microsoft.com/office/drawing/2014/main" val="1227246737"/>
                    </a:ext>
                  </a:extLst>
                </a:gridCol>
                <a:gridCol w="1503796">
                  <a:extLst>
                    <a:ext uri="{9D8B030D-6E8A-4147-A177-3AD203B41FA5}">
                      <a16:colId xmlns:a16="http://schemas.microsoft.com/office/drawing/2014/main" val="109004994"/>
                    </a:ext>
                  </a:extLst>
                </a:gridCol>
              </a:tblGrid>
              <a:tr h="204431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subplot1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subplot2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754965"/>
                  </a:ext>
                </a:extLst>
              </a:tr>
            </a:tbl>
          </a:graphicData>
        </a:graphic>
      </p:graphicFrame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315AE5B-5CD9-C704-D249-5BA04EB36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427927"/>
              </p:ext>
            </p:extLst>
          </p:nvPr>
        </p:nvGraphicFramePr>
        <p:xfrm>
          <a:off x="7050808" y="467591"/>
          <a:ext cx="2404919" cy="2130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4919">
                  <a:extLst>
                    <a:ext uri="{9D8B030D-6E8A-4147-A177-3AD203B41FA5}">
                      <a16:colId xmlns:a16="http://schemas.microsoft.com/office/drawing/2014/main" val="3294238147"/>
                    </a:ext>
                  </a:extLst>
                </a:gridCol>
              </a:tblGrid>
              <a:tr h="1065068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subplot1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002343"/>
                  </a:ext>
                </a:extLst>
              </a:tr>
              <a:tr h="1065068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subplot2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28082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BE723DA-5958-CF4B-7754-5C7DC3835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125860"/>
              </p:ext>
            </p:extLst>
          </p:nvPr>
        </p:nvGraphicFramePr>
        <p:xfrm>
          <a:off x="1699491" y="3782290"/>
          <a:ext cx="3049156" cy="215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578">
                  <a:extLst>
                    <a:ext uri="{9D8B030D-6E8A-4147-A177-3AD203B41FA5}">
                      <a16:colId xmlns:a16="http://schemas.microsoft.com/office/drawing/2014/main" val="2459471633"/>
                    </a:ext>
                  </a:extLst>
                </a:gridCol>
                <a:gridCol w="1524578">
                  <a:extLst>
                    <a:ext uri="{9D8B030D-6E8A-4147-A177-3AD203B41FA5}">
                      <a16:colId xmlns:a16="http://schemas.microsoft.com/office/drawing/2014/main" val="683905774"/>
                    </a:ext>
                  </a:extLst>
                </a:gridCol>
              </a:tblGrid>
              <a:tr h="10754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967132"/>
                  </a:ext>
                </a:extLst>
              </a:tr>
              <a:tr h="107546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313891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3EA5405E-AA54-F258-2845-DEF96FFB3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610163"/>
              </p:ext>
            </p:extLst>
          </p:nvPr>
        </p:nvGraphicFramePr>
        <p:xfrm>
          <a:off x="6926119" y="3525210"/>
          <a:ext cx="2685472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5472">
                  <a:extLst>
                    <a:ext uri="{9D8B030D-6E8A-4147-A177-3AD203B41FA5}">
                      <a16:colId xmlns:a16="http://schemas.microsoft.com/office/drawing/2014/main" val="745607622"/>
                    </a:ext>
                  </a:extLst>
                </a:gridCol>
              </a:tblGrid>
              <a:tr h="72300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113171"/>
                  </a:ext>
                </a:extLst>
              </a:tr>
              <a:tr h="72300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801261"/>
                  </a:ext>
                </a:extLst>
              </a:tr>
              <a:tr h="72300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3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66039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D4E0FBA-2ADC-8C96-24FB-42BD56FB0A08}"/>
              </a:ext>
            </a:extLst>
          </p:cNvPr>
          <p:cNvSpPr txBox="1"/>
          <p:nvPr/>
        </p:nvSpPr>
        <p:spPr>
          <a:xfrm>
            <a:off x="1384588" y="2779436"/>
            <a:ext cx="40290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nrows</a:t>
            </a:r>
            <a:r>
              <a:rPr lang="en-US" sz="2400" dirty="0"/>
              <a:t> = 1, </a:t>
            </a:r>
            <a:r>
              <a:rPr lang="en-US" sz="2400" dirty="0" err="1"/>
              <a:t>ncols</a:t>
            </a:r>
            <a:r>
              <a:rPr lang="en-US" sz="2400" dirty="0"/>
              <a:t> = 2, index =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1AFEEC-ACBA-BDC2-69F7-328071B9D189}"/>
              </a:ext>
            </a:extLst>
          </p:cNvPr>
          <p:cNvSpPr/>
          <p:nvPr/>
        </p:nvSpPr>
        <p:spPr>
          <a:xfrm>
            <a:off x="3221182" y="654628"/>
            <a:ext cx="1496291" cy="2026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E4ACCF-D546-8C76-DF3B-6CB1CF31D61C}"/>
              </a:ext>
            </a:extLst>
          </p:cNvPr>
          <p:cNvSpPr/>
          <p:nvPr/>
        </p:nvSpPr>
        <p:spPr>
          <a:xfrm>
            <a:off x="7055427" y="453737"/>
            <a:ext cx="2410691" cy="10737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6170B2-E664-0FAE-C513-3C2291953411}"/>
              </a:ext>
            </a:extLst>
          </p:cNvPr>
          <p:cNvSpPr txBox="1"/>
          <p:nvPr/>
        </p:nvSpPr>
        <p:spPr>
          <a:xfrm>
            <a:off x="6327197" y="2734409"/>
            <a:ext cx="40290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nrows</a:t>
            </a:r>
            <a:r>
              <a:rPr lang="en-US" sz="2400" dirty="0"/>
              <a:t> = 2, </a:t>
            </a:r>
            <a:r>
              <a:rPr lang="en-US" sz="2400" dirty="0" err="1"/>
              <a:t>ncols</a:t>
            </a:r>
            <a:r>
              <a:rPr lang="en-US" sz="2400" dirty="0"/>
              <a:t> = 1, index 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B0E6AE-799E-EC78-6C03-23E509F4D262}"/>
              </a:ext>
            </a:extLst>
          </p:cNvPr>
          <p:cNvSpPr txBox="1"/>
          <p:nvPr/>
        </p:nvSpPr>
        <p:spPr>
          <a:xfrm>
            <a:off x="1349951" y="5976373"/>
            <a:ext cx="40290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nrows</a:t>
            </a:r>
            <a:r>
              <a:rPr lang="en-US" sz="2400" dirty="0"/>
              <a:t> = 2, </a:t>
            </a:r>
            <a:r>
              <a:rPr lang="en-US" sz="2400" dirty="0" err="1"/>
              <a:t>ncols</a:t>
            </a:r>
            <a:r>
              <a:rPr lang="en-US" sz="2400" dirty="0"/>
              <a:t> = 2, index =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D7ED84-E359-32F5-FC78-E37E64123D34}"/>
              </a:ext>
            </a:extLst>
          </p:cNvPr>
          <p:cNvSpPr/>
          <p:nvPr/>
        </p:nvSpPr>
        <p:spPr>
          <a:xfrm>
            <a:off x="1704109" y="4842164"/>
            <a:ext cx="1513610" cy="1091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3BA86C-BFE7-A060-12E7-5FF7BE9763C0}"/>
              </a:ext>
            </a:extLst>
          </p:cNvPr>
          <p:cNvSpPr txBox="1"/>
          <p:nvPr/>
        </p:nvSpPr>
        <p:spPr>
          <a:xfrm>
            <a:off x="6438033" y="6305419"/>
            <a:ext cx="40290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nrows</a:t>
            </a:r>
            <a:r>
              <a:rPr lang="en-US" sz="2400" dirty="0"/>
              <a:t> = 3, </a:t>
            </a:r>
            <a:r>
              <a:rPr lang="en-US" sz="2400" dirty="0" err="1"/>
              <a:t>ncols</a:t>
            </a:r>
            <a:r>
              <a:rPr lang="en-US" sz="2400" dirty="0"/>
              <a:t> = 1, index =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D246DB-0CC3-257D-F72A-202A64799F0D}"/>
              </a:ext>
            </a:extLst>
          </p:cNvPr>
          <p:cNvSpPr/>
          <p:nvPr/>
        </p:nvSpPr>
        <p:spPr>
          <a:xfrm>
            <a:off x="6930736" y="5354782"/>
            <a:ext cx="2670463" cy="9005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68D9A7-4FDB-4ACF-D5E4-1AED68063A41}"/>
              </a:ext>
            </a:extLst>
          </p:cNvPr>
          <p:cNvSpPr txBox="1"/>
          <p:nvPr/>
        </p:nvSpPr>
        <p:spPr>
          <a:xfrm>
            <a:off x="9718097" y="0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Multiple Plots</a:t>
            </a:r>
          </a:p>
        </p:txBody>
      </p:sp>
    </p:spTree>
    <p:extLst>
      <p:ext uri="{BB962C8B-B14F-4D97-AF65-F5344CB8AC3E}">
        <p14:creationId xmlns:p14="http://schemas.microsoft.com/office/powerpoint/2010/main" val="389844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1296DD-D6B9-B6CE-19D7-A0950CA39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45" y="1766453"/>
            <a:ext cx="8009445" cy="40212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332E97-0FED-1AE2-8056-F2EAAB3253BB}"/>
              </a:ext>
            </a:extLst>
          </p:cNvPr>
          <p:cNvSpPr txBox="1"/>
          <p:nvPr/>
        </p:nvSpPr>
        <p:spPr>
          <a:xfrm>
            <a:off x="8530937" y="1425337"/>
            <a:ext cx="52993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plt.subplot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plt.plot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(days, revenue, </a:t>
            </a:r>
          </a:p>
          <a:p>
            <a:r>
              <a:rPr lang="en-US" sz="2400" dirty="0">
                <a:solidFill>
                  <a:srgbClr val="660099"/>
                </a:solidFill>
                <a:effectLst/>
                <a:latin typeface="JetBrains Mono"/>
              </a:rPr>
              <a:t>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'Revenue'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plt.ylabel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'Revenue (USD)’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sz="2400" dirty="0">
              <a:solidFill>
                <a:srgbClr val="080808"/>
              </a:solidFill>
              <a:effectLst/>
              <a:latin typeface="JetBrains Mono"/>
            </a:endParaRPr>
          </a:p>
          <a:p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plt.subplot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plt.plot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(days, expenses, </a:t>
            </a:r>
          </a:p>
          <a:p>
            <a:r>
              <a:rPr lang="en-US" sz="2400" dirty="0">
                <a:solidFill>
                  <a:srgbClr val="660099"/>
                </a:solidFill>
                <a:effectLst/>
                <a:latin typeface="JetBrains Mono"/>
              </a:rPr>
              <a:t>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'Expenses'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plt.xlabel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'Day'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plt.ylabel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'Expenses (USD)'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plt.show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E62A9A-251E-90CF-3B51-2412EF5BA794}"/>
              </a:ext>
            </a:extLst>
          </p:cNvPr>
          <p:cNvSpPr txBox="1"/>
          <p:nvPr/>
        </p:nvSpPr>
        <p:spPr>
          <a:xfrm>
            <a:off x="678006" y="636215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Multiple Plots</a:t>
            </a:r>
          </a:p>
        </p:txBody>
      </p:sp>
    </p:spTree>
    <p:extLst>
      <p:ext uri="{BB962C8B-B14F-4D97-AF65-F5344CB8AC3E}">
        <p14:creationId xmlns:p14="http://schemas.microsoft.com/office/powerpoint/2010/main" val="27362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65AEE5-8C09-8D26-DD3D-6A4723AB0CDF}"/>
              </a:ext>
            </a:extLst>
          </p:cNvPr>
          <p:cNvSpPr txBox="1"/>
          <p:nvPr/>
        </p:nvSpPr>
        <p:spPr>
          <a:xfrm>
            <a:off x="490970" y="386833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Multiple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285FE9-5BD7-0362-23ED-A3E95BB6B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2154"/>
            <a:ext cx="8408276" cy="43066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BB71DE-B35F-7C40-E7C9-641B034E783A}"/>
              </a:ext>
            </a:extLst>
          </p:cNvPr>
          <p:cNvSpPr txBox="1"/>
          <p:nvPr/>
        </p:nvSpPr>
        <p:spPr>
          <a:xfrm>
            <a:off x="8503226" y="718058"/>
            <a:ext cx="609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 err="1">
                <a:solidFill>
                  <a:srgbClr val="080808"/>
                </a:solidFill>
                <a:effectLst/>
                <a:latin typeface="JetBrains Mono"/>
              </a:rPr>
              <a:t>plt.subplot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1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1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1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100" dirty="0" err="1">
                <a:solidFill>
                  <a:srgbClr val="080808"/>
                </a:solidFill>
                <a:effectLst/>
                <a:latin typeface="JetBrains Mono"/>
              </a:rPr>
              <a:t>plt.plot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(days, revenue, </a:t>
            </a:r>
          </a:p>
          <a:p>
            <a:r>
              <a:rPr lang="en-US" sz="2100" dirty="0">
                <a:solidFill>
                  <a:srgbClr val="660099"/>
                </a:solidFill>
                <a:effectLst/>
                <a:latin typeface="JetBrains Mono"/>
              </a:rPr>
              <a:t>label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100" dirty="0">
                <a:solidFill>
                  <a:srgbClr val="067D17"/>
                </a:solidFill>
                <a:effectLst/>
                <a:latin typeface="JetBrains Mono"/>
              </a:rPr>
              <a:t>'Revenue'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100" dirty="0" err="1">
                <a:solidFill>
                  <a:srgbClr val="080808"/>
                </a:solidFill>
                <a:effectLst/>
                <a:latin typeface="JetBrains Mono"/>
              </a:rPr>
              <a:t>plt.ylabel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100" dirty="0">
                <a:solidFill>
                  <a:srgbClr val="067D17"/>
                </a:solidFill>
                <a:effectLst/>
                <a:latin typeface="JetBrains Mono"/>
              </a:rPr>
              <a:t>'Revenue'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100" dirty="0" err="1">
                <a:solidFill>
                  <a:srgbClr val="080808"/>
                </a:solidFill>
                <a:effectLst/>
                <a:latin typeface="JetBrains Mono"/>
              </a:rPr>
              <a:t>plt.subplot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1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1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1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100" dirty="0" err="1">
                <a:solidFill>
                  <a:srgbClr val="080808"/>
                </a:solidFill>
                <a:effectLst/>
                <a:latin typeface="JetBrains Mono"/>
              </a:rPr>
              <a:t>plt.plot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(days, expenses, </a:t>
            </a:r>
          </a:p>
          <a:p>
            <a:r>
              <a:rPr lang="en-US" sz="2100" dirty="0">
                <a:solidFill>
                  <a:srgbClr val="660099"/>
                </a:solidFill>
                <a:effectLst/>
                <a:latin typeface="JetBrains Mono"/>
              </a:rPr>
              <a:t>label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100" dirty="0">
                <a:solidFill>
                  <a:srgbClr val="067D17"/>
                </a:solidFill>
                <a:effectLst/>
                <a:latin typeface="JetBrains Mono"/>
              </a:rPr>
              <a:t>'Expenses'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100" dirty="0" err="1">
                <a:solidFill>
                  <a:srgbClr val="080808"/>
                </a:solidFill>
                <a:effectLst/>
                <a:latin typeface="JetBrains Mono"/>
              </a:rPr>
              <a:t>plt.ylabel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100" dirty="0">
                <a:solidFill>
                  <a:srgbClr val="067D17"/>
                </a:solidFill>
                <a:effectLst/>
                <a:latin typeface="JetBrains Mono"/>
              </a:rPr>
              <a:t>'Expenses’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100" dirty="0" err="1">
                <a:solidFill>
                  <a:srgbClr val="080808"/>
                </a:solidFill>
                <a:effectLst/>
                <a:latin typeface="JetBrains Mono"/>
              </a:rPr>
              <a:t>plt.subplot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1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1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1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100" dirty="0" err="1">
                <a:solidFill>
                  <a:srgbClr val="080808"/>
                </a:solidFill>
                <a:effectLst/>
                <a:latin typeface="JetBrains Mono"/>
              </a:rPr>
              <a:t>plt.plot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(days, </a:t>
            </a:r>
            <a:r>
              <a:rPr lang="en-US" sz="2100" dirty="0">
                <a:solidFill>
                  <a:srgbClr val="080808"/>
                </a:solidFill>
                <a:effectLst/>
                <a:highlight>
                  <a:srgbClr val="FFFF00"/>
                </a:highlight>
                <a:latin typeface="JetBrains Mono"/>
              </a:rPr>
              <a:t>revenue-expenses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</a:p>
          <a:p>
            <a:r>
              <a:rPr lang="en-US" sz="2100" dirty="0">
                <a:solidFill>
                  <a:srgbClr val="660099"/>
                </a:solidFill>
                <a:effectLst/>
                <a:latin typeface="JetBrains Mono"/>
              </a:rPr>
              <a:t>label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100" dirty="0">
                <a:solidFill>
                  <a:srgbClr val="067D17"/>
                </a:solidFill>
                <a:effectLst/>
                <a:latin typeface="JetBrains Mono"/>
              </a:rPr>
              <a:t>'Net Profit'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100" dirty="0" err="1">
                <a:solidFill>
                  <a:srgbClr val="080808"/>
                </a:solidFill>
                <a:effectLst/>
                <a:latin typeface="JetBrains Mono"/>
              </a:rPr>
              <a:t>plt.xlabel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100" dirty="0">
                <a:solidFill>
                  <a:srgbClr val="067D17"/>
                </a:solidFill>
                <a:effectLst/>
                <a:latin typeface="JetBrains Mono"/>
              </a:rPr>
              <a:t>'Day'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100" dirty="0" err="1">
                <a:solidFill>
                  <a:srgbClr val="080808"/>
                </a:solidFill>
                <a:effectLst/>
                <a:latin typeface="JetBrains Mono"/>
              </a:rPr>
              <a:t>plt.ylabel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100" dirty="0">
                <a:solidFill>
                  <a:srgbClr val="067D17"/>
                </a:solidFill>
                <a:effectLst/>
                <a:latin typeface="JetBrains Mono"/>
              </a:rPr>
              <a:t>'Profit'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100" dirty="0" err="1">
                <a:solidFill>
                  <a:srgbClr val="080808"/>
                </a:solidFill>
                <a:effectLst/>
                <a:latin typeface="JetBrains Mono"/>
              </a:rPr>
              <a:t>plt.show</a:t>
            </a:r>
            <a:r>
              <a:rPr lang="en-US" sz="21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6479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F9C02C-C1F5-7290-FC6A-FBCEB5C98985}"/>
              </a:ext>
            </a:extLst>
          </p:cNvPr>
          <p:cNvSpPr txBox="1"/>
          <p:nvPr/>
        </p:nvSpPr>
        <p:spPr>
          <a:xfrm>
            <a:off x="657224" y="490742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Bar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CC6C4-3CEF-01CA-135E-2748C2E2F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84" y="1815449"/>
            <a:ext cx="7407095" cy="37125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17E786-4927-7EC4-6572-1D21131C2E00}"/>
              </a:ext>
            </a:extLst>
          </p:cNvPr>
          <p:cNvSpPr txBox="1"/>
          <p:nvPr/>
        </p:nvSpPr>
        <p:spPr>
          <a:xfrm>
            <a:off x="8759536" y="2803892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 err="1">
                <a:solidFill>
                  <a:srgbClr val="080808"/>
                </a:solidFill>
                <a:effectLst/>
                <a:latin typeface="JetBrains Mono"/>
              </a:rPr>
              <a:t>plt.bar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(days, revenue)</a:t>
            </a:r>
            <a:b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500" dirty="0" err="1">
                <a:solidFill>
                  <a:srgbClr val="080808"/>
                </a:solidFill>
                <a:effectLst/>
                <a:latin typeface="JetBrains Mono"/>
              </a:rPr>
              <a:t>plt.xlabel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500" dirty="0">
                <a:solidFill>
                  <a:srgbClr val="067D17"/>
                </a:solidFill>
                <a:effectLst/>
                <a:latin typeface="JetBrains Mono"/>
              </a:rPr>
              <a:t>'Day'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500" dirty="0" err="1">
                <a:solidFill>
                  <a:srgbClr val="080808"/>
                </a:solidFill>
                <a:effectLst/>
                <a:latin typeface="JetBrains Mono"/>
              </a:rPr>
              <a:t>plt.ylabel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500" dirty="0">
                <a:solidFill>
                  <a:srgbClr val="067D17"/>
                </a:solidFill>
                <a:effectLst/>
                <a:latin typeface="JetBrains Mono"/>
              </a:rPr>
              <a:t>'Revenue'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500" dirty="0" err="1">
                <a:solidFill>
                  <a:srgbClr val="080808"/>
                </a:solidFill>
                <a:effectLst/>
                <a:latin typeface="JetBrains Mono"/>
              </a:rPr>
              <a:t>plt.show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70154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D3AE97-A1CE-4D71-F44E-6D015D171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8" y="1531329"/>
            <a:ext cx="8676824" cy="44068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4DA4E4-688D-73BA-0971-932C8858FA62}"/>
              </a:ext>
            </a:extLst>
          </p:cNvPr>
          <p:cNvSpPr txBox="1"/>
          <p:nvPr/>
        </p:nvSpPr>
        <p:spPr>
          <a:xfrm>
            <a:off x="9033164" y="260607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plt.step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(days, revenue)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plt.xlabel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'Day'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plt.ylabel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'Revenue'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plt.show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20F3AB-86FA-0A13-B862-005048028AAA}"/>
              </a:ext>
            </a:extLst>
          </p:cNvPr>
          <p:cNvSpPr txBox="1"/>
          <p:nvPr/>
        </p:nvSpPr>
        <p:spPr>
          <a:xfrm>
            <a:off x="657224" y="490742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Step Plot</a:t>
            </a:r>
          </a:p>
        </p:txBody>
      </p:sp>
    </p:spTree>
    <p:extLst>
      <p:ext uri="{BB962C8B-B14F-4D97-AF65-F5344CB8AC3E}">
        <p14:creationId xmlns:p14="http://schemas.microsoft.com/office/powerpoint/2010/main" val="246594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2719F6-971A-4DE8-37DF-37F58CCB840D}"/>
              </a:ext>
            </a:extLst>
          </p:cNvPr>
          <p:cNvSpPr txBox="1"/>
          <p:nvPr/>
        </p:nvSpPr>
        <p:spPr>
          <a:xfrm>
            <a:off x="657224" y="490742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Pie 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C28E81-D234-E23A-5BE0-06F21AF44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089249"/>
            <a:ext cx="5622390" cy="47859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AE9AFE-CA83-C62B-B54B-C4221A0BA875}"/>
              </a:ext>
            </a:extLst>
          </p:cNvPr>
          <p:cNvSpPr txBox="1"/>
          <p:nvPr/>
        </p:nvSpPr>
        <p:spPr>
          <a:xfrm>
            <a:off x="1676399" y="2653352"/>
            <a:ext cx="60960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 err="1">
                <a:solidFill>
                  <a:srgbClr val="080808"/>
                </a:solidFill>
                <a:effectLst/>
                <a:latin typeface="JetBrains Mono"/>
              </a:rPr>
              <a:t>plt.pie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(revenue, </a:t>
            </a:r>
            <a:r>
              <a:rPr lang="en-US" sz="2500" dirty="0">
                <a:solidFill>
                  <a:srgbClr val="660099"/>
                </a:solidFill>
                <a:effectLst/>
                <a:latin typeface="JetBrains Mono"/>
              </a:rPr>
              <a:t>labels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=days)</a:t>
            </a:r>
            <a:b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500" dirty="0" err="1">
                <a:solidFill>
                  <a:srgbClr val="080808"/>
                </a:solidFill>
                <a:effectLst/>
                <a:latin typeface="JetBrains Mono"/>
              </a:rPr>
              <a:t>plt.title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500" dirty="0">
                <a:solidFill>
                  <a:srgbClr val="067D17"/>
                </a:solidFill>
                <a:effectLst/>
                <a:latin typeface="JetBrains Mono"/>
              </a:rPr>
              <a:t>'Revenue'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500" dirty="0" err="1">
                <a:solidFill>
                  <a:srgbClr val="080808"/>
                </a:solidFill>
                <a:effectLst/>
                <a:latin typeface="JetBrains Mono"/>
              </a:rPr>
              <a:t>plt.show</a:t>
            </a:r>
            <a:r>
              <a:rPr lang="en-US" sz="25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5283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1A61-885B-0737-A5FE-960326EA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334" y="218459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Suggested Reading (ZyBook)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31.7 matplotlib package</a:t>
            </a:r>
            <a:b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214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861A3-148E-711C-AECF-E8C46B9308BE}"/>
              </a:ext>
            </a:extLst>
          </p:cNvPr>
          <p:cNvSpPr txBox="1">
            <a:spLocks/>
          </p:cNvSpPr>
          <p:nvPr/>
        </p:nvSpPr>
        <p:spPr>
          <a:xfrm>
            <a:off x="4816345" y="2842176"/>
            <a:ext cx="5185488" cy="109744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</a:p>
        </p:txBody>
      </p:sp>
    </p:spTree>
    <p:extLst>
      <p:ext uri="{BB962C8B-B14F-4D97-AF65-F5344CB8AC3E}">
        <p14:creationId xmlns:p14="http://schemas.microsoft.com/office/powerpoint/2010/main" val="2483327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7bfbcc-834f-422c-a61f-4e1400314c9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0E7AB627372340BC90817A16362710" ma:contentTypeVersion="9" ma:contentTypeDescription="Create a new document." ma:contentTypeScope="" ma:versionID="f2c3a11852dc30fee7c6685d0f4a4ec5">
  <xsd:schema xmlns:xsd="http://www.w3.org/2001/XMLSchema" xmlns:xs="http://www.w3.org/2001/XMLSchema" xmlns:p="http://schemas.microsoft.com/office/2006/metadata/properties" xmlns:ns3="de7bfbcc-834f-422c-a61f-4e1400314c9a" xmlns:ns4="890a661f-6afe-4b4e-bef4-5bc2e81fdcdf" targetNamespace="http://schemas.microsoft.com/office/2006/metadata/properties" ma:root="true" ma:fieldsID="8fbbebcadc8028faef9b6f320318449b" ns3:_="" ns4:_="">
    <xsd:import namespace="de7bfbcc-834f-422c-a61f-4e1400314c9a"/>
    <xsd:import namespace="890a661f-6afe-4b4e-bef4-5bc2e81fdcd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7bfbcc-834f-422c-a61f-4e1400314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0a661f-6afe-4b4e-bef4-5bc2e81fdcd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389F96-E670-4C4E-BFD1-633652FC8811}">
  <ds:schemaRefs>
    <ds:schemaRef ds:uri="http://purl.org/dc/terms/"/>
    <ds:schemaRef ds:uri="de7bfbcc-834f-422c-a61f-4e1400314c9a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890a661f-6afe-4b4e-bef4-5bc2e81fdcdf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0C9418F-9223-4AAE-956A-FD99891E06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6B34DA-8C12-4C96-8322-601AFE8751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7bfbcc-834f-422c-a61f-4e1400314c9a"/>
    <ds:schemaRef ds:uri="890a661f-6afe-4b4e-bef4-5bc2e81fdc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1699</TotalTime>
  <Words>899</Words>
  <Application>Microsoft Macintosh PowerPoint</Application>
  <PresentationFormat>Widescreen</PresentationFormat>
  <Paragraphs>116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Courier New</vt:lpstr>
      <vt:lpstr>JetBrains Mono</vt:lpstr>
      <vt:lpstr>Times New Roman</vt:lpstr>
      <vt:lpstr>Wingdings</vt:lpstr>
      <vt:lpstr>Office Theme</vt:lpstr>
      <vt:lpstr>Matplotlib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Suggested Reading (ZyBook)   31.7 matplotlib package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Matplotlib</dc:title>
  <dc:creator>S M Towhidul Islam</dc:creator>
  <cp:lastModifiedBy>S M Towhidul Islam</cp:lastModifiedBy>
  <cp:revision>4</cp:revision>
  <dcterms:created xsi:type="dcterms:W3CDTF">2023-07-10T00:42:32Z</dcterms:created>
  <dcterms:modified xsi:type="dcterms:W3CDTF">2025-04-17T15:43:41Z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0x0101006A0E7AB627372340BC90817A16362710</vt:lpwstr>
  </property>
</Properties>
</file>
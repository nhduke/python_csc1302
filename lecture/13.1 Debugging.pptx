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10" r:id="rId2"/>
    <p:sldId id="257" r:id="rId3"/>
    <p:sldId id="258" r:id="rId4"/>
    <p:sldId id="407" r:id="rId5"/>
    <p:sldId id="414" r:id="rId6"/>
    <p:sldId id="418" r:id="rId7"/>
    <p:sldId id="416" r:id="rId8"/>
    <p:sldId id="417" r:id="rId9"/>
    <p:sldId id="41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/>
    <p:restoredTop sz="95694"/>
  </p:normalViewPr>
  <p:slideViewPr>
    <p:cSldViewPr snapToGrid="0">
      <p:cViewPr varScale="1">
        <p:scale>
          <a:sx n="107" d="100"/>
          <a:sy n="107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B12E-8BA8-7EB6-0873-6651701A2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B5141-3ECD-4B07-B6DE-E299FE337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AB732-2B4D-FDC2-DE5D-62A95EFD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04D07-FF6A-726B-F8B1-422C31D94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0C42F-AB57-97D0-1F24-B15D9CDF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4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1D6B6-B564-81AC-EE0C-BB72886B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3EE26-D33B-9475-5118-81F4F8868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DA38F-6662-6C1C-3D7C-FF0001062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1811C-1638-A6C3-9DA5-CE7396B4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A48A9-3CB4-D198-2657-60112758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51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F4816-42DA-C7C9-4597-AF041EE88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FB8E0-CC35-8A3E-63D1-1434B14FE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B725B-B61B-5DEE-1EFF-9CCD63B9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821CA-2C0A-5A50-08A2-5B005C31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4B892-1F95-3D5B-8C99-4DBBECFD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37E7-EC4E-C290-FA9E-5C715B35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17E4C-07A7-6780-9E4E-8F785F94F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15F87-7C8C-D665-AB78-84920CCA5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CE388-2DA5-B3C9-933B-A01773C0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6E3E3B-C72C-2208-641A-F25B426C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F40AD-D952-0E9D-CF6D-E9F2F064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62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1B1F-1E04-4828-203E-F79CF622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977CB-FC5E-C61A-C287-1A06F1572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66F90-1F05-0128-8A63-527FFA32D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DD31B-627A-E5C3-D74E-6B5CE830A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0EC627-BDF3-AC12-BE8B-E108454FD0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F76B2-914D-0D04-1FF2-FEDB3B1C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61259-A52F-4518-F93D-C1CC81C8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AC796-00C2-C9DE-95DA-88E52521B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0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3E3D6-C718-4F75-BC24-0B1AB8073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A957D-67AB-AED2-CD0E-576E3DE2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FD3DD-AC20-7DBB-FC6F-53E11EA2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17D2B-A8B3-A818-7B37-DDC18C96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5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7FF08-73B5-F87B-0930-5111F80F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61306-21B9-B055-FA55-F6F1F6E2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5DF17-7A15-F225-FF9B-D6EBAB3E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3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1188-3EAD-20F2-B766-A0625242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12A8-A4BE-C62C-7D63-6C1AC0432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34E2B-5DEC-C36A-333A-5E98AE9B6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4FB7D-7A38-5AD9-D633-D0B95A94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9ED6B-63A7-0918-8810-E26074E6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135FB-5B77-4EB3-49D9-F878B30C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53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5EB4-ACB5-4C44-DC85-3005FF606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A88B3-C660-96A6-EA6D-5EBA3DB49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2E4B0-CED3-832F-4B9D-8EAFB2EED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B8E51-25D1-1224-EE76-E6E92E70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65D09-182B-7AB9-9B7F-448545F7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85F3A-83C8-0334-AB18-3358D8D6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7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2E02-12E9-F50C-AE46-10D5030A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AF7C1D-5E5C-AF2A-DEAA-3CF95C3AD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ECD66-5969-CFF7-CF81-2A1EA394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1DCB-5DAF-D35F-3EA7-B98044C5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B5C9B-446B-50B4-ECEC-8DAD9F1D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5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514F0-E704-E724-B780-E5FFDD4E4E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62D93-B762-9FF9-7318-BD9428549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45BDD-67F5-1C1F-6879-7B778A1E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D78A4-A740-223C-777F-DF5060533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F4B4F-3BAE-C7F5-979B-DDB8DB46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6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90F9C-FB5E-B813-7015-E402A6BE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742BE-1CE5-12E3-3479-DFB3E2B91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19EBF-3722-1DCD-7D63-11EC4BAAB3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5E0F1-5AF1-014C-922E-D9918F7EDF8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E9A5F-DA16-E01D-1483-E8F90BB30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6D20C-0575-0121-B1C8-8F51F36EE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3B635-A7B9-0D4A-B481-41A1921C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3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help/pycharm/debugging-your-first-python-application.html#where-is-the-problem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E2A4-1988-4947-84AC-35FBAD114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507413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CSC 2302/DSCI 1302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E2CB42E-F0B0-4FB0-A464-7E9AB159AA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3184" y="435232"/>
            <a:ext cx="1520757" cy="126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BBA6970-237D-482A-9AC6-E784B752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77B16-CB04-4DD3-8E5A-C80985C1B025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C157F-E171-43B9-9AD2-FE4BD6E28ED8}"/>
              </a:ext>
            </a:extLst>
          </p:cNvPr>
          <p:cNvSpPr txBox="1"/>
          <p:nvPr/>
        </p:nvSpPr>
        <p:spPr>
          <a:xfrm>
            <a:off x="4671547" y="3976397"/>
            <a:ext cx="2892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 M Towhidul Islam</a:t>
            </a:r>
          </a:p>
        </p:txBody>
      </p:sp>
    </p:spTree>
    <p:extLst>
      <p:ext uri="{BB962C8B-B14F-4D97-AF65-F5344CB8AC3E}">
        <p14:creationId xmlns:p14="http://schemas.microsoft.com/office/powerpoint/2010/main" val="2818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0440-FAAE-393E-513E-613BC4ED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629FB-4425-4F2C-D2C0-A48F9EF854F3}"/>
              </a:ext>
            </a:extLst>
          </p:cNvPr>
          <p:cNvSpPr txBox="1"/>
          <p:nvPr/>
        </p:nvSpPr>
        <p:spPr>
          <a:xfrm>
            <a:off x="948169" y="2837367"/>
            <a:ext cx="86530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PyCharm Official Documentation:</a:t>
            </a:r>
            <a:endParaRPr lang="en-US" sz="2400" b="1" dirty="0">
              <a:hlinkClick r:id="rId2"/>
            </a:endParaRPr>
          </a:p>
          <a:p>
            <a:r>
              <a:rPr lang="en-US" sz="2000" dirty="0">
                <a:hlinkClick r:id="rId2"/>
              </a:rPr>
              <a:t>Debug your first Python application | PyCharm Documentation (jetbrains.com)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54155-BB62-7679-70BA-2160625A5F2F}"/>
              </a:ext>
            </a:extLst>
          </p:cNvPr>
          <p:cNvSpPr txBox="1"/>
          <p:nvPr/>
        </p:nvSpPr>
        <p:spPr>
          <a:xfrm>
            <a:off x="1695839" y="1631598"/>
            <a:ext cx="8474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Identifying and fixing errors or bugs in a program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5309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2629FB-4425-4F2C-D2C0-A48F9EF854F3}"/>
              </a:ext>
            </a:extLst>
          </p:cNvPr>
          <p:cNvSpPr txBox="1"/>
          <p:nvPr/>
        </p:nvSpPr>
        <p:spPr>
          <a:xfrm>
            <a:off x="1424031" y="1829661"/>
            <a:ext cx="86530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Set some breakpoints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Click on debug “</a:t>
            </a:r>
            <a:r>
              <a:rPr lang="en-US" sz="2400" b="1" dirty="0" err="1"/>
              <a:t>your_program_name</a:t>
            </a:r>
            <a:r>
              <a:rPr lang="en-US" sz="2400" b="1" dirty="0"/>
              <a:t>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50440-FAAE-393E-513E-613BC4ED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with PyCharm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7DFFB-3C43-9211-0252-826882D58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7411" y="1062853"/>
            <a:ext cx="1577388" cy="624383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ADB41118-E6F1-B77B-E2FF-69E65D68E31C}"/>
              </a:ext>
            </a:extLst>
          </p:cNvPr>
          <p:cNvSpPr/>
          <p:nvPr/>
        </p:nvSpPr>
        <p:spPr>
          <a:xfrm>
            <a:off x="9754184" y="1715861"/>
            <a:ext cx="476250" cy="5334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5C7EA7-DAD1-D1E8-01D9-2CB1735A8910}"/>
              </a:ext>
            </a:extLst>
          </p:cNvPr>
          <p:cNvSpPr txBox="1"/>
          <p:nvPr/>
        </p:nvSpPr>
        <p:spPr>
          <a:xfrm>
            <a:off x="1414700" y="2520127"/>
            <a:ext cx="9120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PyCharm starts a debugging session and shows Debug tool window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74F7D-8A67-C333-D1B9-8FDCC6123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081" y="3500689"/>
            <a:ext cx="8427881" cy="2925634"/>
          </a:xfrm>
          <a:prstGeom prst="rect">
            <a:avLst/>
          </a:prstGeom>
        </p:spPr>
      </p:pic>
      <p:sp>
        <p:nvSpPr>
          <p:cNvPr id="13" name="Callout: Line 12">
            <a:extLst>
              <a:ext uri="{FF2B5EF4-FFF2-40B4-BE49-F238E27FC236}">
                <a16:creationId xmlns:a16="http://schemas.microsoft.com/office/drawing/2014/main" id="{1B77A812-685D-44EC-C632-51169D223E80}"/>
              </a:ext>
            </a:extLst>
          </p:cNvPr>
          <p:cNvSpPr/>
          <p:nvPr/>
        </p:nvSpPr>
        <p:spPr>
          <a:xfrm>
            <a:off x="7324319" y="3503433"/>
            <a:ext cx="1194954" cy="405245"/>
          </a:xfrm>
          <a:prstGeom prst="borderCallout1">
            <a:avLst>
              <a:gd name="adj1" fmla="val 18750"/>
              <a:gd name="adj2" fmla="val -8333"/>
              <a:gd name="adj3" fmla="val 194085"/>
              <a:gd name="adj4" fmla="val -58846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resume</a:t>
            </a:r>
          </a:p>
        </p:txBody>
      </p:sp>
      <p:sp>
        <p:nvSpPr>
          <p:cNvPr id="14" name="Callout: Line 13">
            <a:extLst>
              <a:ext uri="{FF2B5EF4-FFF2-40B4-BE49-F238E27FC236}">
                <a16:creationId xmlns:a16="http://schemas.microsoft.com/office/drawing/2014/main" id="{328F6FD1-5BAD-BB91-D610-0887E9F44205}"/>
              </a:ext>
            </a:extLst>
          </p:cNvPr>
          <p:cNvSpPr/>
          <p:nvPr/>
        </p:nvSpPr>
        <p:spPr>
          <a:xfrm>
            <a:off x="8918722" y="5952506"/>
            <a:ext cx="1395845" cy="405245"/>
          </a:xfrm>
          <a:prstGeom prst="borderCallout1">
            <a:avLst>
              <a:gd name="adj1" fmla="val 18750"/>
              <a:gd name="adj2" fmla="val -8333"/>
              <a:gd name="adj3" fmla="val -41604"/>
              <a:gd name="adj4" fmla="val -116680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variables</a:t>
            </a:r>
          </a:p>
        </p:txBody>
      </p:sp>
      <p:sp>
        <p:nvSpPr>
          <p:cNvPr id="15" name="Callout: Line 14">
            <a:extLst>
              <a:ext uri="{FF2B5EF4-FFF2-40B4-BE49-F238E27FC236}">
                <a16:creationId xmlns:a16="http://schemas.microsoft.com/office/drawing/2014/main" id="{6FA15F47-E491-CC93-AE3F-713720F50968}"/>
              </a:ext>
            </a:extLst>
          </p:cNvPr>
          <p:cNvSpPr/>
          <p:nvPr/>
        </p:nvSpPr>
        <p:spPr>
          <a:xfrm>
            <a:off x="10555821" y="3347923"/>
            <a:ext cx="1462008" cy="405245"/>
          </a:xfrm>
          <a:prstGeom prst="borderCallout1">
            <a:avLst>
              <a:gd name="adj1" fmla="val 18750"/>
              <a:gd name="adj2" fmla="val -8333"/>
              <a:gd name="adj3" fmla="val 219412"/>
              <a:gd name="adj4" fmla="val -208824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Step over</a:t>
            </a:r>
          </a:p>
        </p:txBody>
      </p:sp>
      <p:sp>
        <p:nvSpPr>
          <p:cNvPr id="16" name="Callout: Line 15">
            <a:extLst>
              <a:ext uri="{FF2B5EF4-FFF2-40B4-BE49-F238E27FC236}">
                <a16:creationId xmlns:a16="http://schemas.microsoft.com/office/drawing/2014/main" id="{E233F8C5-72CB-F806-AAB0-0C9752E409BA}"/>
              </a:ext>
            </a:extLst>
          </p:cNvPr>
          <p:cNvSpPr/>
          <p:nvPr/>
        </p:nvSpPr>
        <p:spPr>
          <a:xfrm>
            <a:off x="10568262" y="3920201"/>
            <a:ext cx="1462008" cy="405245"/>
          </a:xfrm>
          <a:prstGeom prst="borderCallout1">
            <a:avLst>
              <a:gd name="adj1" fmla="val 18750"/>
              <a:gd name="adj2" fmla="val -8333"/>
              <a:gd name="adj3" fmla="val 88172"/>
              <a:gd name="adj4" fmla="val -185211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Step Into</a:t>
            </a:r>
          </a:p>
        </p:txBody>
      </p:sp>
      <p:sp>
        <p:nvSpPr>
          <p:cNvPr id="17" name="Callout: Line 16">
            <a:extLst>
              <a:ext uri="{FF2B5EF4-FFF2-40B4-BE49-F238E27FC236}">
                <a16:creationId xmlns:a16="http://schemas.microsoft.com/office/drawing/2014/main" id="{C81AAB52-CE2D-FBF6-B79B-337DFF59BE6E}"/>
              </a:ext>
            </a:extLst>
          </p:cNvPr>
          <p:cNvSpPr/>
          <p:nvPr/>
        </p:nvSpPr>
        <p:spPr>
          <a:xfrm>
            <a:off x="10552711" y="4483147"/>
            <a:ext cx="1462008" cy="405245"/>
          </a:xfrm>
          <a:prstGeom prst="borderCallout1">
            <a:avLst>
              <a:gd name="adj1" fmla="val 18750"/>
              <a:gd name="adj2" fmla="val -8333"/>
              <a:gd name="adj3" fmla="val -13136"/>
              <a:gd name="adj4" fmla="val -120114"/>
            </a:avLst>
          </a:prstGeom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Step Out</a:t>
            </a:r>
          </a:p>
        </p:txBody>
      </p:sp>
    </p:spTree>
    <p:extLst>
      <p:ext uri="{BB962C8B-B14F-4D97-AF65-F5344CB8AC3E}">
        <p14:creationId xmlns:p14="http://schemas.microsoft.com/office/powerpoint/2010/main" val="61971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6317F-7707-4863-A300-BB8C3BD4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84" y="414904"/>
            <a:ext cx="4097482" cy="1325563"/>
          </a:xfrm>
        </p:spPr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9B54A-88D9-A425-2FF2-C91788BB5D8B}"/>
              </a:ext>
            </a:extLst>
          </p:cNvPr>
          <p:cNvSpPr txBox="1"/>
          <p:nvPr/>
        </p:nvSpPr>
        <p:spPr>
          <a:xfrm>
            <a:off x="1804164" y="1659285"/>
            <a:ext cx="929280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 simple lottery game</a:t>
            </a:r>
          </a:p>
          <a:p>
            <a:endParaRPr lang="en-US" sz="3200" dirty="0"/>
          </a:p>
          <a:p>
            <a:r>
              <a:rPr lang="en-US" sz="3200" dirty="0"/>
              <a:t>-201 participants</a:t>
            </a:r>
          </a:p>
          <a:p>
            <a:r>
              <a:rPr lang="en-US" sz="3200" dirty="0"/>
              <a:t>-Need to randomly select 3~5 winners</a:t>
            </a:r>
          </a:p>
          <a:p>
            <a:r>
              <a:rPr lang="en-US" sz="3200" dirty="0"/>
              <a:t>-Determine each winner as follows:</a:t>
            </a:r>
          </a:p>
          <a:p>
            <a:r>
              <a:rPr lang="en-US" sz="3200" dirty="0"/>
              <a:t>	- Choose two random numbers between 0 to 100</a:t>
            </a:r>
          </a:p>
          <a:p>
            <a:r>
              <a:rPr lang="en-US" sz="3200" dirty="0"/>
              <a:t>	- Add these two numbers and get the winner</a:t>
            </a:r>
          </a:p>
          <a:p>
            <a:r>
              <a:rPr lang="en-US" sz="3200" dirty="0"/>
              <a:t>	- </a:t>
            </a:r>
            <a:r>
              <a:rPr lang="en-US" sz="3200" dirty="0">
                <a:highlight>
                  <a:srgbClr val="FFFF00"/>
                </a:highlight>
              </a:rPr>
              <a:t>Note: 0 &lt;= winner &lt;= 200</a:t>
            </a:r>
          </a:p>
        </p:txBody>
      </p:sp>
    </p:spTree>
    <p:extLst>
      <p:ext uri="{BB962C8B-B14F-4D97-AF65-F5344CB8AC3E}">
        <p14:creationId xmlns:p14="http://schemas.microsoft.com/office/powerpoint/2010/main" val="365354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6509BC6-50C5-2D9B-086D-D32A9053F58D}"/>
              </a:ext>
            </a:extLst>
          </p:cNvPr>
          <p:cNvSpPr/>
          <p:nvPr/>
        </p:nvSpPr>
        <p:spPr>
          <a:xfrm>
            <a:off x="4254760" y="3107094"/>
            <a:ext cx="233265" cy="242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1A914-F452-268C-C2AC-043E877D2B5D}"/>
              </a:ext>
            </a:extLst>
          </p:cNvPr>
          <p:cNvSpPr txBox="1"/>
          <p:nvPr/>
        </p:nvSpPr>
        <p:spPr>
          <a:xfrm>
            <a:off x="737117" y="662474"/>
            <a:ext cx="3678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Setting Breakpoint(s)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65FAE-09AA-EAC4-A0A9-230CE52B78AF}"/>
              </a:ext>
            </a:extLst>
          </p:cNvPr>
          <p:cNvSpPr txBox="1"/>
          <p:nvPr/>
        </p:nvSpPr>
        <p:spPr>
          <a:xfrm>
            <a:off x="4401717" y="1271162"/>
            <a:ext cx="6097554" cy="528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random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en-US" sz="2250" dirty="0" err="1">
                <a:solidFill>
                  <a:srgbClr val="00627A"/>
                </a:solidFill>
                <a:effectLst/>
                <a:latin typeface="JetBrains Mono"/>
              </a:rPr>
              <a:t>get_winner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():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rand_a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random.randint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rand_b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random.randint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res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rand_a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+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rand_b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res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n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random.randint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winners = []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225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,n):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winner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get_winner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winners.append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(winner)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(winners)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BC93EF-79EF-5AFA-0388-258929C08FC3}"/>
              </a:ext>
            </a:extLst>
          </p:cNvPr>
          <p:cNvSpPr/>
          <p:nvPr/>
        </p:nvSpPr>
        <p:spPr>
          <a:xfrm>
            <a:off x="1744824" y="2920480"/>
            <a:ext cx="2819574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Breakpoint</a:t>
            </a:r>
          </a:p>
        </p:txBody>
      </p:sp>
    </p:spTree>
    <p:extLst>
      <p:ext uri="{BB962C8B-B14F-4D97-AF65-F5344CB8AC3E}">
        <p14:creationId xmlns:p14="http://schemas.microsoft.com/office/powerpoint/2010/main" val="92107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6509BC6-50C5-2D9B-086D-D32A9053F58D}"/>
              </a:ext>
            </a:extLst>
          </p:cNvPr>
          <p:cNvSpPr/>
          <p:nvPr/>
        </p:nvSpPr>
        <p:spPr>
          <a:xfrm>
            <a:off x="5570377" y="4217438"/>
            <a:ext cx="233265" cy="242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1A914-F452-268C-C2AC-043E877D2B5D}"/>
              </a:ext>
            </a:extLst>
          </p:cNvPr>
          <p:cNvSpPr txBox="1"/>
          <p:nvPr/>
        </p:nvSpPr>
        <p:spPr>
          <a:xfrm>
            <a:off x="718456" y="503854"/>
            <a:ext cx="30237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Resume Program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65FAE-09AA-EAC4-A0A9-230CE52B78AF}"/>
              </a:ext>
            </a:extLst>
          </p:cNvPr>
          <p:cNvSpPr txBox="1"/>
          <p:nvPr/>
        </p:nvSpPr>
        <p:spPr>
          <a:xfrm>
            <a:off x="5763987" y="1674575"/>
            <a:ext cx="6097554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random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lang="en-US" sz="2250" dirty="0" err="1">
                <a:solidFill>
                  <a:srgbClr val="00627A"/>
                </a:solidFill>
                <a:effectLst/>
                <a:latin typeface="JetBrains Mono"/>
              </a:rPr>
              <a:t>get_winner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():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rand_a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random.randint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rand_b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random.randint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100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res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rand_a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+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rand_b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res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n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random.randint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winners = []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i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2250" dirty="0">
                <a:solidFill>
                  <a:srgbClr val="0033B3"/>
                </a:solidFill>
                <a:effectLst/>
                <a:latin typeface="JetBrains Mono"/>
              </a:rPr>
              <a:t>in </a:t>
            </a:r>
            <a:r>
              <a:rPr lang="en-US" sz="2250" dirty="0">
                <a:solidFill>
                  <a:srgbClr val="000080"/>
                </a:solidFill>
                <a:effectLst/>
                <a:latin typeface="JetBrains Mono"/>
              </a:rPr>
              <a:t>range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sz="225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,n):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winner =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get_winner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US" sz="2250" dirty="0" err="1">
                <a:solidFill>
                  <a:srgbClr val="080808"/>
                </a:solidFill>
                <a:effectLst/>
                <a:latin typeface="JetBrains Mono"/>
              </a:rPr>
              <a:t>winners.append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(winner)</a:t>
            </a: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2250" dirty="0"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lang="en-US" sz="2250" dirty="0">
                <a:solidFill>
                  <a:srgbClr val="080808"/>
                </a:solidFill>
                <a:effectLst/>
                <a:latin typeface="JetBrains Mono"/>
              </a:rPr>
              <a:t>(winners)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36EE2-AC22-C889-1063-0471F8BBB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91" y="631676"/>
            <a:ext cx="465645" cy="3853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FB8F79-0AA2-3C9C-63DF-ABC042DF0818}"/>
              </a:ext>
            </a:extLst>
          </p:cNvPr>
          <p:cNvSpPr txBox="1"/>
          <p:nvPr/>
        </p:nvSpPr>
        <p:spPr>
          <a:xfrm>
            <a:off x="958719" y="1110543"/>
            <a:ext cx="10760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Allows the program to run from the current breakpoint until the next breakpoint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62B35F-5D49-0F31-9A8B-2E74B55B65FD}"/>
              </a:ext>
            </a:extLst>
          </p:cNvPr>
          <p:cNvSpPr/>
          <p:nvPr/>
        </p:nvSpPr>
        <p:spPr>
          <a:xfrm>
            <a:off x="5564156" y="4873690"/>
            <a:ext cx="233265" cy="24259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urved Right 8">
            <a:extLst>
              <a:ext uri="{FF2B5EF4-FFF2-40B4-BE49-F238E27FC236}">
                <a16:creationId xmlns:a16="http://schemas.microsoft.com/office/drawing/2014/main" id="{A65B65E6-6B46-9125-9880-90F5F7276595}"/>
              </a:ext>
            </a:extLst>
          </p:cNvPr>
          <p:cNvSpPr/>
          <p:nvPr/>
        </p:nvSpPr>
        <p:spPr>
          <a:xfrm>
            <a:off x="5023368" y="4366531"/>
            <a:ext cx="416379" cy="662667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Arrow: Curved Right 9">
            <a:extLst>
              <a:ext uri="{FF2B5EF4-FFF2-40B4-BE49-F238E27FC236}">
                <a16:creationId xmlns:a16="http://schemas.microsoft.com/office/drawing/2014/main" id="{4164441C-2C76-12DE-CAC8-B714B204F391}"/>
              </a:ext>
            </a:extLst>
          </p:cNvPr>
          <p:cNvSpPr/>
          <p:nvPr/>
        </p:nvSpPr>
        <p:spPr>
          <a:xfrm>
            <a:off x="4998487" y="5088099"/>
            <a:ext cx="416379" cy="165793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0656C-8163-F362-E907-DEAA1427BE88}"/>
              </a:ext>
            </a:extLst>
          </p:cNvPr>
          <p:cNvSpPr txBox="1"/>
          <p:nvPr/>
        </p:nvSpPr>
        <p:spPr>
          <a:xfrm>
            <a:off x="3679373" y="4425821"/>
            <a:ext cx="1181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Resume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940D1-B7B7-7B86-3A76-B77A1ED5F3AA}"/>
              </a:ext>
            </a:extLst>
          </p:cNvPr>
          <p:cNvSpPr txBox="1"/>
          <p:nvPr/>
        </p:nvSpPr>
        <p:spPr>
          <a:xfrm>
            <a:off x="3701144" y="5632580"/>
            <a:ext cx="1181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Resume</a:t>
            </a:r>
          </a:p>
        </p:txBody>
      </p:sp>
    </p:spTree>
    <p:extLst>
      <p:ext uri="{BB962C8B-B14F-4D97-AF65-F5344CB8AC3E}">
        <p14:creationId xmlns:p14="http://schemas.microsoft.com/office/powerpoint/2010/main" val="134433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3" grpId="0"/>
      <p:bldP spid="7" grpId="0" animBg="1"/>
      <p:bldP spid="9" grpId="0" animBg="1"/>
      <p:bldP spid="10" grpId="0" animBg="1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F1A914-F452-268C-C2AC-043E877D2B5D}"/>
              </a:ext>
            </a:extLst>
          </p:cNvPr>
          <p:cNvSpPr txBox="1"/>
          <p:nvPr/>
        </p:nvSpPr>
        <p:spPr>
          <a:xfrm>
            <a:off x="1156996" y="690466"/>
            <a:ext cx="1820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Step Over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A749E-1179-9169-ABE6-1CE7C4224E4F}"/>
              </a:ext>
            </a:extLst>
          </p:cNvPr>
          <p:cNvSpPr txBox="1"/>
          <p:nvPr/>
        </p:nvSpPr>
        <p:spPr>
          <a:xfrm>
            <a:off x="1565211" y="1510300"/>
            <a:ext cx="102753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Executes the current line of code and then move to the next line in the program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debugger will treat a function call as a single step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EAC579-A932-F927-D8C5-5D0B4F1D2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86" y="3554670"/>
            <a:ext cx="6945546" cy="1715182"/>
          </a:xfrm>
          <a:prstGeom prst="rect">
            <a:avLst/>
          </a:prstGeom>
        </p:spPr>
      </p:pic>
      <p:sp>
        <p:nvSpPr>
          <p:cNvPr id="11" name="Arrow: Curved Right 10">
            <a:extLst>
              <a:ext uri="{FF2B5EF4-FFF2-40B4-BE49-F238E27FC236}">
                <a16:creationId xmlns:a16="http://schemas.microsoft.com/office/drawing/2014/main" id="{5C5DB457-BD8E-34D8-0F5E-4C4E0BD17860}"/>
              </a:ext>
            </a:extLst>
          </p:cNvPr>
          <p:cNvSpPr/>
          <p:nvPr/>
        </p:nvSpPr>
        <p:spPr>
          <a:xfrm>
            <a:off x="5657850" y="4403855"/>
            <a:ext cx="561975" cy="628650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1E856-A5C2-F77A-7CAE-63ABF15FDD94}"/>
              </a:ext>
            </a:extLst>
          </p:cNvPr>
          <p:cNvSpPr txBox="1"/>
          <p:nvPr/>
        </p:nvSpPr>
        <p:spPr>
          <a:xfrm>
            <a:off x="4173895" y="4687078"/>
            <a:ext cx="1411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Step Over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322D1B-EC5B-2DD4-7158-2735DFBB7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68" y="765721"/>
            <a:ext cx="504795" cy="5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5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F1A914-F452-268C-C2AC-043E877D2B5D}"/>
              </a:ext>
            </a:extLst>
          </p:cNvPr>
          <p:cNvSpPr txBox="1"/>
          <p:nvPr/>
        </p:nvSpPr>
        <p:spPr>
          <a:xfrm>
            <a:off x="1119673" y="559837"/>
            <a:ext cx="1687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Step Into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A749E-1179-9169-ABE6-1CE7C4224E4F}"/>
              </a:ext>
            </a:extLst>
          </p:cNvPr>
          <p:cNvSpPr txBox="1"/>
          <p:nvPr/>
        </p:nvSpPr>
        <p:spPr>
          <a:xfrm>
            <a:off x="1406592" y="1193060"/>
            <a:ext cx="10275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The debugger will dive into the details of a function call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1E856-A5C2-F77A-7CAE-63ABF15FDD94}"/>
              </a:ext>
            </a:extLst>
          </p:cNvPr>
          <p:cNvSpPr txBox="1"/>
          <p:nvPr/>
        </p:nvSpPr>
        <p:spPr>
          <a:xfrm>
            <a:off x="964163" y="3837993"/>
            <a:ext cx="1307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Step Into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79E46-0CF1-01EE-F8F4-11F8A1791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94" y="1854865"/>
            <a:ext cx="6252629" cy="4452630"/>
          </a:xfrm>
          <a:prstGeom prst="rect">
            <a:avLst/>
          </a:prstGeom>
        </p:spPr>
      </p:pic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DCE2E087-1DCE-8BEF-E84D-CF0EE9AC2784}"/>
              </a:ext>
            </a:extLst>
          </p:cNvPr>
          <p:cNvSpPr/>
          <p:nvPr/>
        </p:nvSpPr>
        <p:spPr>
          <a:xfrm rot="10800000">
            <a:off x="2341981" y="2211354"/>
            <a:ext cx="814874" cy="362960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87E9A7-F753-A521-CD4A-F31C7AF39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663" y="635095"/>
            <a:ext cx="381398" cy="42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8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F1A914-F452-268C-C2AC-043E877D2B5D}"/>
              </a:ext>
            </a:extLst>
          </p:cNvPr>
          <p:cNvSpPr txBox="1"/>
          <p:nvPr/>
        </p:nvSpPr>
        <p:spPr>
          <a:xfrm>
            <a:off x="1156996" y="690466"/>
            <a:ext cx="1646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Step 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7178D-A50A-5A55-CF41-2DAD38AC0631}"/>
              </a:ext>
            </a:extLst>
          </p:cNvPr>
          <p:cNvSpPr txBox="1"/>
          <p:nvPr/>
        </p:nvSpPr>
        <p:spPr>
          <a:xfrm>
            <a:off x="1238250" y="1370342"/>
            <a:ext cx="9715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/>
              <a:t> Used to quickly exit the current function or method and return to the caller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90522-6DA2-690F-8C83-CD080BDF197D}"/>
              </a:ext>
            </a:extLst>
          </p:cNvPr>
          <p:cNvSpPr txBox="1"/>
          <p:nvPr/>
        </p:nvSpPr>
        <p:spPr>
          <a:xfrm>
            <a:off x="10061510" y="3828663"/>
            <a:ext cx="1277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Step Out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BB3AF1-7A4A-E78E-1D75-2DD423F5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857" y="2041477"/>
            <a:ext cx="6252629" cy="4452630"/>
          </a:xfrm>
          <a:prstGeom prst="rect">
            <a:avLst/>
          </a:prstGeom>
        </p:spPr>
      </p:pic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D90C2470-9363-F511-CF5D-9D49665B8546}"/>
              </a:ext>
            </a:extLst>
          </p:cNvPr>
          <p:cNvSpPr/>
          <p:nvPr/>
        </p:nvSpPr>
        <p:spPr>
          <a:xfrm>
            <a:off x="9116006" y="2481941"/>
            <a:ext cx="814874" cy="362960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910827-2C67-16E2-0FBD-B5FA5ADC0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10" y="810666"/>
            <a:ext cx="430150" cy="39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411</Words>
  <Application>Microsoft Macintosh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JetBrains Mono</vt:lpstr>
      <vt:lpstr>Times New Roman</vt:lpstr>
      <vt:lpstr>Wingdings</vt:lpstr>
      <vt:lpstr>Office Theme</vt:lpstr>
      <vt:lpstr>  CSC 2302/DSCI 1302  Debugging </vt:lpstr>
      <vt:lpstr>Debugging</vt:lpstr>
      <vt:lpstr>Debugging with PyCharm</vt:lpstr>
      <vt:lpstr>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CSC 2302/DSCI 1302  Debugging </dc:title>
  <dc:creator>Towhid Islam</dc:creator>
  <cp:lastModifiedBy>S M Towhidul Islam</cp:lastModifiedBy>
  <cp:revision>3</cp:revision>
  <dcterms:created xsi:type="dcterms:W3CDTF">2024-02-07T16:02:21Z</dcterms:created>
  <dcterms:modified xsi:type="dcterms:W3CDTF">2025-11-17T19:00:13Z</dcterms:modified>
</cp:coreProperties>
</file>
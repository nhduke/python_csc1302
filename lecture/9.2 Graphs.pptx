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4" r:id="rId11"/>
    <p:sldId id="265" r:id="rId12"/>
    <p:sldId id="269" r:id="rId13"/>
    <p:sldId id="270" r:id="rId14"/>
    <p:sldId id="273" r:id="rId15"/>
    <p:sldId id="271" r:id="rId16"/>
    <p:sldId id="272" r:id="rId17"/>
    <p:sldId id="274" r:id="rId18"/>
    <p:sldId id="275" r:id="rId19"/>
    <p:sldId id="276" r:id="rId20"/>
    <p:sldId id="277" r:id="rId21"/>
    <p:sldId id="279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5"/>
    <p:restoredTop sz="95701"/>
  </p:normalViewPr>
  <p:slideViewPr>
    <p:cSldViewPr snapToGrid="0">
      <p:cViewPr varScale="1">
        <p:scale>
          <a:sx n="107" d="100"/>
          <a:sy n="107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9B6A50-6B6E-D94D-8565-A38562E17F95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ABB6A8-7633-2C4B-8BE9-B44FFAE6FEAE}">
      <dgm:prSet phldrT="[Text]"/>
      <dgm:spPr/>
      <dgm:t>
        <a:bodyPr/>
        <a:lstStyle/>
        <a:p>
          <a:r>
            <a:rPr lang="en-US" dirty="0"/>
            <a:t>Graph Representation</a:t>
          </a:r>
        </a:p>
      </dgm:t>
    </dgm:pt>
    <dgm:pt modelId="{EF61CEA4-F3E7-B844-8CD3-F4C0D48B3181}" type="parTrans" cxnId="{7F9D5433-2D46-984D-A59E-34B4E3FC5AD3}">
      <dgm:prSet/>
      <dgm:spPr/>
      <dgm:t>
        <a:bodyPr/>
        <a:lstStyle/>
        <a:p>
          <a:endParaRPr lang="en-US"/>
        </a:p>
      </dgm:t>
    </dgm:pt>
    <dgm:pt modelId="{EAE6ADEE-165B-1948-B95C-E5E6C2DE0829}" type="sibTrans" cxnId="{7F9D5433-2D46-984D-A59E-34B4E3FC5AD3}">
      <dgm:prSet/>
      <dgm:spPr/>
      <dgm:t>
        <a:bodyPr/>
        <a:lstStyle/>
        <a:p>
          <a:endParaRPr lang="en-US"/>
        </a:p>
      </dgm:t>
    </dgm:pt>
    <dgm:pt modelId="{ABE48AFB-32F7-6F4F-B589-63A0E92E263B}">
      <dgm:prSet phldrT="[Text]"/>
      <dgm:spPr/>
      <dgm:t>
        <a:bodyPr/>
        <a:lstStyle/>
        <a:p>
          <a:r>
            <a:rPr lang="en-US" dirty="0"/>
            <a:t>Adjacency Matrix</a:t>
          </a:r>
        </a:p>
      </dgm:t>
    </dgm:pt>
    <dgm:pt modelId="{807D2D24-4724-FF4D-BFFA-CB553253087E}" type="parTrans" cxnId="{82733003-B9F3-7147-9736-F2575C0ABBD3}">
      <dgm:prSet/>
      <dgm:spPr/>
      <dgm:t>
        <a:bodyPr/>
        <a:lstStyle/>
        <a:p>
          <a:endParaRPr lang="en-US"/>
        </a:p>
      </dgm:t>
    </dgm:pt>
    <dgm:pt modelId="{AA26697C-C427-584B-84B1-46A599F6058E}" type="sibTrans" cxnId="{82733003-B9F3-7147-9736-F2575C0ABBD3}">
      <dgm:prSet/>
      <dgm:spPr/>
      <dgm:t>
        <a:bodyPr/>
        <a:lstStyle/>
        <a:p>
          <a:endParaRPr lang="en-US"/>
        </a:p>
      </dgm:t>
    </dgm:pt>
    <dgm:pt modelId="{84D3DA20-DC1A-BD4E-AF86-8A5EAA07635B}">
      <dgm:prSet phldrT="[Text]"/>
      <dgm:spPr/>
      <dgm:t>
        <a:bodyPr/>
        <a:lstStyle/>
        <a:p>
          <a:r>
            <a:rPr lang="en-US" dirty="0"/>
            <a:t>Adjacency List</a:t>
          </a:r>
        </a:p>
      </dgm:t>
    </dgm:pt>
    <dgm:pt modelId="{C1D6A367-7413-7A43-95FC-83DA47A785D4}" type="parTrans" cxnId="{4356A6E2-A22A-CB46-BBD0-E6A52123DB10}">
      <dgm:prSet/>
      <dgm:spPr/>
      <dgm:t>
        <a:bodyPr/>
        <a:lstStyle/>
        <a:p>
          <a:endParaRPr lang="en-US"/>
        </a:p>
      </dgm:t>
    </dgm:pt>
    <dgm:pt modelId="{ADE6DDF9-8977-0D49-84E8-95AA4649B88A}" type="sibTrans" cxnId="{4356A6E2-A22A-CB46-BBD0-E6A52123DB10}">
      <dgm:prSet/>
      <dgm:spPr/>
      <dgm:t>
        <a:bodyPr/>
        <a:lstStyle/>
        <a:p>
          <a:endParaRPr lang="en-US"/>
        </a:p>
      </dgm:t>
    </dgm:pt>
    <dgm:pt modelId="{DB48E8F0-D25A-F447-AD62-CACFD40ABE36}">
      <dgm:prSet phldrT="[Text]"/>
      <dgm:spPr/>
      <dgm:t>
        <a:bodyPr/>
        <a:lstStyle/>
        <a:p>
          <a:r>
            <a:rPr lang="en-US" dirty="0"/>
            <a:t>Others...</a:t>
          </a:r>
        </a:p>
      </dgm:t>
    </dgm:pt>
    <dgm:pt modelId="{9DACDAB6-A430-E34B-8299-A015B0E6F54A}" type="parTrans" cxnId="{E5953D43-D6A1-524E-AD05-8D013118D66E}">
      <dgm:prSet/>
      <dgm:spPr/>
      <dgm:t>
        <a:bodyPr/>
        <a:lstStyle/>
        <a:p>
          <a:endParaRPr lang="en-US"/>
        </a:p>
      </dgm:t>
    </dgm:pt>
    <dgm:pt modelId="{5B3DC7BC-5E3B-334F-8E91-D3CF85BB5F48}" type="sibTrans" cxnId="{E5953D43-D6A1-524E-AD05-8D013118D66E}">
      <dgm:prSet/>
      <dgm:spPr/>
      <dgm:t>
        <a:bodyPr/>
        <a:lstStyle/>
        <a:p>
          <a:endParaRPr lang="en-US"/>
        </a:p>
      </dgm:t>
    </dgm:pt>
    <dgm:pt modelId="{E9D2CE2C-C560-F14D-91B3-E13BCFA24F8D}" type="pres">
      <dgm:prSet presAssocID="{759B6A50-6B6E-D94D-8565-A38562E17F9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2ECD7D-EBC1-7244-BD90-398E61AE981D}" type="pres">
      <dgm:prSet presAssocID="{CAABB6A8-7633-2C4B-8BE9-B44FFAE6FEAE}" presName="root" presStyleCnt="0"/>
      <dgm:spPr/>
    </dgm:pt>
    <dgm:pt modelId="{34BE7E63-D381-3146-A4A2-8E33FC2C4272}" type="pres">
      <dgm:prSet presAssocID="{CAABB6A8-7633-2C4B-8BE9-B44FFAE6FEAE}" presName="rootComposite" presStyleCnt="0"/>
      <dgm:spPr/>
    </dgm:pt>
    <dgm:pt modelId="{D8BA969D-7E7F-E34F-A441-28B8E7822D4B}" type="pres">
      <dgm:prSet presAssocID="{CAABB6A8-7633-2C4B-8BE9-B44FFAE6FEAE}" presName="rootText" presStyleLbl="node1" presStyleIdx="0" presStyleCnt="1" custScaleX="246498"/>
      <dgm:spPr/>
    </dgm:pt>
    <dgm:pt modelId="{F04948DE-0FAF-B647-808C-2288F9AC00AF}" type="pres">
      <dgm:prSet presAssocID="{CAABB6A8-7633-2C4B-8BE9-B44FFAE6FEAE}" presName="rootConnector" presStyleLbl="node1" presStyleIdx="0" presStyleCnt="1"/>
      <dgm:spPr/>
    </dgm:pt>
    <dgm:pt modelId="{FF343DC7-A03E-F640-A111-4B609EE22C4F}" type="pres">
      <dgm:prSet presAssocID="{CAABB6A8-7633-2C4B-8BE9-B44FFAE6FEAE}" presName="childShape" presStyleCnt="0"/>
      <dgm:spPr/>
    </dgm:pt>
    <dgm:pt modelId="{270C2B96-D193-F644-99B1-09238B839B4F}" type="pres">
      <dgm:prSet presAssocID="{807D2D24-4724-FF4D-BFFA-CB553253087E}" presName="Name13" presStyleLbl="parChTrans1D2" presStyleIdx="0" presStyleCnt="3"/>
      <dgm:spPr/>
    </dgm:pt>
    <dgm:pt modelId="{D593A9E5-BA6C-FC47-BEFF-D9F62CF10EB2}" type="pres">
      <dgm:prSet presAssocID="{ABE48AFB-32F7-6F4F-B589-63A0E92E263B}" presName="childText" presStyleLbl="bgAcc1" presStyleIdx="0" presStyleCnt="3" custScaleX="196053">
        <dgm:presLayoutVars>
          <dgm:bulletEnabled val="1"/>
        </dgm:presLayoutVars>
      </dgm:prSet>
      <dgm:spPr/>
    </dgm:pt>
    <dgm:pt modelId="{152C1779-C7FF-E749-995A-7FD9A8DD111F}" type="pres">
      <dgm:prSet presAssocID="{C1D6A367-7413-7A43-95FC-83DA47A785D4}" presName="Name13" presStyleLbl="parChTrans1D2" presStyleIdx="1" presStyleCnt="3"/>
      <dgm:spPr/>
    </dgm:pt>
    <dgm:pt modelId="{4B6204DD-0752-8D44-81DB-03FA698C8430}" type="pres">
      <dgm:prSet presAssocID="{84D3DA20-DC1A-BD4E-AF86-8A5EAA07635B}" presName="childText" presStyleLbl="bgAcc1" presStyleIdx="1" presStyleCnt="3" custScaleX="172239">
        <dgm:presLayoutVars>
          <dgm:bulletEnabled val="1"/>
        </dgm:presLayoutVars>
      </dgm:prSet>
      <dgm:spPr/>
    </dgm:pt>
    <dgm:pt modelId="{C0DE6400-858D-924B-91DA-F6116231CD60}" type="pres">
      <dgm:prSet presAssocID="{9DACDAB6-A430-E34B-8299-A015B0E6F54A}" presName="Name13" presStyleLbl="parChTrans1D2" presStyleIdx="2" presStyleCnt="3"/>
      <dgm:spPr/>
    </dgm:pt>
    <dgm:pt modelId="{D2C23CA2-7246-1946-9C43-A1D38E335ADC}" type="pres">
      <dgm:prSet presAssocID="{DB48E8F0-D25A-F447-AD62-CACFD40ABE36}" presName="childText" presStyleLbl="bgAcc1" presStyleIdx="2" presStyleCnt="3" custScaleX="122684">
        <dgm:presLayoutVars>
          <dgm:bulletEnabled val="1"/>
        </dgm:presLayoutVars>
      </dgm:prSet>
      <dgm:spPr/>
    </dgm:pt>
  </dgm:ptLst>
  <dgm:cxnLst>
    <dgm:cxn modelId="{82733003-B9F3-7147-9736-F2575C0ABBD3}" srcId="{CAABB6A8-7633-2C4B-8BE9-B44FFAE6FEAE}" destId="{ABE48AFB-32F7-6F4F-B589-63A0E92E263B}" srcOrd="0" destOrd="0" parTransId="{807D2D24-4724-FF4D-BFFA-CB553253087E}" sibTransId="{AA26697C-C427-584B-84B1-46A599F6058E}"/>
    <dgm:cxn modelId="{603CB609-388E-0B43-A265-A18D37E823B3}" type="presOf" srcId="{CAABB6A8-7633-2C4B-8BE9-B44FFAE6FEAE}" destId="{D8BA969D-7E7F-E34F-A441-28B8E7822D4B}" srcOrd="0" destOrd="0" presId="urn:microsoft.com/office/officeart/2005/8/layout/hierarchy3"/>
    <dgm:cxn modelId="{0CA6A20D-A266-DF4E-9F9F-40FDDD432E98}" type="presOf" srcId="{84D3DA20-DC1A-BD4E-AF86-8A5EAA07635B}" destId="{4B6204DD-0752-8D44-81DB-03FA698C8430}" srcOrd="0" destOrd="0" presId="urn:microsoft.com/office/officeart/2005/8/layout/hierarchy3"/>
    <dgm:cxn modelId="{81AC3D11-4926-9F4D-836D-372C72BFA45A}" type="presOf" srcId="{CAABB6A8-7633-2C4B-8BE9-B44FFAE6FEAE}" destId="{F04948DE-0FAF-B647-808C-2288F9AC00AF}" srcOrd="1" destOrd="0" presId="urn:microsoft.com/office/officeart/2005/8/layout/hierarchy3"/>
    <dgm:cxn modelId="{7F9D5433-2D46-984D-A59E-34B4E3FC5AD3}" srcId="{759B6A50-6B6E-D94D-8565-A38562E17F95}" destId="{CAABB6A8-7633-2C4B-8BE9-B44FFAE6FEAE}" srcOrd="0" destOrd="0" parTransId="{EF61CEA4-F3E7-B844-8CD3-F4C0D48B3181}" sibTransId="{EAE6ADEE-165B-1948-B95C-E5E6C2DE0829}"/>
    <dgm:cxn modelId="{E5953D43-D6A1-524E-AD05-8D013118D66E}" srcId="{CAABB6A8-7633-2C4B-8BE9-B44FFAE6FEAE}" destId="{DB48E8F0-D25A-F447-AD62-CACFD40ABE36}" srcOrd="2" destOrd="0" parTransId="{9DACDAB6-A430-E34B-8299-A015B0E6F54A}" sibTransId="{5B3DC7BC-5E3B-334F-8E91-D3CF85BB5F48}"/>
    <dgm:cxn modelId="{3892C982-8B2A-2746-BA10-01428B26E94A}" type="presOf" srcId="{C1D6A367-7413-7A43-95FC-83DA47A785D4}" destId="{152C1779-C7FF-E749-995A-7FD9A8DD111F}" srcOrd="0" destOrd="0" presId="urn:microsoft.com/office/officeart/2005/8/layout/hierarchy3"/>
    <dgm:cxn modelId="{A5F71195-EA2F-8B41-9099-D09F700D0E70}" type="presOf" srcId="{759B6A50-6B6E-D94D-8565-A38562E17F95}" destId="{E9D2CE2C-C560-F14D-91B3-E13BCFA24F8D}" srcOrd="0" destOrd="0" presId="urn:microsoft.com/office/officeart/2005/8/layout/hierarchy3"/>
    <dgm:cxn modelId="{342F289A-4ECE-6642-B22A-878A671D64BA}" type="presOf" srcId="{ABE48AFB-32F7-6F4F-B589-63A0E92E263B}" destId="{D593A9E5-BA6C-FC47-BEFF-D9F62CF10EB2}" srcOrd="0" destOrd="0" presId="urn:microsoft.com/office/officeart/2005/8/layout/hierarchy3"/>
    <dgm:cxn modelId="{4FC065A4-8C5B-E44C-A978-6AB5261AEA5F}" type="presOf" srcId="{9DACDAB6-A430-E34B-8299-A015B0E6F54A}" destId="{C0DE6400-858D-924B-91DA-F6116231CD60}" srcOrd="0" destOrd="0" presId="urn:microsoft.com/office/officeart/2005/8/layout/hierarchy3"/>
    <dgm:cxn modelId="{3CC10CCC-B431-E04E-BB3F-AA15087BABFA}" type="presOf" srcId="{807D2D24-4724-FF4D-BFFA-CB553253087E}" destId="{270C2B96-D193-F644-99B1-09238B839B4F}" srcOrd="0" destOrd="0" presId="urn:microsoft.com/office/officeart/2005/8/layout/hierarchy3"/>
    <dgm:cxn modelId="{4356A6E2-A22A-CB46-BBD0-E6A52123DB10}" srcId="{CAABB6A8-7633-2C4B-8BE9-B44FFAE6FEAE}" destId="{84D3DA20-DC1A-BD4E-AF86-8A5EAA07635B}" srcOrd="1" destOrd="0" parTransId="{C1D6A367-7413-7A43-95FC-83DA47A785D4}" sibTransId="{ADE6DDF9-8977-0D49-84E8-95AA4649B88A}"/>
    <dgm:cxn modelId="{0A549EF7-28A2-C145-9C99-2F8B64673CEB}" type="presOf" srcId="{DB48E8F0-D25A-F447-AD62-CACFD40ABE36}" destId="{D2C23CA2-7246-1946-9C43-A1D38E335ADC}" srcOrd="0" destOrd="0" presId="urn:microsoft.com/office/officeart/2005/8/layout/hierarchy3"/>
    <dgm:cxn modelId="{1F812788-EC5D-AF4A-BC6F-580C98C080D6}" type="presParOf" srcId="{E9D2CE2C-C560-F14D-91B3-E13BCFA24F8D}" destId="{5F2ECD7D-EBC1-7244-BD90-398E61AE981D}" srcOrd="0" destOrd="0" presId="urn:microsoft.com/office/officeart/2005/8/layout/hierarchy3"/>
    <dgm:cxn modelId="{AB3190B2-22FC-C14D-AE41-E6F006153121}" type="presParOf" srcId="{5F2ECD7D-EBC1-7244-BD90-398E61AE981D}" destId="{34BE7E63-D381-3146-A4A2-8E33FC2C4272}" srcOrd="0" destOrd="0" presId="urn:microsoft.com/office/officeart/2005/8/layout/hierarchy3"/>
    <dgm:cxn modelId="{E2D397F1-C54A-934B-A7F2-6A7EDD24CF6F}" type="presParOf" srcId="{34BE7E63-D381-3146-A4A2-8E33FC2C4272}" destId="{D8BA969D-7E7F-E34F-A441-28B8E7822D4B}" srcOrd="0" destOrd="0" presId="urn:microsoft.com/office/officeart/2005/8/layout/hierarchy3"/>
    <dgm:cxn modelId="{2F8FA6A1-DE9C-D349-A69F-07AA37D39931}" type="presParOf" srcId="{34BE7E63-D381-3146-A4A2-8E33FC2C4272}" destId="{F04948DE-0FAF-B647-808C-2288F9AC00AF}" srcOrd="1" destOrd="0" presId="urn:microsoft.com/office/officeart/2005/8/layout/hierarchy3"/>
    <dgm:cxn modelId="{03DAB01B-0EA0-7443-A1A2-EC9BC2E5B68B}" type="presParOf" srcId="{5F2ECD7D-EBC1-7244-BD90-398E61AE981D}" destId="{FF343DC7-A03E-F640-A111-4B609EE22C4F}" srcOrd="1" destOrd="0" presId="urn:microsoft.com/office/officeart/2005/8/layout/hierarchy3"/>
    <dgm:cxn modelId="{ECBC7DDE-C4BB-8946-87CF-6805188ED208}" type="presParOf" srcId="{FF343DC7-A03E-F640-A111-4B609EE22C4F}" destId="{270C2B96-D193-F644-99B1-09238B839B4F}" srcOrd="0" destOrd="0" presId="urn:microsoft.com/office/officeart/2005/8/layout/hierarchy3"/>
    <dgm:cxn modelId="{08FA7ABC-41DE-A44A-910E-B8BD212BA6C2}" type="presParOf" srcId="{FF343DC7-A03E-F640-A111-4B609EE22C4F}" destId="{D593A9E5-BA6C-FC47-BEFF-D9F62CF10EB2}" srcOrd="1" destOrd="0" presId="urn:microsoft.com/office/officeart/2005/8/layout/hierarchy3"/>
    <dgm:cxn modelId="{3999374A-C072-7A4C-A564-8524CD2D8614}" type="presParOf" srcId="{FF343DC7-A03E-F640-A111-4B609EE22C4F}" destId="{152C1779-C7FF-E749-995A-7FD9A8DD111F}" srcOrd="2" destOrd="0" presId="urn:microsoft.com/office/officeart/2005/8/layout/hierarchy3"/>
    <dgm:cxn modelId="{E34B030C-7BBD-5D4B-A717-C60797F69E59}" type="presParOf" srcId="{FF343DC7-A03E-F640-A111-4B609EE22C4F}" destId="{4B6204DD-0752-8D44-81DB-03FA698C8430}" srcOrd="3" destOrd="0" presId="urn:microsoft.com/office/officeart/2005/8/layout/hierarchy3"/>
    <dgm:cxn modelId="{B4FA43EC-3F62-444E-9580-3FA93C4E7D47}" type="presParOf" srcId="{FF343DC7-A03E-F640-A111-4B609EE22C4F}" destId="{C0DE6400-858D-924B-91DA-F6116231CD60}" srcOrd="4" destOrd="0" presId="urn:microsoft.com/office/officeart/2005/8/layout/hierarchy3"/>
    <dgm:cxn modelId="{44AF55F4-757B-2943-A7B5-9DD63077A42C}" type="presParOf" srcId="{FF343DC7-A03E-F640-A111-4B609EE22C4F}" destId="{D2C23CA2-7246-1946-9C43-A1D38E335ADC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9B6A50-6B6E-D94D-8565-A38562E17F95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ABB6A8-7633-2C4B-8BE9-B44FFAE6FEAE}">
      <dgm:prSet phldrT="[Text]"/>
      <dgm:spPr/>
      <dgm:t>
        <a:bodyPr/>
        <a:lstStyle/>
        <a:p>
          <a:r>
            <a:rPr lang="en-US" dirty="0"/>
            <a:t>Graph Traversal</a:t>
          </a:r>
        </a:p>
      </dgm:t>
    </dgm:pt>
    <dgm:pt modelId="{EF61CEA4-F3E7-B844-8CD3-F4C0D48B3181}" type="parTrans" cxnId="{7F9D5433-2D46-984D-A59E-34B4E3FC5AD3}">
      <dgm:prSet/>
      <dgm:spPr/>
      <dgm:t>
        <a:bodyPr/>
        <a:lstStyle/>
        <a:p>
          <a:endParaRPr lang="en-US"/>
        </a:p>
      </dgm:t>
    </dgm:pt>
    <dgm:pt modelId="{EAE6ADEE-165B-1948-B95C-E5E6C2DE0829}" type="sibTrans" cxnId="{7F9D5433-2D46-984D-A59E-34B4E3FC5AD3}">
      <dgm:prSet/>
      <dgm:spPr/>
      <dgm:t>
        <a:bodyPr/>
        <a:lstStyle/>
        <a:p>
          <a:endParaRPr lang="en-US"/>
        </a:p>
      </dgm:t>
    </dgm:pt>
    <dgm:pt modelId="{ABE48AFB-32F7-6F4F-B589-63A0E92E263B}">
      <dgm:prSet phldrT="[Text]"/>
      <dgm:spPr/>
      <dgm:t>
        <a:bodyPr/>
        <a:lstStyle/>
        <a:p>
          <a:r>
            <a:rPr lang="en-US" dirty="0"/>
            <a:t>Breadth First Search (BFS)</a:t>
          </a:r>
        </a:p>
      </dgm:t>
    </dgm:pt>
    <dgm:pt modelId="{807D2D24-4724-FF4D-BFFA-CB553253087E}" type="parTrans" cxnId="{82733003-B9F3-7147-9736-F2575C0ABBD3}">
      <dgm:prSet/>
      <dgm:spPr/>
      <dgm:t>
        <a:bodyPr/>
        <a:lstStyle/>
        <a:p>
          <a:endParaRPr lang="en-US"/>
        </a:p>
      </dgm:t>
    </dgm:pt>
    <dgm:pt modelId="{AA26697C-C427-584B-84B1-46A599F6058E}" type="sibTrans" cxnId="{82733003-B9F3-7147-9736-F2575C0ABBD3}">
      <dgm:prSet/>
      <dgm:spPr/>
      <dgm:t>
        <a:bodyPr/>
        <a:lstStyle/>
        <a:p>
          <a:endParaRPr lang="en-US"/>
        </a:p>
      </dgm:t>
    </dgm:pt>
    <dgm:pt modelId="{84D3DA20-DC1A-BD4E-AF86-8A5EAA07635B}">
      <dgm:prSet phldrT="[Text]"/>
      <dgm:spPr/>
      <dgm:t>
        <a:bodyPr/>
        <a:lstStyle/>
        <a:p>
          <a:r>
            <a:rPr lang="en-US" dirty="0"/>
            <a:t>Depth First Search (DFS)</a:t>
          </a:r>
        </a:p>
      </dgm:t>
    </dgm:pt>
    <dgm:pt modelId="{C1D6A367-7413-7A43-95FC-83DA47A785D4}" type="parTrans" cxnId="{4356A6E2-A22A-CB46-BBD0-E6A52123DB10}">
      <dgm:prSet/>
      <dgm:spPr/>
      <dgm:t>
        <a:bodyPr/>
        <a:lstStyle/>
        <a:p>
          <a:endParaRPr lang="en-US"/>
        </a:p>
      </dgm:t>
    </dgm:pt>
    <dgm:pt modelId="{ADE6DDF9-8977-0D49-84E8-95AA4649B88A}" type="sibTrans" cxnId="{4356A6E2-A22A-CB46-BBD0-E6A52123DB10}">
      <dgm:prSet/>
      <dgm:spPr/>
      <dgm:t>
        <a:bodyPr/>
        <a:lstStyle/>
        <a:p>
          <a:endParaRPr lang="en-US"/>
        </a:p>
      </dgm:t>
    </dgm:pt>
    <dgm:pt modelId="{E9D2CE2C-C560-F14D-91B3-E13BCFA24F8D}" type="pres">
      <dgm:prSet presAssocID="{759B6A50-6B6E-D94D-8565-A38562E17F9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2ECD7D-EBC1-7244-BD90-398E61AE981D}" type="pres">
      <dgm:prSet presAssocID="{CAABB6A8-7633-2C4B-8BE9-B44FFAE6FEAE}" presName="root" presStyleCnt="0"/>
      <dgm:spPr/>
    </dgm:pt>
    <dgm:pt modelId="{34BE7E63-D381-3146-A4A2-8E33FC2C4272}" type="pres">
      <dgm:prSet presAssocID="{CAABB6A8-7633-2C4B-8BE9-B44FFAE6FEAE}" presName="rootComposite" presStyleCnt="0"/>
      <dgm:spPr/>
    </dgm:pt>
    <dgm:pt modelId="{D8BA969D-7E7F-E34F-A441-28B8E7822D4B}" type="pres">
      <dgm:prSet presAssocID="{CAABB6A8-7633-2C4B-8BE9-B44FFAE6FEAE}" presName="rootText" presStyleLbl="node1" presStyleIdx="0" presStyleCnt="1" custScaleX="246498"/>
      <dgm:spPr/>
    </dgm:pt>
    <dgm:pt modelId="{F04948DE-0FAF-B647-808C-2288F9AC00AF}" type="pres">
      <dgm:prSet presAssocID="{CAABB6A8-7633-2C4B-8BE9-B44FFAE6FEAE}" presName="rootConnector" presStyleLbl="node1" presStyleIdx="0" presStyleCnt="1"/>
      <dgm:spPr/>
    </dgm:pt>
    <dgm:pt modelId="{FF343DC7-A03E-F640-A111-4B609EE22C4F}" type="pres">
      <dgm:prSet presAssocID="{CAABB6A8-7633-2C4B-8BE9-B44FFAE6FEAE}" presName="childShape" presStyleCnt="0"/>
      <dgm:spPr/>
    </dgm:pt>
    <dgm:pt modelId="{270C2B96-D193-F644-99B1-09238B839B4F}" type="pres">
      <dgm:prSet presAssocID="{807D2D24-4724-FF4D-BFFA-CB553253087E}" presName="Name13" presStyleLbl="parChTrans1D2" presStyleIdx="0" presStyleCnt="2"/>
      <dgm:spPr/>
    </dgm:pt>
    <dgm:pt modelId="{D593A9E5-BA6C-FC47-BEFF-D9F62CF10EB2}" type="pres">
      <dgm:prSet presAssocID="{ABE48AFB-32F7-6F4F-B589-63A0E92E263B}" presName="childText" presStyleLbl="bgAcc1" presStyleIdx="0" presStyleCnt="2" custScaleX="377025">
        <dgm:presLayoutVars>
          <dgm:bulletEnabled val="1"/>
        </dgm:presLayoutVars>
      </dgm:prSet>
      <dgm:spPr/>
    </dgm:pt>
    <dgm:pt modelId="{152C1779-C7FF-E749-995A-7FD9A8DD111F}" type="pres">
      <dgm:prSet presAssocID="{C1D6A367-7413-7A43-95FC-83DA47A785D4}" presName="Name13" presStyleLbl="parChTrans1D2" presStyleIdx="1" presStyleCnt="2"/>
      <dgm:spPr/>
    </dgm:pt>
    <dgm:pt modelId="{4B6204DD-0752-8D44-81DB-03FA698C8430}" type="pres">
      <dgm:prSet presAssocID="{84D3DA20-DC1A-BD4E-AF86-8A5EAA07635B}" presName="childText" presStyleLbl="bgAcc1" presStyleIdx="1" presStyleCnt="2" custScaleX="379519">
        <dgm:presLayoutVars>
          <dgm:bulletEnabled val="1"/>
        </dgm:presLayoutVars>
      </dgm:prSet>
      <dgm:spPr/>
    </dgm:pt>
  </dgm:ptLst>
  <dgm:cxnLst>
    <dgm:cxn modelId="{82733003-B9F3-7147-9736-F2575C0ABBD3}" srcId="{CAABB6A8-7633-2C4B-8BE9-B44FFAE6FEAE}" destId="{ABE48AFB-32F7-6F4F-B589-63A0E92E263B}" srcOrd="0" destOrd="0" parTransId="{807D2D24-4724-FF4D-BFFA-CB553253087E}" sibTransId="{AA26697C-C427-584B-84B1-46A599F6058E}"/>
    <dgm:cxn modelId="{603CB609-388E-0B43-A265-A18D37E823B3}" type="presOf" srcId="{CAABB6A8-7633-2C4B-8BE9-B44FFAE6FEAE}" destId="{D8BA969D-7E7F-E34F-A441-28B8E7822D4B}" srcOrd="0" destOrd="0" presId="urn:microsoft.com/office/officeart/2005/8/layout/hierarchy3"/>
    <dgm:cxn modelId="{0CA6A20D-A266-DF4E-9F9F-40FDDD432E98}" type="presOf" srcId="{84D3DA20-DC1A-BD4E-AF86-8A5EAA07635B}" destId="{4B6204DD-0752-8D44-81DB-03FA698C8430}" srcOrd="0" destOrd="0" presId="urn:microsoft.com/office/officeart/2005/8/layout/hierarchy3"/>
    <dgm:cxn modelId="{81AC3D11-4926-9F4D-836D-372C72BFA45A}" type="presOf" srcId="{CAABB6A8-7633-2C4B-8BE9-B44FFAE6FEAE}" destId="{F04948DE-0FAF-B647-808C-2288F9AC00AF}" srcOrd="1" destOrd="0" presId="urn:microsoft.com/office/officeart/2005/8/layout/hierarchy3"/>
    <dgm:cxn modelId="{7F9D5433-2D46-984D-A59E-34B4E3FC5AD3}" srcId="{759B6A50-6B6E-D94D-8565-A38562E17F95}" destId="{CAABB6A8-7633-2C4B-8BE9-B44FFAE6FEAE}" srcOrd="0" destOrd="0" parTransId="{EF61CEA4-F3E7-B844-8CD3-F4C0D48B3181}" sibTransId="{EAE6ADEE-165B-1948-B95C-E5E6C2DE0829}"/>
    <dgm:cxn modelId="{3892C982-8B2A-2746-BA10-01428B26E94A}" type="presOf" srcId="{C1D6A367-7413-7A43-95FC-83DA47A785D4}" destId="{152C1779-C7FF-E749-995A-7FD9A8DD111F}" srcOrd="0" destOrd="0" presId="urn:microsoft.com/office/officeart/2005/8/layout/hierarchy3"/>
    <dgm:cxn modelId="{A5F71195-EA2F-8B41-9099-D09F700D0E70}" type="presOf" srcId="{759B6A50-6B6E-D94D-8565-A38562E17F95}" destId="{E9D2CE2C-C560-F14D-91B3-E13BCFA24F8D}" srcOrd="0" destOrd="0" presId="urn:microsoft.com/office/officeart/2005/8/layout/hierarchy3"/>
    <dgm:cxn modelId="{342F289A-4ECE-6642-B22A-878A671D64BA}" type="presOf" srcId="{ABE48AFB-32F7-6F4F-B589-63A0E92E263B}" destId="{D593A9E5-BA6C-FC47-BEFF-D9F62CF10EB2}" srcOrd="0" destOrd="0" presId="urn:microsoft.com/office/officeart/2005/8/layout/hierarchy3"/>
    <dgm:cxn modelId="{3CC10CCC-B431-E04E-BB3F-AA15087BABFA}" type="presOf" srcId="{807D2D24-4724-FF4D-BFFA-CB553253087E}" destId="{270C2B96-D193-F644-99B1-09238B839B4F}" srcOrd="0" destOrd="0" presId="urn:microsoft.com/office/officeart/2005/8/layout/hierarchy3"/>
    <dgm:cxn modelId="{4356A6E2-A22A-CB46-BBD0-E6A52123DB10}" srcId="{CAABB6A8-7633-2C4B-8BE9-B44FFAE6FEAE}" destId="{84D3DA20-DC1A-BD4E-AF86-8A5EAA07635B}" srcOrd="1" destOrd="0" parTransId="{C1D6A367-7413-7A43-95FC-83DA47A785D4}" sibTransId="{ADE6DDF9-8977-0D49-84E8-95AA4649B88A}"/>
    <dgm:cxn modelId="{1F812788-EC5D-AF4A-BC6F-580C98C080D6}" type="presParOf" srcId="{E9D2CE2C-C560-F14D-91B3-E13BCFA24F8D}" destId="{5F2ECD7D-EBC1-7244-BD90-398E61AE981D}" srcOrd="0" destOrd="0" presId="urn:microsoft.com/office/officeart/2005/8/layout/hierarchy3"/>
    <dgm:cxn modelId="{AB3190B2-22FC-C14D-AE41-E6F006153121}" type="presParOf" srcId="{5F2ECD7D-EBC1-7244-BD90-398E61AE981D}" destId="{34BE7E63-D381-3146-A4A2-8E33FC2C4272}" srcOrd="0" destOrd="0" presId="urn:microsoft.com/office/officeart/2005/8/layout/hierarchy3"/>
    <dgm:cxn modelId="{E2D397F1-C54A-934B-A7F2-6A7EDD24CF6F}" type="presParOf" srcId="{34BE7E63-D381-3146-A4A2-8E33FC2C4272}" destId="{D8BA969D-7E7F-E34F-A441-28B8E7822D4B}" srcOrd="0" destOrd="0" presId="urn:microsoft.com/office/officeart/2005/8/layout/hierarchy3"/>
    <dgm:cxn modelId="{2F8FA6A1-DE9C-D349-A69F-07AA37D39931}" type="presParOf" srcId="{34BE7E63-D381-3146-A4A2-8E33FC2C4272}" destId="{F04948DE-0FAF-B647-808C-2288F9AC00AF}" srcOrd="1" destOrd="0" presId="urn:microsoft.com/office/officeart/2005/8/layout/hierarchy3"/>
    <dgm:cxn modelId="{03DAB01B-0EA0-7443-A1A2-EC9BC2E5B68B}" type="presParOf" srcId="{5F2ECD7D-EBC1-7244-BD90-398E61AE981D}" destId="{FF343DC7-A03E-F640-A111-4B609EE22C4F}" srcOrd="1" destOrd="0" presId="urn:microsoft.com/office/officeart/2005/8/layout/hierarchy3"/>
    <dgm:cxn modelId="{ECBC7DDE-C4BB-8946-87CF-6805188ED208}" type="presParOf" srcId="{FF343DC7-A03E-F640-A111-4B609EE22C4F}" destId="{270C2B96-D193-F644-99B1-09238B839B4F}" srcOrd="0" destOrd="0" presId="urn:microsoft.com/office/officeart/2005/8/layout/hierarchy3"/>
    <dgm:cxn modelId="{08FA7ABC-41DE-A44A-910E-B8BD212BA6C2}" type="presParOf" srcId="{FF343DC7-A03E-F640-A111-4B609EE22C4F}" destId="{D593A9E5-BA6C-FC47-BEFF-D9F62CF10EB2}" srcOrd="1" destOrd="0" presId="urn:microsoft.com/office/officeart/2005/8/layout/hierarchy3"/>
    <dgm:cxn modelId="{3999374A-C072-7A4C-A564-8524CD2D8614}" type="presParOf" srcId="{FF343DC7-A03E-F640-A111-4B609EE22C4F}" destId="{152C1779-C7FF-E749-995A-7FD9A8DD111F}" srcOrd="2" destOrd="0" presId="urn:microsoft.com/office/officeart/2005/8/layout/hierarchy3"/>
    <dgm:cxn modelId="{E34B030C-7BBD-5D4B-A717-C60797F69E59}" type="presParOf" srcId="{FF343DC7-A03E-F640-A111-4B609EE22C4F}" destId="{4B6204DD-0752-8D44-81DB-03FA698C843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A969D-7E7F-E34F-A441-28B8E7822D4B}">
      <dsp:nvSpPr>
        <dsp:cNvPr id="0" name=""/>
        <dsp:cNvSpPr/>
      </dsp:nvSpPr>
      <dsp:spPr>
        <a:xfrm>
          <a:off x="1314319" y="724"/>
          <a:ext cx="3982685" cy="8078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Graph Representation</a:t>
          </a:r>
        </a:p>
      </dsp:txBody>
      <dsp:txXfrm>
        <a:off x="1337980" y="24385"/>
        <a:ext cx="3935363" cy="760531"/>
      </dsp:txXfrm>
    </dsp:sp>
    <dsp:sp modelId="{270C2B96-D193-F644-99B1-09238B839B4F}">
      <dsp:nvSpPr>
        <dsp:cNvPr id="0" name=""/>
        <dsp:cNvSpPr/>
      </dsp:nvSpPr>
      <dsp:spPr>
        <a:xfrm>
          <a:off x="1712588" y="808577"/>
          <a:ext cx="398268" cy="6058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5890"/>
              </a:lnTo>
              <a:lnTo>
                <a:pt x="398268" y="6058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93A9E5-BA6C-FC47-BEFF-D9F62CF10EB2}">
      <dsp:nvSpPr>
        <dsp:cNvPr id="0" name=""/>
        <dsp:cNvSpPr/>
      </dsp:nvSpPr>
      <dsp:spPr>
        <a:xfrm>
          <a:off x="2110856" y="1010541"/>
          <a:ext cx="2534113" cy="807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Adjacency Matrix</a:t>
          </a:r>
        </a:p>
      </dsp:txBody>
      <dsp:txXfrm>
        <a:off x="2134517" y="1034202"/>
        <a:ext cx="2486791" cy="760531"/>
      </dsp:txXfrm>
    </dsp:sp>
    <dsp:sp modelId="{152C1779-C7FF-E749-995A-7FD9A8DD111F}">
      <dsp:nvSpPr>
        <dsp:cNvPr id="0" name=""/>
        <dsp:cNvSpPr/>
      </dsp:nvSpPr>
      <dsp:spPr>
        <a:xfrm>
          <a:off x="1712588" y="808577"/>
          <a:ext cx="398268" cy="1615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5707"/>
              </a:lnTo>
              <a:lnTo>
                <a:pt x="398268" y="16157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6204DD-0752-8D44-81DB-03FA698C8430}">
      <dsp:nvSpPr>
        <dsp:cNvPr id="0" name=""/>
        <dsp:cNvSpPr/>
      </dsp:nvSpPr>
      <dsp:spPr>
        <a:xfrm>
          <a:off x="2110856" y="2020358"/>
          <a:ext cx="2226302" cy="807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Adjacency List</a:t>
          </a:r>
        </a:p>
      </dsp:txBody>
      <dsp:txXfrm>
        <a:off x="2134517" y="2044019"/>
        <a:ext cx="2178980" cy="760531"/>
      </dsp:txXfrm>
    </dsp:sp>
    <dsp:sp modelId="{C0DE6400-858D-924B-91DA-F6116231CD60}">
      <dsp:nvSpPr>
        <dsp:cNvPr id="0" name=""/>
        <dsp:cNvSpPr/>
      </dsp:nvSpPr>
      <dsp:spPr>
        <a:xfrm>
          <a:off x="1712588" y="808577"/>
          <a:ext cx="398268" cy="26255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5524"/>
              </a:lnTo>
              <a:lnTo>
                <a:pt x="398268" y="262552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C23CA2-7246-1946-9C43-A1D38E335ADC}">
      <dsp:nvSpPr>
        <dsp:cNvPr id="0" name=""/>
        <dsp:cNvSpPr/>
      </dsp:nvSpPr>
      <dsp:spPr>
        <a:xfrm>
          <a:off x="2110856" y="3030175"/>
          <a:ext cx="1585771" cy="807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Others...</a:t>
          </a:r>
        </a:p>
      </dsp:txBody>
      <dsp:txXfrm>
        <a:off x="2134517" y="3053836"/>
        <a:ext cx="1538449" cy="7605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A969D-7E7F-E34F-A441-28B8E7822D4B}">
      <dsp:nvSpPr>
        <dsp:cNvPr id="0" name=""/>
        <dsp:cNvSpPr/>
      </dsp:nvSpPr>
      <dsp:spPr>
        <a:xfrm>
          <a:off x="1766" y="281072"/>
          <a:ext cx="4615300" cy="9361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55" tIns="64770" rIns="97155" bIns="6477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Graph Traversal</a:t>
          </a:r>
        </a:p>
      </dsp:txBody>
      <dsp:txXfrm>
        <a:off x="29186" y="308492"/>
        <a:ext cx="4560460" cy="881333"/>
      </dsp:txXfrm>
    </dsp:sp>
    <dsp:sp modelId="{270C2B96-D193-F644-99B1-09238B839B4F}">
      <dsp:nvSpPr>
        <dsp:cNvPr id="0" name=""/>
        <dsp:cNvSpPr/>
      </dsp:nvSpPr>
      <dsp:spPr>
        <a:xfrm>
          <a:off x="463296" y="1217246"/>
          <a:ext cx="461530" cy="702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2130"/>
              </a:lnTo>
              <a:lnTo>
                <a:pt x="461530" y="70213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93A9E5-BA6C-FC47-BEFF-D9F62CF10EB2}">
      <dsp:nvSpPr>
        <dsp:cNvPr id="0" name=""/>
        <dsp:cNvSpPr/>
      </dsp:nvSpPr>
      <dsp:spPr>
        <a:xfrm>
          <a:off x="924826" y="1451289"/>
          <a:ext cx="5647375" cy="9361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Breadth First Search (BFS)</a:t>
          </a:r>
        </a:p>
      </dsp:txBody>
      <dsp:txXfrm>
        <a:off x="952246" y="1478709"/>
        <a:ext cx="5592535" cy="881333"/>
      </dsp:txXfrm>
    </dsp:sp>
    <dsp:sp modelId="{152C1779-C7FF-E749-995A-7FD9A8DD111F}">
      <dsp:nvSpPr>
        <dsp:cNvPr id="0" name=""/>
        <dsp:cNvSpPr/>
      </dsp:nvSpPr>
      <dsp:spPr>
        <a:xfrm>
          <a:off x="463296" y="1217246"/>
          <a:ext cx="461530" cy="1872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2347"/>
              </a:lnTo>
              <a:lnTo>
                <a:pt x="461530" y="187234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6204DD-0752-8D44-81DB-03FA698C8430}">
      <dsp:nvSpPr>
        <dsp:cNvPr id="0" name=""/>
        <dsp:cNvSpPr/>
      </dsp:nvSpPr>
      <dsp:spPr>
        <a:xfrm>
          <a:off x="924826" y="2621506"/>
          <a:ext cx="5684732" cy="9361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Depth First Search (DFS)</a:t>
          </a:r>
        </a:p>
      </dsp:txBody>
      <dsp:txXfrm>
        <a:off x="952246" y="2648926"/>
        <a:ext cx="5629892" cy="881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911F-D5A8-D1A6-6FA0-884541E38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11589-16F3-AF93-3FAA-E200CE3BF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FA776-C685-3CA5-20D9-262873B6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87CD2-2837-1D82-157A-A60461F4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8046D-0A31-3771-B64F-7A60480F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7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0968-9F99-2F94-0A4F-698CAF67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E458-730C-9119-1597-299FD708C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0E7F4-F652-7DDD-2E18-E02F14CE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ACB18-4C67-56AE-4AF3-28985684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2DDA2-C4A0-CB26-5331-3A0DD354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27238-4DA9-223F-0790-4BC8A3A24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13EEF-0BD2-B6E7-A51C-96F9F4801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394B4-817A-BC2E-7E49-E60149F1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801CE-A296-02D3-E3E1-A55347ED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BE67F-C338-5B68-BC29-9C09F063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2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AD36-9FF9-47BF-2D48-9E226104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4EBEA-0BFD-95E2-D3F2-151EC4A68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9E3A2-EE27-25CC-ED28-DE0AD040E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6DF70-7F63-FA06-35E7-CFF9103F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2D33B-8150-94D1-1F02-24EC0985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99711-6F1D-EAFB-95D5-7F6EDC5B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5ADA-F689-5667-A09F-8A000D89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20565-3B97-6859-81E6-EFFD70DF2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85193-8027-8E32-37F7-8FE5BCD3F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CFE2C-3F96-956B-609E-CACEDF3DA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472AC-EAB6-A78E-A2F6-BE27507E0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F5620-BD53-E04A-F891-1743599E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B6BEA-8028-6B69-F280-E833EDF6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76920-2467-DD1D-E394-830D3552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8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D918-817B-0172-1B0E-4227218A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6722C-3AF7-4D91-1F74-43959564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54CE6-D4D6-63DF-FF19-25D50D3B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F9112-CC02-37A5-2117-1D0F92A96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FC577-3F5C-39F6-592A-9618011F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40991-FDA8-465C-365F-13C8B622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0F61A-E085-18A7-C23C-FD4492E1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0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5CF7-0B3B-6C98-4EC0-6903DC5B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118B7-76ED-8F64-DED1-79C96BDB7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E05A9-6C63-F2DE-2220-F37ACA06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E3E73-0C29-0149-80A6-BF498A0A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452EE-53C7-C136-7358-87F450E7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795A7-FF52-D069-532A-5FDC72E3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7BCC-2FE4-CFBE-CB53-C28B836A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E6758-195D-69CE-DD7F-065D21CEA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996D4-EB2F-6CD0-2103-2A7FE6F7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50743-AB70-7C69-B3D5-01C07FC8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5CF40-4F54-564F-379C-A4259569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B3FBE-0CC1-CA0A-DEA3-7480204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0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8587-35A3-3C87-5F64-5997FC2C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125CA-E187-0348-0D7D-97217B21B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8510E-11DC-ECCE-D052-0307CE5E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8F9A1-4819-50E9-30DB-6D667EBF8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D013D-EFB2-F2C4-48D7-BE824CFD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6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F21D7-9E91-905E-4E9F-CB6929062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DE3BE-BA1A-BE6A-3834-F461ADF37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6B9BA-E3B7-BC33-F359-47A73AB7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9C41F-DED3-3E9A-88D6-3D3C8DD6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7C556-83C5-B521-F448-B4E571EB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0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4DE197-6B59-33AF-A222-3986C050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CB5E9-D8E0-BA11-D0A3-26FD1887C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22CCC-7353-F62C-00B0-1236D2D2C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034D3-A89E-8F4A-9580-A646A71CA52A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30525-B3CA-E46E-3731-389436D0E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A0C49-AF21-D5A7-287A-EEA80D0CA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D845A-099E-2647-B980-2440DA0D32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7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159A-2097-0BCC-3F73-7FB6CDD50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 - Graphs</a:t>
            </a:r>
          </a:p>
        </p:txBody>
      </p:sp>
    </p:spTree>
    <p:extLst>
      <p:ext uri="{BB962C8B-B14F-4D97-AF65-F5344CB8AC3E}">
        <p14:creationId xmlns:p14="http://schemas.microsoft.com/office/powerpoint/2010/main" val="364838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7638A6-0DA8-59C3-C26A-1E55EB6269F6}"/>
              </a:ext>
            </a:extLst>
          </p:cNvPr>
          <p:cNvSpPr txBox="1"/>
          <p:nvPr/>
        </p:nvSpPr>
        <p:spPr>
          <a:xfrm>
            <a:off x="1484518" y="1033155"/>
            <a:ext cx="94212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Graph (Data Structure) should not be confused with charts/function plots.</a:t>
            </a:r>
          </a:p>
        </p:txBody>
      </p:sp>
      <p:pic>
        <p:nvPicPr>
          <p:cNvPr id="7" name="Picture 6" descr="A black background with a black background and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0D539CD1-7D61-E645-3337-7A68B1110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31" y="2288434"/>
            <a:ext cx="3867649" cy="3867649"/>
          </a:xfrm>
          <a:prstGeom prst="rect">
            <a:avLst/>
          </a:prstGeom>
        </p:spPr>
      </p:pic>
      <p:pic>
        <p:nvPicPr>
          <p:cNvPr id="9" name="Picture 8" descr="A graph of a function&#10;&#10;Description automatically generated">
            <a:extLst>
              <a:ext uri="{FF2B5EF4-FFF2-40B4-BE49-F238E27FC236}">
                <a16:creationId xmlns:a16="http://schemas.microsoft.com/office/drawing/2014/main" id="{FD921356-0EEF-59F1-C396-41E890E6D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723" y="2651727"/>
            <a:ext cx="3138057" cy="317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4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13DD66-58BA-2F98-64DD-B9E2FE406DA1}"/>
              </a:ext>
            </a:extLst>
          </p:cNvPr>
          <p:cNvSpPr txBox="1"/>
          <p:nvPr/>
        </p:nvSpPr>
        <p:spPr>
          <a:xfrm>
            <a:off x="976250" y="994998"/>
            <a:ext cx="102394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Graph is a non-linear data structure consisting of nodes (aka vertices) and edges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Used to represent relationship between objects/entities</a:t>
            </a:r>
          </a:p>
          <a:p>
            <a:r>
              <a:rPr lang="en-US" sz="2400" dirty="0"/>
              <a:t>	(Note: ‘objects’ should not be confused with class instances/objects)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Objects/Entities can be represented by nodes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Relationship between each pair of object can be represented by edges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2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86370E-764E-FBCA-38A6-88733029C878}"/>
              </a:ext>
            </a:extLst>
          </p:cNvPr>
          <p:cNvSpPr/>
          <p:nvPr/>
        </p:nvSpPr>
        <p:spPr>
          <a:xfrm>
            <a:off x="3752602" y="4001985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B12871-E765-CD07-7BCD-47DDABF9762B}"/>
              </a:ext>
            </a:extLst>
          </p:cNvPr>
          <p:cNvSpPr/>
          <p:nvPr/>
        </p:nvSpPr>
        <p:spPr>
          <a:xfrm>
            <a:off x="6327569" y="4001985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E12E4C-61EF-BFFC-CA3E-3CB450FA071A}"/>
              </a:ext>
            </a:extLst>
          </p:cNvPr>
          <p:cNvCxnSpPr>
            <a:cxnSpLocks/>
            <a:stCxn id="25" idx="6"/>
            <a:endCxn id="27" idx="2"/>
          </p:cNvCxnSpPr>
          <p:nvPr/>
        </p:nvCxnSpPr>
        <p:spPr>
          <a:xfrm>
            <a:off x="4678877" y="4417621"/>
            <a:ext cx="164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BFC22CE-86C7-927A-0A10-7045DD8B468E}"/>
              </a:ext>
            </a:extLst>
          </p:cNvPr>
          <p:cNvSpPr txBox="1"/>
          <p:nvPr/>
        </p:nvSpPr>
        <p:spPr>
          <a:xfrm>
            <a:off x="4678877" y="3679095"/>
            <a:ext cx="1648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Edge (relationship)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8D2D5-928A-78DD-995C-59F3DA16E671}"/>
              </a:ext>
            </a:extLst>
          </p:cNvPr>
          <p:cNvSpPr txBox="1"/>
          <p:nvPr/>
        </p:nvSpPr>
        <p:spPr>
          <a:xfrm>
            <a:off x="3782478" y="4879561"/>
            <a:ext cx="89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A75624-3615-010F-2305-43C36B2D77ED}"/>
              </a:ext>
            </a:extLst>
          </p:cNvPr>
          <p:cNvSpPr txBox="1"/>
          <p:nvPr/>
        </p:nvSpPr>
        <p:spPr>
          <a:xfrm>
            <a:off x="6357445" y="4879561"/>
            <a:ext cx="89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 2</a:t>
            </a:r>
          </a:p>
        </p:txBody>
      </p:sp>
    </p:spTree>
    <p:extLst>
      <p:ext uri="{BB962C8B-B14F-4D97-AF65-F5344CB8AC3E}">
        <p14:creationId xmlns:p14="http://schemas.microsoft.com/office/powerpoint/2010/main" val="235037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B775E1-14C1-D08B-337E-EE12DEB39136}"/>
              </a:ext>
            </a:extLst>
          </p:cNvPr>
          <p:cNvSpPr/>
          <p:nvPr/>
        </p:nvSpPr>
        <p:spPr>
          <a:xfrm>
            <a:off x="1365663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1D14F-2AC7-6BC5-1EEA-2229E898D72D}"/>
              </a:ext>
            </a:extLst>
          </p:cNvPr>
          <p:cNvSpPr txBox="1"/>
          <p:nvPr/>
        </p:nvSpPr>
        <p:spPr>
          <a:xfrm>
            <a:off x="1463379" y="2695699"/>
            <a:ext cx="730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00591D-55BC-D776-367C-5C1AFABE3A54}"/>
              </a:ext>
            </a:extLst>
          </p:cNvPr>
          <p:cNvSpPr/>
          <p:nvPr/>
        </p:nvSpPr>
        <p:spPr>
          <a:xfrm>
            <a:off x="3940630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9EC9A-1AE3-E6AA-0BA4-09CF6AB1498E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2291938" y="2280063"/>
            <a:ext cx="164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F37A6C-DE9E-D940-8DD4-EEEB0E79B77D}"/>
              </a:ext>
            </a:extLst>
          </p:cNvPr>
          <p:cNvSpPr txBox="1"/>
          <p:nvPr/>
        </p:nvSpPr>
        <p:spPr>
          <a:xfrm>
            <a:off x="4056556" y="2695699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JFK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FE7EA-8AB7-D325-53CA-F767999680AA}"/>
              </a:ext>
            </a:extLst>
          </p:cNvPr>
          <p:cNvSpPr txBox="1"/>
          <p:nvPr/>
        </p:nvSpPr>
        <p:spPr>
          <a:xfrm>
            <a:off x="2543050" y="184601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759 miles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E96D3-616D-B1E5-D49D-7CF6BBF4EF73}"/>
              </a:ext>
            </a:extLst>
          </p:cNvPr>
          <p:cNvSpPr txBox="1"/>
          <p:nvPr/>
        </p:nvSpPr>
        <p:spPr>
          <a:xfrm>
            <a:off x="4733339" y="836945"/>
            <a:ext cx="2637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Examples - Simple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E357BC-FE8C-B9AD-D230-00BACEFD5B69}"/>
              </a:ext>
            </a:extLst>
          </p:cNvPr>
          <p:cNvSpPr/>
          <p:nvPr/>
        </p:nvSpPr>
        <p:spPr>
          <a:xfrm>
            <a:off x="6729241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937079-FC85-295C-E214-A20A6C996F94}"/>
              </a:ext>
            </a:extLst>
          </p:cNvPr>
          <p:cNvSpPr txBox="1"/>
          <p:nvPr/>
        </p:nvSpPr>
        <p:spPr>
          <a:xfrm>
            <a:off x="6365068" y="2761120"/>
            <a:ext cx="1654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CSC1301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E96CF3-7A2C-3B2C-4325-BA7B2BF87076}"/>
              </a:ext>
            </a:extLst>
          </p:cNvPr>
          <p:cNvSpPr/>
          <p:nvPr/>
        </p:nvSpPr>
        <p:spPr>
          <a:xfrm>
            <a:off x="9304208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6C-792D-7596-A5AE-6AF2AF2A7308}"/>
              </a:ext>
            </a:extLst>
          </p:cNvPr>
          <p:cNvSpPr txBox="1"/>
          <p:nvPr/>
        </p:nvSpPr>
        <p:spPr>
          <a:xfrm>
            <a:off x="9053096" y="2761120"/>
            <a:ext cx="1654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CSC1302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9BEB5B-DBCE-BCC1-BB7D-38B7D9C68433}"/>
              </a:ext>
            </a:extLst>
          </p:cNvPr>
          <p:cNvSpPr txBox="1"/>
          <p:nvPr/>
        </p:nvSpPr>
        <p:spPr>
          <a:xfrm>
            <a:off x="7572145" y="1804347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a perquisite of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E4E195-E207-0848-DA4D-3BE8FF3042F5}"/>
              </a:ext>
            </a:extLst>
          </p:cNvPr>
          <p:cNvCxnSpPr>
            <a:stCxn id="21" idx="6"/>
            <a:endCxn id="23" idx="2"/>
          </p:cNvCxnSpPr>
          <p:nvPr/>
        </p:nvCxnSpPr>
        <p:spPr>
          <a:xfrm>
            <a:off x="7655516" y="2280063"/>
            <a:ext cx="16486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9C97419A-BC8B-10FB-0545-C5272378DF17}"/>
              </a:ext>
            </a:extLst>
          </p:cNvPr>
          <p:cNvSpPr/>
          <p:nvPr/>
        </p:nvSpPr>
        <p:spPr>
          <a:xfrm>
            <a:off x="4270202" y="4681142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2BB39D-A466-644C-7ED4-3C920CD3D2B1}"/>
              </a:ext>
            </a:extLst>
          </p:cNvPr>
          <p:cNvSpPr txBox="1"/>
          <p:nvPr/>
        </p:nvSpPr>
        <p:spPr>
          <a:xfrm>
            <a:off x="4367918" y="5512414"/>
            <a:ext cx="801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Bob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EFDC99D-0D7F-F289-81A2-B7B0ACFAAE89}"/>
              </a:ext>
            </a:extLst>
          </p:cNvPr>
          <p:cNvSpPr/>
          <p:nvPr/>
        </p:nvSpPr>
        <p:spPr>
          <a:xfrm>
            <a:off x="7192378" y="4681142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432EFE-43C7-0270-8775-16BDAD738899}"/>
              </a:ext>
            </a:extLst>
          </p:cNvPr>
          <p:cNvCxnSpPr>
            <a:cxnSpLocks/>
            <a:stCxn id="29" idx="6"/>
            <a:endCxn id="31" idx="2"/>
          </p:cNvCxnSpPr>
          <p:nvPr/>
        </p:nvCxnSpPr>
        <p:spPr>
          <a:xfrm>
            <a:off x="5196477" y="5096778"/>
            <a:ext cx="19959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EF20376-3806-09C6-FB11-2F41480CB4D9}"/>
              </a:ext>
            </a:extLst>
          </p:cNvPr>
          <p:cNvSpPr txBox="1"/>
          <p:nvPr/>
        </p:nvSpPr>
        <p:spPr>
          <a:xfrm>
            <a:off x="6961095" y="5512414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Alice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DA7A95-83C7-9644-2D06-777F0DFA4F75}"/>
              </a:ext>
            </a:extLst>
          </p:cNvPr>
          <p:cNvSpPr txBox="1"/>
          <p:nvPr/>
        </p:nvSpPr>
        <p:spPr>
          <a:xfrm>
            <a:off x="5242692" y="4681142"/>
            <a:ext cx="1903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Facebook friends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78F05C-A83E-7C0C-19C5-112C60D8E2B3}"/>
              </a:ext>
            </a:extLst>
          </p:cNvPr>
          <p:cNvSpPr txBox="1"/>
          <p:nvPr/>
        </p:nvSpPr>
        <p:spPr>
          <a:xfrm>
            <a:off x="1982581" y="3279596"/>
            <a:ext cx="26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Transportation modeling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81222-5023-83AD-45F8-F5CAA9B4950C}"/>
              </a:ext>
            </a:extLst>
          </p:cNvPr>
          <p:cNvSpPr txBox="1"/>
          <p:nvPr/>
        </p:nvSpPr>
        <p:spPr>
          <a:xfrm>
            <a:off x="7546727" y="3244334"/>
            <a:ext cx="242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Dependency modeling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2C0E1C-2F28-AB09-8C54-52C06F5210BE}"/>
              </a:ext>
            </a:extLst>
          </p:cNvPr>
          <p:cNvSpPr txBox="1"/>
          <p:nvPr/>
        </p:nvSpPr>
        <p:spPr>
          <a:xfrm>
            <a:off x="4917843" y="6078231"/>
            <a:ext cx="2995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Representing social network</a:t>
            </a:r>
          </a:p>
        </p:txBody>
      </p:sp>
    </p:spTree>
    <p:extLst>
      <p:ext uri="{BB962C8B-B14F-4D97-AF65-F5344CB8AC3E}">
        <p14:creationId xmlns:p14="http://schemas.microsoft.com/office/powerpoint/2010/main" val="139058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9" grpId="0"/>
      <p:bldP spid="10" grpId="0"/>
      <p:bldP spid="20" grpId="0"/>
      <p:bldP spid="21" grpId="0" animBg="1"/>
      <p:bldP spid="22" grpId="0"/>
      <p:bldP spid="23" grpId="0" animBg="1"/>
      <p:bldP spid="25" grpId="0"/>
      <p:bldP spid="26" grpId="0"/>
      <p:bldP spid="29" grpId="0" animBg="1"/>
      <p:bldP spid="30" grpId="0"/>
      <p:bldP spid="31" grpId="0" animBg="1"/>
      <p:bldP spid="33" grpId="0"/>
      <p:bldP spid="34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3A9FA-7A13-4A44-7BAD-FF49B837E39E}"/>
              </a:ext>
            </a:extLst>
          </p:cNvPr>
          <p:cNvSpPr txBox="1"/>
          <p:nvPr/>
        </p:nvSpPr>
        <p:spPr>
          <a:xfrm>
            <a:off x="4812587" y="171926"/>
            <a:ext cx="2903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Examples - Complex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6F57C-6348-C35A-A58F-46B886A2F260}"/>
              </a:ext>
            </a:extLst>
          </p:cNvPr>
          <p:cNvSpPr txBox="1"/>
          <p:nvPr/>
        </p:nvSpPr>
        <p:spPr>
          <a:xfrm>
            <a:off x="3182587" y="6545641"/>
            <a:ext cx="88827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https://</a:t>
            </a:r>
            <a:r>
              <a:rPr lang="en-US" sz="1200" dirty="0" err="1">
                <a:highlight>
                  <a:srgbClr val="FFFF00"/>
                </a:highlight>
              </a:rPr>
              <a:t>towardsdatascience.com</a:t>
            </a:r>
            <a:r>
              <a:rPr lang="en-US" sz="1200" dirty="0">
                <a:highlight>
                  <a:srgbClr val="FFFF00"/>
                </a:highlight>
              </a:rPr>
              <a:t>/catching-that-flight-visualizing-social-network-with-networkx-and-basemap-ce4a0d2eaea6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508E14-1034-88EE-8253-3DCD580BD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78" y="633591"/>
            <a:ext cx="10580914" cy="585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3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B775E1-14C1-D08B-337E-EE12DEB39136}"/>
              </a:ext>
            </a:extLst>
          </p:cNvPr>
          <p:cNvSpPr/>
          <p:nvPr/>
        </p:nvSpPr>
        <p:spPr>
          <a:xfrm>
            <a:off x="1365663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1D14F-2AC7-6BC5-1EEA-2229E898D72D}"/>
              </a:ext>
            </a:extLst>
          </p:cNvPr>
          <p:cNvSpPr txBox="1"/>
          <p:nvPr/>
        </p:nvSpPr>
        <p:spPr>
          <a:xfrm>
            <a:off x="1463379" y="2695699"/>
            <a:ext cx="730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00591D-55BC-D776-367C-5C1AFABE3A54}"/>
              </a:ext>
            </a:extLst>
          </p:cNvPr>
          <p:cNvSpPr/>
          <p:nvPr/>
        </p:nvSpPr>
        <p:spPr>
          <a:xfrm>
            <a:off x="3940630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9EC9A-1AE3-E6AA-0BA4-09CF6AB1498E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2291938" y="2280063"/>
            <a:ext cx="16486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F37A6C-DE9E-D940-8DD4-EEEB0E79B77D}"/>
              </a:ext>
            </a:extLst>
          </p:cNvPr>
          <p:cNvSpPr txBox="1"/>
          <p:nvPr/>
        </p:nvSpPr>
        <p:spPr>
          <a:xfrm>
            <a:off x="4056556" y="2695699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JFK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FE7EA-8AB7-D325-53CA-F767999680AA}"/>
              </a:ext>
            </a:extLst>
          </p:cNvPr>
          <p:cNvSpPr txBox="1"/>
          <p:nvPr/>
        </p:nvSpPr>
        <p:spPr>
          <a:xfrm>
            <a:off x="2543050" y="184601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759 miles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E96D3-616D-B1E5-D49D-7CF6BBF4EF73}"/>
              </a:ext>
            </a:extLst>
          </p:cNvPr>
          <p:cNvSpPr txBox="1"/>
          <p:nvPr/>
        </p:nvSpPr>
        <p:spPr>
          <a:xfrm>
            <a:off x="1362566" y="846737"/>
            <a:ext cx="4653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Going back to simple examples….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E357BC-FE8C-B9AD-D230-00BACEFD5B69}"/>
              </a:ext>
            </a:extLst>
          </p:cNvPr>
          <p:cNvSpPr/>
          <p:nvPr/>
        </p:nvSpPr>
        <p:spPr>
          <a:xfrm>
            <a:off x="6729241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937079-FC85-295C-E214-A20A6C996F94}"/>
              </a:ext>
            </a:extLst>
          </p:cNvPr>
          <p:cNvSpPr txBox="1"/>
          <p:nvPr/>
        </p:nvSpPr>
        <p:spPr>
          <a:xfrm>
            <a:off x="6365068" y="2761120"/>
            <a:ext cx="1654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CSC1301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E96CF3-7A2C-3B2C-4325-BA7B2BF87076}"/>
              </a:ext>
            </a:extLst>
          </p:cNvPr>
          <p:cNvSpPr/>
          <p:nvPr/>
        </p:nvSpPr>
        <p:spPr>
          <a:xfrm>
            <a:off x="9304208" y="1864427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B76C6C-792D-7596-A5AE-6AF2AF2A7308}"/>
              </a:ext>
            </a:extLst>
          </p:cNvPr>
          <p:cNvSpPr txBox="1"/>
          <p:nvPr/>
        </p:nvSpPr>
        <p:spPr>
          <a:xfrm>
            <a:off x="9053096" y="2761120"/>
            <a:ext cx="1654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CSC1302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9BEB5B-DBCE-BCC1-BB7D-38B7D9C68433}"/>
              </a:ext>
            </a:extLst>
          </p:cNvPr>
          <p:cNvSpPr txBox="1"/>
          <p:nvPr/>
        </p:nvSpPr>
        <p:spPr>
          <a:xfrm>
            <a:off x="7572145" y="1804347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a perquisite of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E4E195-E207-0848-DA4D-3BE8FF3042F5}"/>
              </a:ext>
            </a:extLst>
          </p:cNvPr>
          <p:cNvCxnSpPr>
            <a:stCxn id="21" idx="6"/>
            <a:endCxn id="23" idx="2"/>
          </p:cNvCxnSpPr>
          <p:nvPr/>
        </p:nvCxnSpPr>
        <p:spPr>
          <a:xfrm>
            <a:off x="7655516" y="2280063"/>
            <a:ext cx="16486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578F05C-A83E-7C0C-19C5-112C60D8E2B3}"/>
              </a:ext>
            </a:extLst>
          </p:cNvPr>
          <p:cNvSpPr txBox="1"/>
          <p:nvPr/>
        </p:nvSpPr>
        <p:spPr>
          <a:xfrm>
            <a:off x="1982581" y="3279596"/>
            <a:ext cx="26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Transportation modeling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81222-5023-83AD-45F8-F5CAA9B4950C}"/>
              </a:ext>
            </a:extLst>
          </p:cNvPr>
          <p:cNvSpPr txBox="1"/>
          <p:nvPr/>
        </p:nvSpPr>
        <p:spPr>
          <a:xfrm>
            <a:off x="7546727" y="3244334"/>
            <a:ext cx="2421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Dependency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DAEB9-FB0B-B0AD-947C-4BBB5496D167}"/>
              </a:ext>
            </a:extLst>
          </p:cNvPr>
          <p:cNvSpPr txBox="1"/>
          <p:nvPr/>
        </p:nvSpPr>
        <p:spPr>
          <a:xfrm>
            <a:off x="2543050" y="4151533"/>
            <a:ext cx="7404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 you see any differences between these two graphs?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52332-CE62-B3A2-865A-8168D73B33F6}"/>
              </a:ext>
            </a:extLst>
          </p:cNvPr>
          <p:cNvSpPr txBox="1"/>
          <p:nvPr/>
        </p:nvSpPr>
        <p:spPr>
          <a:xfrm>
            <a:off x="4362202" y="5307997"/>
            <a:ext cx="4173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Undirected vs Directed Edges!</a:t>
            </a:r>
          </a:p>
        </p:txBody>
      </p:sp>
    </p:spTree>
    <p:extLst>
      <p:ext uri="{BB962C8B-B14F-4D97-AF65-F5344CB8AC3E}">
        <p14:creationId xmlns:p14="http://schemas.microsoft.com/office/powerpoint/2010/main" val="16259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9" grpId="0"/>
      <p:bldP spid="10" grpId="0"/>
      <p:bldP spid="20" grpId="0"/>
      <p:bldP spid="21" grpId="0" animBg="1"/>
      <p:bldP spid="22" grpId="0"/>
      <p:bldP spid="23" grpId="0" animBg="1"/>
      <p:bldP spid="25" grpId="0"/>
      <p:bldP spid="26" grpId="0"/>
      <p:bldP spid="36" grpId="0"/>
      <p:bldP spid="37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2AAAE8-9ED8-96C4-B4A3-BB43C60E9C0E}"/>
              </a:ext>
            </a:extLst>
          </p:cNvPr>
          <p:cNvSpPr txBox="1"/>
          <p:nvPr/>
        </p:nvSpPr>
        <p:spPr>
          <a:xfrm>
            <a:off x="4545611" y="852341"/>
            <a:ext cx="338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Directed vs Undirected Graphs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8E0302-B2B4-44DA-F4D0-C68382E57667}"/>
              </a:ext>
            </a:extLst>
          </p:cNvPr>
          <p:cNvSpPr/>
          <p:nvPr/>
        </p:nvSpPr>
        <p:spPr>
          <a:xfrm>
            <a:off x="1668450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DA66D3-CDF9-C394-BBE1-3DFAFF3C6CA8}"/>
              </a:ext>
            </a:extLst>
          </p:cNvPr>
          <p:cNvSpPr/>
          <p:nvPr/>
        </p:nvSpPr>
        <p:spPr>
          <a:xfrm>
            <a:off x="1668450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1CE1F9-7530-B4FB-D8E4-68EB08C91EDC}"/>
              </a:ext>
            </a:extLst>
          </p:cNvPr>
          <p:cNvSpPr/>
          <p:nvPr/>
        </p:nvSpPr>
        <p:spPr>
          <a:xfrm>
            <a:off x="4233232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474D2A-9FD6-A1E6-D62C-1B1D2FD12724}"/>
              </a:ext>
            </a:extLst>
          </p:cNvPr>
          <p:cNvSpPr/>
          <p:nvPr/>
        </p:nvSpPr>
        <p:spPr>
          <a:xfrm>
            <a:off x="4233232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345C3-C64C-7515-8B43-FC1BE1B4BBC5}"/>
              </a:ext>
            </a:extLst>
          </p:cNvPr>
          <p:cNvSpPr txBox="1"/>
          <p:nvPr/>
        </p:nvSpPr>
        <p:spPr>
          <a:xfrm>
            <a:off x="2131052" y="241946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3D881-7F72-BED2-9771-887EA4142DB8}"/>
              </a:ext>
            </a:extLst>
          </p:cNvPr>
          <p:cNvSpPr txBox="1"/>
          <p:nvPr/>
        </p:nvSpPr>
        <p:spPr>
          <a:xfrm>
            <a:off x="1977003" y="21109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A2EE5-30C8-ECE0-A7BE-1F193FEC3987}"/>
              </a:ext>
            </a:extLst>
          </p:cNvPr>
          <p:cNvSpPr txBox="1"/>
          <p:nvPr/>
        </p:nvSpPr>
        <p:spPr>
          <a:xfrm>
            <a:off x="4513295" y="21368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6A17E-55F8-3922-7017-2B96ABA5684F}"/>
              </a:ext>
            </a:extLst>
          </p:cNvPr>
          <p:cNvSpPr txBox="1"/>
          <p:nvPr/>
        </p:nvSpPr>
        <p:spPr>
          <a:xfrm>
            <a:off x="1974365" y="40894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FEB55-87CA-4760-AF82-DAFF27BA1683}"/>
              </a:ext>
            </a:extLst>
          </p:cNvPr>
          <p:cNvSpPr txBox="1"/>
          <p:nvPr/>
        </p:nvSpPr>
        <p:spPr>
          <a:xfrm>
            <a:off x="4542320" y="40636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E3A837-5914-8CF7-3BBB-0FD203EDF9EB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2594725" y="2321497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9C6D8F-E8C5-5A93-A063-B447BC432157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2131588" y="2737133"/>
            <a:ext cx="0" cy="1095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174785-9D6E-246D-FA01-CF43A88774A0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2459075" y="2615396"/>
            <a:ext cx="1909807" cy="133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95998B-7B6C-0BB8-01CA-84F792542FA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594725" y="4248269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E52DD7F-660D-D005-A5A1-F4A36DEFDF03}"/>
              </a:ext>
            </a:extLst>
          </p:cNvPr>
          <p:cNvSpPr/>
          <p:nvPr/>
        </p:nvSpPr>
        <p:spPr>
          <a:xfrm>
            <a:off x="7234363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37E6AA-DAA9-6BF4-95F0-E1CABC711CCA}"/>
              </a:ext>
            </a:extLst>
          </p:cNvPr>
          <p:cNvSpPr/>
          <p:nvPr/>
        </p:nvSpPr>
        <p:spPr>
          <a:xfrm>
            <a:off x="7234363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4EFA59D-9605-C4CA-D2F0-62675F20D651}"/>
              </a:ext>
            </a:extLst>
          </p:cNvPr>
          <p:cNvSpPr/>
          <p:nvPr/>
        </p:nvSpPr>
        <p:spPr>
          <a:xfrm>
            <a:off x="9799145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1545A4A-852D-8FF3-B8F5-B4DBC751F3E3}"/>
              </a:ext>
            </a:extLst>
          </p:cNvPr>
          <p:cNvSpPr/>
          <p:nvPr/>
        </p:nvSpPr>
        <p:spPr>
          <a:xfrm>
            <a:off x="9799145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78BD07-6869-E7C0-8343-F7766F799BC7}"/>
              </a:ext>
            </a:extLst>
          </p:cNvPr>
          <p:cNvSpPr txBox="1"/>
          <p:nvPr/>
        </p:nvSpPr>
        <p:spPr>
          <a:xfrm>
            <a:off x="7696965" y="241946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0532C2-7BA0-1E3E-6E59-9FF7EF9CE161}"/>
              </a:ext>
            </a:extLst>
          </p:cNvPr>
          <p:cNvSpPr txBox="1"/>
          <p:nvPr/>
        </p:nvSpPr>
        <p:spPr>
          <a:xfrm>
            <a:off x="7542916" y="21109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758F2A-6506-CF9E-AFF6-5139522D90C7}"/>
              </a:ext>
            </a:extLst>
          </p:cNvPr>
          <p:cNvSpPr txBox="1"/>
          <p:nvPr/>
        </p:nvSpPr>
        <p:spPr>
          <a:xfrm>
            <a:off x="10079208" y="21368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E0C504-CBD9-0BD9-277A-CFBE42C66A3B}"/>
              </a:ext>
            </a:extLst>
          </p:cNvPr>
          <p:cNvSpPr txBox="1"/>
          <p:nvPr/>
        </p:nvSpPr>
        <p:spPr>
          <a:xfrm>
            <a:off x="7540278" y="40894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1A9192-154B-F4A0-3BC7-F7310563BEE2}"/>
              </a:ext>
            </a:extLst>
          </p:cNvPr>
          <p:cNvSpPr txBox="1"/>
          <p:nvPr/>
        </p:nvSpPr>
        <p:spPr>
          <a:xfrm>
            <a:off x="10108233" y="40636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31ECF3B-7E0B-EFAE-9EAD-2BD701343A08}"/>
              </a:ext>
            </a:extLst>
          </p:cNvPr>
          <p:cNvCxnSpPr>
            <a:stCxn id="43" idx="6"/>
            <a:endCxn id="45" idx="2"/>
          </p:cNvCxnSpPr>
          <p:nvPr/>
        </p:nvCxnSpPr>
        <p:spPr>
          <a:xfrm>
            <a:off x="8160638" y="2321497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C52B54-AA7A-4ADC-8989-F932CF5F70CE}"/>
              </a:ext>
            </a:extLst>
          </p:cNvPr>
          <p:cNvCxnSpPr>
            <a:stCxn id="43" idx="4"/>
            <a:endCxn id="44" idx="0"/>
          </p:cNvCxnSpPr>
          <p:nvPr/>
        </p:nvCxnSpPr>
        <p:spPr>
          <a:xfrm>
            <a:off x="7697501" y="2737133"/>
            <a:ext cx="0" cy="1095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0E2D86-A1B4-63CA-3BB0-DB83116AA841}"/>
              </a:ext>
            </a:extLst>
          </p:cNvPr>
          <p:cNvCxnSpPr>
            <a:stCxn id="44" idx="7"/>
            <a:endCxn id="45" idx="3"/>
          </p:cNvCxnSpPr>
          <p:nvPr/>
        </p:nvCxnSpPr>
        <p:spPr>
          <a:xfrm flipV="1">
            <a:off x="8024988" y="2615396"/>
            <a:ext cx="1909807" cy="133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66584B2-DA36-7850-350D-043816A9B780}"/>
              </a:ext>
            </a:extLst>
          </p:cNvPr>
          <p:cNvCxnSpPr>
            <a:stCxn id="44" idx="6"/>
            <a:endCxn id="46" idx="2"/>
          </p:cNvCxnSpPr>
          <p:nvPr/>
        </p:nvCxnSpPr>
        <p:spPr>
          <a:xfrm>
            <a:off x="8160638" y="4248269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C77B14A-53A9-A610-369A-BA75A66E02C3}"/>
              </a:ext>
            </a:extLst>
          </p:cNvPr>
          <p:cNvSpPr txBox="1"/>
          <p:nvPr/>
        </p:nvSpPr>
        <p:spPr>
          <a:xfrm>
            <a:off x="1612791" y="4957804"/>
            <a:ext cx="389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Undirected Graph</a:t>
            </a:r>
          </a:p>
          <a:p>
            <a:pPr algn="ctr"/>
            <a:r>
              <a:rPr lang="en-US" dirty="0"/>
              <a:t>(edges have no specific directions)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27CD19-CA87-CCD7-CE9C-5891EC39703C}"/>
              </a:ext>
            </a:extLst>
          </p:cNvPr>
          <p:cNvSpPr txBox="1"/>
          <p:nvPr/>
        </p:nvSpPr>
        <p:spPr>
          <a:xfrm>
            <a:off x="7031236" y="5008814"/>
            <a:ext cx="389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Directed Graph</a:t>
            </a:r>
          </a:p>
          <a:p>
            <a:pPr algn="ctr"/>
            <a:r>
              <a:rPr lang="en-US" dirty="0"/>
              <a:t>(edges have specific directions)</a:t>
            </a:r>
          </a:p>
        </p:txBody>
      </p:sp>
    </p:spTree>
    <p:extLst>
      <p:ext uri="{BB962C8B-B14F-4D97-AF65-F5344CB8AC3E}">
        <p14:creationId xmlns:p14="http://schemas.microsoft.com/office/powerpoint/2010/main" val="390587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9" grpId="0"/>
      <p:bldP spid="20" grpId="0"/>
      <p:bldP spid="21" grpId="0"/>
      <p:bldP spid="22" grpId="0"/>
      <p:bldP spid="23" grpId="0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2AAAE8-9ED8-96C4-B4A3-BB43C60E9C0E}"/>
              </a:ext>
            </a:extLst>
          </p:cNvPr>
          <p:cNvSpPr txBox="1"/>
          <p:nvPr/>
        </p:nvSpPr>
        <p:spPr>
          <a:xfrm>
            <a:off x="4368882" y="810361"/>
            <a:ext cx="355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Weighted vs Unweighted Graphs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8E0302-B2B4-44DA-F4D0-C68382E57667}"/>
              </a:ext>
            </a:extLst>
          </p:cNvPr>
          <p:cNvSpPr/>
          <p:nvPr/>
        </p:nvSpPr>
        <p:spPr>
          <a:xfrm>
            <a:off x="1668450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DA66D3-CDF9-C394-BBE1-3DFAFF3C6CA8}"/>
              </a:ext>
            </a:extLst>
          </p:cNvPr>
          <p:cNvSpPr/>
          <p:nvPr/>
        </p:nvSpPr>
        <p:spPr>
          <a:xfrm>
            <a:off x="1668450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1CE1F9-7530-B4FB-D8E4-68EB08C91EDC}"/>
              </a:ext>
            </a:extLst>
          </p:cNvPr>
          <p:cNvSpPr/>
          <p:nvPr/>
        </p:nvSpPr>
        <p:spPr>
          <a:xfrm>
            <a:off x="4233232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474D2A-9FD6-A1E6-D62C-1B1D2FD12724}"/>
              </a:ext>
            </a:extLst>
          </p:cNvPr>
          <p:cNvSpPr/>
          <p:nvPr/>
        </p:nvSpPr>
        <p:spPr>
          <a:xfrm>
            <a:off x="4233232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345C3-C64C-7515-8B43-FC1BE1B4BBC5}"/>
              </a:ext>
            </a:extLst>
          </p:cNvPr>
          <p:cNvSpPr txBox="1"/>
          <p:nvPr/>
        </p:nvSpPr>
        <p:spPr>
          <a:xfrm>
            <a:off x="2131052" y="241946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3D881-7F72-BED2-9771-887EA4142DB8}"/>
              </a:ext>
            </a:extLst>
          </p:cNvPr>
          <p:cNvSpPr txBox="1"/>
          <p:nvPr/>
        </p:nvSpPr>
        <p:spPr>
          <a:xfrm>
            <a:off x="1977003" y="21109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A2EE5-30C8-ECE0-A7BE-1F193FEC3987}"/>
              </a:ext>
            </a:extLst>
          </p:cNvPr>
          <p:cNvSpPr txBox="1"/>
          <p:nvPr/>
        </p:nvSpPr>
        <p:spPr>
          <a:xfrm>
            <a:off x="4513295" y="21368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6A17E-55F8-3922-7017-2B96ABA5684F}"/>
              </a:ext>
            </a:extLst>
          </p:cNvPr>
          <p:cNvSpPr txBox="1"/>
          <p:nvPr/>
        </p:nvSpPr>
        <p:spPr>
          <a:xfrm>
            <a:off x="1974365" y="40894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FEB55-87CA-4760-AF82-DAFF27BA1683}"/>
              </a:ext>
            </a:extLst>
          </p:cNvPr>
          <p:cNvSpPr txBox="1"/>
          <p:nvPr/>
        </p:nvSpPr>
        <p:spPr>
          <a:xfrm>
            <a:off x="4542320" y="40636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5E3A837-5914-8CF7-3BBB-0FD203EDF9EB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2594725" y="2321497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9C6D8F-E8C5-5A93-A063-B447BC432157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2131588" y="2737133"/>
            <a:ext cx="0" cy="1095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174785-9D6E-246D-FA01-CF43A88774A0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2459075" y="2615396"/>
            <a:ext cx="1909807" cy="133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95998B-7B6C-0BB8-01CA-84F792542FA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594725" y="4248269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E52DD7F-660D-D005-A5A1-F4A36DEFDF03}"/>
              </a:ext>
            </a:extLst>
          </p:cNvPr>
          <p:cNvSpPr/>
          <p:nvPr/>
        </p:nvSpPr>
        <p:spPr>
          <a:xfrm>
            <a:off x="7234363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37E6AA-DAA9-6BF4-95F0-E1CABC711CCA}"/>
              </a:ext>
            </a:extLst>
          </p:cNvPr>
          <p:cNvSpPr/>
          <p:nvPr/>
        </p:nvSpPr>
        <p:spPr>
          <a:xfrm>
            <a:off x="7234363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4EFA59D-9605-C4CA-D2F0-62675F20D651}"/>
              </a:ext>
            </a:extLst>
          </p:cNvPr>
          <p:cNvSpPr/>
          <p:nvPr/>
        </p:nvSpPr>
        <p:spPr>
          <a:xfrm>
            <a:off x="9799145" y="190586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1545A4A-852D-8FF3-B8F5-B4DBC751F3E3}"/>
              </a:ext>
            </a:extLst>
          </p:cNvPr>
          <p:cNvSpPr/>
          <p:nvPr/>
        </p:nvSpPr>
        <p:spPr>
          <a:xfrm>
            <a:off x="9799145" y="383263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78BD07-6869-E7C0-8343-F7766F799BC7}"/>
              </a:ext>
            </a:extLst>
          </p:cNvPr>
          <p:cNvSpPr txBox="1"/>
          <p:nvPr/>
        </p:nvSpPr>
        <p:spPr>
          <a:xfrm>
            <a:off x="7696965" y="241946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0532C2-7BA0-1E3E-6E59-9FF7EF9CE161}"/>
              </a:ext>
            </a:extLst>
          </p:cNvPr>
          <p:cNvSpPr txBox="1"/>
          <p:nvPr/>
        </p:nvSpPr>
        <p:spPr>
          <a:xfrm>
            <a:off x="7542916" y="21109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758F2A-6506-CF9E-AFF6-5139522D90C7}"/>
              </a:ext>
            </a:extLst>
          </p:cNvPr>
          <p:cNvSpPr txBox="1"/>
          <p:nvPr/>
        </p:nvSpPr>
        <p:spPr>
          <a:xfrm>
            <a:off x="10079208" y="21368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E0C504-CBD9-0BD9-277A-CFBE42C66A3B}"/>
              </a:ext>
            </a:extLst>
          </p:cNvPr>
          <p:cNvSpPr txBox="1"/>
          <p:nvPr/>
        </p:nvSpPr>
        <p:spPr>
          <a:xfrm>
            <a:off x="7540278" y="408943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1A9192-154B-F4A0-3BC7-F7310563BEE2}"/>
              </a:ext>
            </a:extLst>
          </p:cNvPr>
          <p:cNvSpPr txBox="1"/>
          <p:nvPr/>
        </p:nvSpPr>
        <p:spPr>
          <a:xfrm>
            <a:off x="10108233" y="40636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77B14A-53A9-A610-369A-BA75A66E02C3}"/>
              </a:ext>
            </a:extLst>
          </p:cNvPr>
          <p:cNvSpPr txBox="1"/>
          <p:nvPr/>
        </p:nvSpPr>
        <p:spPr>
          <a:xfrm>
            <a:off x="1465323" y="4876465"/>
            <a:ext cx="3897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Unweighted Graph</a:t>
            </a:r>
          </a:p>
          <a:p>
            <a:pPr algn="ctr"/>
            <a:r>
              <a:rPr lang="en-US" sz="2400" dirty="0"/>
              <a:t>(edges don’t have associated numerical values/weights)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3899F-1030-FC3E-1364-D4C16D0878D1}"/>
              </a:ext>
            </a:extLst>
          </p:cNvPr>
          <p:cNvSpPr txBox="1"/>
          <p:nvPr/>
        </p:nvSpPr>
        <p:spPr>
          <a:xfrm>
            <a:off x="7234363" y="4847310"/>
            <a:ext cx="3897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Weighted Graph</a:t>
            </a:r>
          </a:p>
          <a:p>
            <a:pPr algn="ctr"/>
            <a:r>
              <a:rPr lang="en-US" sz="2400" dirty="0"/>
              <a:t>(edges have associated numerical values/weights)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55C35D-260C-76F6-31F9-ABF4E6A01761}"/>
              </a:ext>
            </a:extLst>
          </p:cNvPr>
          <p:cNvSpPr txBox="1"/>
          <p:nvPr/>
        </p:nvSpPr>
        <p:spPr>
          <a:xfrm>
            <a:off x="8807485" y="192421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831EA-B26A-7A70-0A27-74D2C5D1068D}"/>
              </a:ext>
            </a:extLst>
          </p:cNvPr>
          <p:cNvSpPr txBox="1"/>
          <p:nvPr/>
        </p:nvSpPr>
        <p:spPr>
          <a:xfrm>
            <a:off x="7309463" y="30367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CC386-32BC-F42F-7C4E-6FE7E9CB0B5F}"/>
              </a:ext>
            </a:extLst>
          </p:cNvPr>
          <p:cNvSpPr txBox="1"/>
          <p:nvPr/>
        </p:nvSpPr>
        <p:spPr>
          <a:xfrm>
            <a:off x="8671793" y="29496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8F403-8562-A5D2-3372-7D260571C311}"/>
              </a:ext>
            </a:extLst>
          </p:cNvPr>
          <p:cNvSpPr txBox="1"/>
          <p:nvPr/>
        </p:nvSpPr>
        <p:spPr>
          <a:xfrm>
            <a:off x="8825842" y="427142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9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F3D4BE-24E6-AD9D-D1DD-D8A055FC6286}"/>
              </a:ext>
            </a:extLst>
          </p:cNvPr>
          <p:cNvCxnSpPr>
            <a:cxnSpLocks/>
          </p:cNvCxnSpPr>
          <p:nvPr/>
        </p:nvCxnSpPr>
        <p:spPr>
          <a:xfrm>
            <a:off x="7694327" y="2737133"/>
            <a:ext cx="0" cy="1095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1F415E-F0B5-5AE5-647B-42BCEA99893C}"/>
              </a:ext>
            </a:extLst>
          </p:cNvPr>
          <p:cNvCxnSpPr>
            <a:cxnSpLocks/>
          </p:cNvCxnSpPr>
          <p:nvPr/>
        </p:nvCxnSpPr>
        <p:spPr>
          <a:xfrm>
            <a:off x="8160637" y="2310492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AD1159-7758-68F8-8F48-EC0C3C456AC4}"/>
              </a:ext>
            </a:extLst>
          </p:cNvPr>
          <p:cNvCxnSpPr>
            <a:cxnSpLocks/>
          </p:cNvCxnSpPr>
          <p:nvPr/>
        </p:nvCxnSpPr>
        <p:spPr>
          <a:xfrm flipV="1">
            <a:off x="8068345" y="2654338"/>
            <a:ext cx="1909807" cy="133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9C6911-BFE8-57BD-BC3D-B2A0EA187280}"/>
              </a:ext>
            </a:extLst>
          </p:cNvPr>
          <p:cNvCxnSpPr>
            <a:cxnSpLocks/>
          </p:cNvCxnSpPr>
          <p:nvPr/>
        </p:nvCxnSpPr>
        <p:spPr>
          <a:xfrm>
            <a:off x="8160636" y="4271421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8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6" grpId="0"/>
      <p:bldP spid="3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2AAAE8-9ED8-96C4-B4A3-BB43C60E9C0E}"/>
              </a:ext>
            </a:extLst>
          </p:cNvPr>
          <p:cNvSpPr txBox="1"/>
          <p:nvPr/>
        </p:nvSpPr>
        <p:spPr>
          <a:xfrm>
            <a:off x="3690181" y="362004"/>
            <a:ext cx="4811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Acyclic vs Cyclic Graphs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E52DD7F-660D-D005-A5A1-F4A36DEFDF03}"/>
              </a:ext>
            </a:extLst>
          </p:cNvPr>
          <p:cNvSpPr/>
          <p:nvPr/>
        </p:nvSpPr>
        <p:spPr>
          <a:xfrm>
            <a:off x="6971970" y="130724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37E6AA-DAA9-6BF4-95F0-E1CABC711CCA}"/>
              </a:ext>
            </a:extLst>
          </p:cNvPr>
          <p:cNvSpPr/>
          <p:nvPr/>
        </p:nvSpPr>
        <p:spPr>
          <a:xfrm>
            <a:off x="6971970" y="323401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4EFA59D-9605-C4CA-D2F0-62675F20D651}"/>
              </a:ext>
            </a:extLst>
          </p:cNvPr>
          <p:cNvSpPr/>
          <p:nvPr/>
        </p:nvSpPr>
        <p:spPr>
          <a:xfrm>
            <a:off x="9536752" y="130724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1545A4A-852D-8FF3-B8F5-B4DBC751F3E3}"/>
              </a:ext>
            </a:extLst>
          </p:cNvPr>
          <p:cNvSpPr/>
          <p:nvPr/>
        </p:nvSpPr>
        <p:spPr>
          <a:xfrm>
            <a:off x="9536752" y="3234013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78BD07-6869-E7C0-8343-F7766F799BC7}"/>
              </a:ext>
            </a:extLst>
          </p:cNvPr>
          <p:cNvSpPr txBox="1"/>
          <p:nvPr/>
        </p:nvSpPr>
        <p:spPr>
          <a:xfrm>
            <a:off x="7434572" y="182084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0532C2-7BA0-1E3E-6E59-9FF7EF9CE161}"/>
              </a:ext>
            </a:extLst>
          </p:cNvPr>
          <p:cNvSpPr txBox="1"/>
          <p:nvPr/>
        </p:nvSpPr>
        <p:spPr>
          <a:xfrm>
            <a:off x="7280523" y="15123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758F2A-6506-CF9E-AFF6-5139522D90C7}"/>
              </a:ext>
            </a:extLst>
          </p:cNvPr>
          <p:cNvSpPr txBox="1"/>
          <p:nvPr/>
        </p:nvSpPr>
        <p:spPr>
          <a:xfrm>
            <a:off x="9816815" y="15382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E0C504-CBD9-0BD9-277A-CFBE42C66A3B}"/>
              </a:ext>
            </a:extLst>
          </p:cNvPr>
          <p:cNvSpPr txBox="1"/>
          <p:nvPr/>
        </p:nvSpPr>
        <p:spPr>
          <a:xfrm>
            <a:off x="7277885" y="349081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1A9192-154B-F4A0-3BC7-F7310563BEE2}"/>
              </a:ext>
            </a:extLst>
          </p:cNvPr>
          <p:cNvSpPr txBox="1"/>
          <p:nvPr/>
        </p:nvSpPr>
        <p:spPr>
          <a:xfrm>
            <a:off x="9845840" y="346498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DC52B54-AA7A-4ADC-8989-F932CF5F70CE}"/>
              </a:ext>
            </a:extLst>
          </p:cNvPr>
          <p:cNvCxnSpPr>
            <a:cxnSpLocks/>
            <a:stCxn id="43" idx="6"/>
            <a:endCxn id="45" idx="2"/>
          </p:cNvCxnSpPr>
          <p:nvPr/>
        </p:nvCxnSpPr>
        <p:spPr>
          <a:xfrm>
            <a:off x="7898245" y="1722877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60E2D86-A1B4-63CA-3BB0-DB83116AA841}"/>
              </a:ext>
            </a:extLst>
          </p:cNvPr>
          <p:cNvCxnSpPr>
            <a:cxnSpLocks/>
            <a:stCxn id="45" idx="3"/>
            <a:endCxn id="44" idx="7"/>
          </p:cNvCxnSpPr>
          <p:nvPr/>
        </p:nvCxnSpPr>
        <p:spPr>
          <a:xfrm flipH="1">
            <a:off x="7762595" y="2016776"/>
            <a:ext cx="1909807" cy="13389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66584B2-DA36-7850-350D-043816A9B780}"/>
              </a:ext>
            </a:extLst>
          </p:cNvPr>
          <p:cNvCxnSpPr>
            <a:stCxn id="44" idx="6"/>
            <a:endCxn id="46" idx="2"/>
          </p:cNvCxnSpPr>
          <p:nvPr/>
        </p:nvCxnSpPr>
        <p:spPr>
          <a:xfrm>
            <a:off x="7898245" y="3649649"/>
            <a:ext cx="16385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C3899F-1030-FC3E-1364-D4C16D0878D1}"/>
              </a:ext>
            </a:extLst>
          </p:cNvPr>
          <p:cNvSpPr txBox="1"/>
          <p:nvPr/>
        </p:nvSpPr>
        <p:spPr>
          <a:xfrm>
            <a:off x="6858537" y="3998955"/>
            <a:ext cx="3897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Cyclic Graph</a:t>
            </a:r>
          </a:p>
          <a:p>
            <a:pPr algn="ctr"/>
            <a:r>
              <a:rPr lang="en-US" sz="2400" dirty="0"/>
              <a:t>(have cycles)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AC897F1-F78D-CE86-A791-14865B2C7588}"/>
              </a:ext>
            </a:extLst>
          </p:cNvPr>
          <p:cNvSpPr/>
          <p:nvPr/>
        </p:nvSpPr>
        <p:spPr>
          <a:xfrm>
            <a:off x="1590264" y="1308569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3B93D45-BA43-DFB8-37A5-0D7B66A95CD6}"/>
              </a:ext>
            </a:extLst>
          </p:cNvPr>
          <p:cNvSpPr/>
          <p:nvPr/>
        </p:nvSpPr>
        <p:spPr>
          <a:xfrm>
            <a:off x="1590264" y="323534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D1D13A4-8098-8D42-EDEF-479D98391047}"/>
              </a:ext>
            </a:extLst>
          </p:cNvPr>
          <p:cNvSpPr/>
          <p:nvPr/>
        </p:nvSpPr>
        <p:spPr>
          <a:xfrm>
            <a:off x="4155046" y="1308569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79DA826-331D-16AB-959C-5871F82423B4}"/>
              </a:ext>
            </a:extLst>
          </p:cNvPr>
          <p:cNvSpPr/>
          <p:nvPr/>
        </p:nvSpPr>
        <p:spPr>
          <a:xfrm>
            <a:off x="4155046" y="3235341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32773B-2476-5F4A-30A9-72CA8CDA21EE}"/>
              </a:ext>
            </a:extLst>
          </p:cNvPr>
          <p:cNvSpPr txBox="1"/>
          <p:nvPr/>
        </p:nvSpPr>
        <p:spPr>
          <a:xfrm>
            <a:off x="2052866" y="182217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DB3F53-3303-FBCA-9B21-4006D94CF09E}"/>
              </a:ext>
            </a:extLst>
          </p:cNvPr>
          <p:cNvSpPr txBox="1"/>
          <p:nvPr/>
        </p:nvSpPr>
        <p:spPr>
          <a:xfrm>
            <a:off x="1898817" y="15137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3BBB8A-93AD-8BC9-760E-4C73A10DF448}"/>
              </a:ext>
            </a:extLst>
          </p:cNvPr>
          <p:cNvSpPr txBox="1"/>
          <p:nvPr/>
        </p:nvSpPr>
        <p:spPr>
          <a:xfrm>
            <a:off x="4435109" y="15395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E63636-CF87-8EBF-9D3F-94CE3227210F}"/>
              </a:ext>
            </a:extLst>
          </p:cNvPr>
          <p:cNvSpPr txBox="1"/>
          <p:nvPr/>
        </p:nvSpPr>
        <p:spPr>
          <a:xfrm>
            <a:off x="1896179" y="34921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7B04CE-A388-DDBB-83DE-129B2C1C5FB0}"/>
              </a:ext>
            </a:extLst>
          </p:cNvPr>
          <p:cNvSpPr txBox="1"/>
          <p:nvPr/>
        </p:nvSpPr>
        <p:spPr>
          <a:xfrm>
            <a:off x="4464134" y="34663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05E6899-3F20-191E-BC07-C0A689181072}"/>
              </a:ext>
            </a:extLst>
          </p:cNvPr>
          <p:cNvCxnSpPr>
            <a:stCxn id="71" idx="6"/>
            <a:endCxn id="73" idx="2"/>
          </p:cNvCxnSpPr>
          <p:nvPr/>
        </p:nvCxnSpPr>
        <p:spPr>
          <a:xfrm>
            <a:off x="2516539" y="1724205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BA608D4-7D1B-6E98-9AD6-D1E52FC17ADE}"/>
              </a:ext>
            </a:extLst>
          </p:cNvPr>
          <p:cNvCxnSpPr>
            <a:stCxn id="71" idx="4"/>
            <a:endCxn id="72" idx="0"/>
          </p:cNvCxnSpPr>
          <p:nvPr/>
        </p:nvCxnSpPr>
        <p:spPr>
          <a:xfrm>
            <a:off x="2053402" y="2139841"/>
            <a:ext cx="0" cy="1095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231165F-1C43-2D99-0C63-57C1A083D766}"/>
              </a:ext>
            </a:extLst>
          </p:cNvPr>
          <p:cNvCxnSpPr>
            <a:stCxn id="72" idx="7"/>
            <a:endCxn id="73" idx="3"/>
          </p:cNvCxnSpPr>
          <p:nvPr/>
        </p:nvCxnSpPr>
        <p:spPr>
          <a:xfrm flipV="1">
            <a:off x="2380889" y="2018104"/>
            <a:ext cx="1909807" cy="133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1FD032-229A-2DEB-DEBC-D883FA554462}"/>
              </a:ext>
            </a:extLst>
          </p:cNvPr>
          <p:cNvCxnSpPr>
            <a:stCxn id="72" idx="6"/>
            <a:endCxn id="74" idx="2"/>
          </p:cNvCxnSpPr>
          <p:nvPr/>
        </p:nvCxnSpPr>
        <p:spPr>
          <a:xfrm>
            <a:off x="2516539" y="3650977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DB79481-F782-A066-5B41-F92C8846FB27}"/>
              </a:ext>
            </a:extLst>
          </p:cNvPr>
          <p:cNvSpPr txBox="1"/>
          <p:nvPr/>
        </p:nvSpPr>
        <p:spPr>
          <a:xfrm>
            <a:off x="1436154" y="4013799"/>
            <a:ext cx="3897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Acyclic Graph</a:t>
            </a:r>
          </a:p>
          <a:p>
            <a:pPr algn="ctr"/>
            <a:r>
              <a:rPr lang="en-US" sz="2400" dirty="0"/>
              <a:t>(don’t have any cycles)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2475A93-E18C-408E-F9B8-0AAD3F0E6C4C}"/>
              </a:ext>
            </a:extLst>
          </p:cNvPr>
          <p:cNvCxnSpPr>
            <a:cxnSpLocks/>
            <a:stCxn id="46" idx="0"/>
            <a:endCxn id="45" idx="4"/>
          </p:cNvCxnSpPr>
          <p:nvPr/>
        </p:nvCxnSpPr>
        <p:spPr>
          <a:xfrm flipV="1">
            <a:off x="9999890" y="2138513"/>
            <a:ext cx="0" cy="1095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8ABC605-46F1-24D2-D969-007B089A8092}"/>
              </a:ext>
            </a:extLst>
          </p:cNvPr>
          <p:cNvSpPr txBox="1"/>
          <p:nvPr/>
        </p:nvSpPr>
        <p:spPr>
          <a:xfrm>
            <a:off x="1764125" y="5473268"/>
            <a:ext cx="9599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Cycle – A path through a graph that starts and ends at the same node.</a:t>
            </a:r>
          </a:p>
          <a:p>
            <a:r>
              <a:rPr lang="en-US" sz="2400" dirty="0"/>
              <a:t>(without visiting any node more than once along the way)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dirty="0"/>
              <a:t>Undirected graphs can be cyclic/acyclic as well.</a:t>
            </a:r>
          </a:p>
        </p:txBody>
      </p:sp>
    </p:spTree>
    <p:extLst>
      <p:ext uri="{BB962C8B-B14F-4D97-AF65-F5344CB8AC3E}">
        <p14:creationId xmlns:p14="http://schemas.microsoft.com/office/powerpoint/2010/main" val="59033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3" grpId="0"/>
      <p:bldP spid="71" grpId="0" animBg="1"/>
      <p:bldP spid="72" grpId="0" animBg="1"/>
      <p:bldP spid="73" grpId="0" animBg="1"/>
      <p:bldP spid="74" grpId="0" animBg="1"/>
      <p:bldP spid="75" grpId="0"/>
      <p:bldP spid="76" grpId="0"/>
      <p:bldP spid="77" grpId="0"/>
      <p:bldP spid="78" grpId="0"/>
      <p:bldP spid="79" grpId="0"/>
      <p:bldP spid="8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774C60-CF3B-C7C1-FF5A-F33C2103D20A}"/>
              </a:ext>
            </a:extLst>
          </p:cNvPr>
          <p:cNvSpPr txBox="1"/>
          <p:nvPr/>
        </p:nvSpPr>
        <p:spPr>
          <a:xfrm>
            <a:off x="4922522" y="309148"/>
            <a:ext cx="2600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Trees vs Graphs?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B12F0-7C2A-79E2-8594-3A827D4F2B82}"/>
              </a:ext>
            </a:extLst>
          </p:cNvPr>
          <p:cNvSpPr txBox="1"/>
          <p:nvPr/>
        </p:nvSpPr>
        <p:spPr>
          <a:xfrm>
            <a:off x="1425076" y="866423"/>
            <a:ext cx="92353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b="1" dirty="0"/>
              <a:t>Cycles: </a:t>
            </a:r>
            <a:r>
              <a:rPr lang="en-US" sz="2400" dirty="0"/>
              <a:t>Trees don’t have any cycles, while graphs may have cycles</a:t>
            </a:r>
          </a:p>
          <a:p>
            <a:pPr marL="285750" indent="-285750">
              <a:buFontTx/>
              <a:buChar char="-"/>
            </a:pPr>
            <a:r>
              <a:rPr lang="en-US" sz="2400" b="1" dirty="0"/>
              <a:t>Connectivity: </a:t>
            </a:r>
            <a:r>
              <a:rPr lang="en-US" sz="2400" dirty="0"/>
              <a:t>All the nodes of a tree are connected, which may not be the case for graphs.</a:t>
            </a:r>
          </a:p>
          <a:p>
            <a:pPr marL="285750" indent="-285750">
              <a:buFontTx/>
              <a:buChar char="-"/>
            </a:pPr>
            <a:r>
              <a:rPr lang="en-US" sz="2400" b="1" dirty="0"/>
              <a:t>Edge direction: </a:t>
            </a:r>
            <a:r>
              <a:rPr lang="en-US" sz="2400" dirty="0"/>
              <a:t>Edges of a graph can be directed/undirected</a:t>
            </a:r>
          </a:p>
          <a:p>
            <a:pPr marL="285750" indent="-285750">
              <a:buFontTx/>
              <a:buChar char="-"/>
            </a:pPr>
            <a:r>
              <a:rPr lang="en-US" sz="2400" b="1" dirty="0"/>
              <a:t>Application: </a:t>
            </a:r>
            <a:r>
              <a:rPr lang="en-US" sz="2400" dirty="0"/>
              <a:t>Suitable for different application scenarios.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E.g. Tree </a:t>
            </a:r>
            <a:r>
              <a:rPr lang="en-US" sz="2400" dirty="0">
                <a:sym typeface="Wingdings" pitchFamily="2" charset="2"/>
              </a:rPr>
              <a:t> File System, Graph  Social Network</a:t>
            </a:r>
            <a:r>
              <a:rPr lang="en-US" sz="2400" dirty="0"/>
              <a:t> </a:t>
            </a:r>
          </a:p>
          <a:p>
            <a:pPr marL="285750" indent="-285750">
              <a:buFontTx/>
              <a:buChar char="-"/>
            </a:pPr>
            <a:endParaRPr lang="en-US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522482-345C-645A-4171-6FC55A7799A6}"/>
              </a:ext>
            </a:extLst>
          </p:cNvPr>
          <p:cNvSpPr/>
          <p:nvPr/>
        </p:nvSpPr>
        <p:spPr>
          <a:xfrm>
            <a:off x="1793174" y="3336966"/>
            <a:ext cx="4120738" cy="281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C4AF06-5F9F-2023-18A8-86406D3D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993" y="3572163"/>
            <a:ext cx="2749730" cy="21398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6AAB255-EA2D-8CC3-E3BB-AF27FBA84B51}"/>
              </a:ext>
            </a:extLst>
          </p:cNvPr>
          <p:cNvSpPr/>
          <p:nvPr/>
        </p:nvSpPr>
        <p:spPr>
          <a:xfrm>
            <a:off x="6592947" y="3336966"/>
            <a:ext cx="4120738" cy="28144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B89F00-7F08-1FFD-C3C1-79CB598A9F07}"/>
              </a:ext>
            </a:extLst>
          </p:cNvPr>
          <p:cNvSpPr/>
          <p:nvPr/>
        </p:nvSpPr>
        <p:spPr>
          <a:xfrm>
            <a:off x="8544751" y="3432576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8498C2-B0FD-4E81-E49E-793DE674108C}"/>
              </a:ext>
            </a:extLst>
          </p:cNvPr>
          <p:cNvSpPr/>
          <p:nvPr/>
        </p:nvSpPr>
        <p:spPr>
          <a:xfrm>
            <a:off x="7807027" y="4313259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2A2D7-90EB-C173-F0A5-6F1FEA967BCA}"/>
              </a:ext>
            </a:extLst>
          </p:cNvPr>
          <p:cNvSpPr/>
          <p:nvPr/>
        </p:nvSpPr>
        <p:spPr>
          <a:xfrm>
            <a:off x="9331287" y="4313259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9E1CAD-58AD-2B85-4C50-A0955C1C4734}"/>
              </a:ext>
            </a:extLst>
          </p:cNvPr>
          <p:cNvSpPr/>
          <p:nvPr/>
        </p:nvSpPr>
        <p:spPr>
          <a:xfrm>
            <a:off x="8341775" y="5388349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1A94CF-E215-20B1-AAC5-2FF104B30DF5}"/>
              </a:ext>
            </a:extLst>
          </p:cNvPr>
          <p:cNvSpPr/>
          <p:nvPr/>
        </p:nvSpPr>
        <p:spPr>
          <a:xfrm>
            <a:off x="7108077" y="5388349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8D64D8-D986-946F-39B3-5619223264F9}"/>
              </a:ext>
            </a:extLst>
          </p:cNvPr>
          <p:cNvCxnSpPr>
            <a:cxnSpLocks/>
            <a:stCxn id="10" idx="3"/>
            <a:endCxn id="11" idx="7"/>
          </p:cNvCxnSpPr>
          <p:nvPr/>
        </p:nvCxnSpPr>
        <p:spPr>
          <a:xfrm flipH="1">
            <a:off x="8090213" y="3708856"/>
            <a:ext cx="503125" cy="651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73B2E8-EAA9-4FF2-DD1D-3FED54CE2CD8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8138800" y="4475100"/>
            <a:ext cx="11924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96E8EC-0711-B4C8-CC63-EAD6C605B33E}"/>
              </a:ext>
            </a:extLst>
          </p:cNvPr>
          <p:cNvCxnSpPr>
            <a:cxnSpLocks/>
            <a:stCxn id="14" idx="7"/>
            <a:endCxn id="11" idx="3"/>
          </p:cNvCxnSpPr>
          <p:nvPr/>
        </p:nvCxnSpPr>
        <p:spPr>
          <a:xfrm flipV="1">
            <a:off x="7391263" y="4589539"/>
            <a:ext cx="464351" cy="8462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AEFD6E-462A-4468-30C2-7DDCF8673D00}"/>
              </a:ext>
            </a:extLst>
          </p:cNvPr>
          <p:cNvCxnSpPr>
            <a:cxnSpLocks/>
            <a:stCxn id="13" idx="0"/>
            <a:endCxn id="11" idx="5"/>
          </p:cNvCxnSpPr>
          <p:nvPr/>
        </p:nvCxnSpPr>
        <p:spPr>
          <a:xfrm flipH="1" flipV="1">
            <a:off x="8090213" y="4589539"/>
            <a:ext cx="417449" cy="798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9FF861D-6FCE-DB98-900E-9A6B04A44A67}"/>
              </a:ext>
            </a:extLst>
          </p:cNvPr>
          <p:cNvSpPr/>
          <p:nvPr/>
        </p:nvSpPr>
        <p:spPr>
          <a:xfrm>
            <a:off x="9007379" y="5367273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f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B8EC501-620B-DE40-4A40-308A0C7127B9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>
            <a:off x="9339152" y="5529114"/>
            <a:ext cx="657738" cy="136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67BB619-86E6-B4B2-3E68-80928F18950D}"/>
              </a:ext>
            </a:extLst>
          </p:cNvPr>
          <p:cNvSpPr/>
          <p:nvPr/>
        </p:nvSpPr>
        <p:spPr>
          <a:xfrm>
            <a:off x="9996890" y="5380887"/>
            <a:ext cx="331773" cy="323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9D2FFE-B5C2-3D3E-C4A5-2F81F495412C}"/>
              </a:ext>
            </a:extLst>
          </p:cNvPr>
          <p:cNvCxnSpPr>
            <a:cxnSpLocks/>
            <a:stCxn id="12" idx="1"/>
            <a:endCxn id="10" idx="5"/>
          </p:cNvCxnSpPr>
          <p:nvPr/>
        </p:nvCxnSpPr>
        <p:spPr>
          <a:xfrm flipH="1" flipV="1">
            <a:off x="8827937" y="3708856"/>
            <a:ext cx="551937" cy="651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2220AA-48D5-9520-5127-A84CC8D728E1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7439850" y="5550190"/>
            <a:ext cx="9019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51AAEEC-303F-6043-22B1-726568980D6E}"/>
              </a:ext>
            </a:extLst>
          </p:cNvPr>
          <p:cNvSpPr txBox="1"/>
          <p:nvPr/>
        </p:nvSpPr>
        <p:spPr>
          <a:xfrm>
            <a:off x="3140687" y="6201949"/>
            <a:ext cx="14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binary tree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EFC72F-9978-6AB9-DBF2-D5CCDD2D36F9}"/>
              </a:ext>
            </a:extLst>
          </p:cNvPr>
          <p:cNvSpPr txBox="1"/>
          <p:nvPr/>
        </p:nvSpPr>
        <p:spPr>
          <a:xfrm>
            <a:off x="8132439" y="6196983"/>
            <a:ext cx="1719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sample graph</a:t>
            </a:r>
          </a:p>
        </p:txBody>
      </p:sp>
    </p:spTree>
    <p:extLst>
      <p:ext uri="{BB962C8B-B14F-4D97-AF65-F5344CB8AC3E}">
        <p14:creationId xmlns:p14="http://schemas.microsoft.com/office/powerpoint/2010/main" val="423680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1" grpId="0" animBg="1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C6E453F-C7BF-E01F-EF6E-C9B556789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2462273"/>
              </p:ext>
            </p:extLst>
          </p:nvPr>
        </p:nvGraphicFramePr>
        <p:xfrm>
          <a:off x="2682843" y="1509623"/>
          <a:ext cx="6611325" cy="383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1226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39A53-66AA-C988-E934-2ECE10ADE508}"/>
              </a:ext>
            </a:extLst>
          </p:cNvPr>
          <p:cNvSpPr txBox="1"/>
          <p:nvPr/>
        </p:nvSpPr>
        <p:spPr>
          <a:xfrm>
            <a:off x="750947" y="584142"/>
            <a:ext cx="1069010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Adjacency Matrix Representation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Represents the graph using a 2-D array of size </a:t>
            </a:r>
            <a:r>
              <a:rPr lang="en-US" sz="2400" i="1" dirty="0" err="1"/>
              <a:t>nxn</a:t>
            </a:r>
            <a:endParaRPr lang="en-US" sz="2400" i="1" dirty="0"/>
          </a:p>
          <a:p>
            <a:pPr marL="285750" indent="-285750">
              <a:buFontTx/>
              <a:buChar char="-"/>
            </a:pPr>
            <a:r>
              <a:rPr lang="en-US" sz="2400" dirty="0"/>
              <a:t>Here, n is the number of nodes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Rows and columns represents the nodes of the graph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If there is an edge between node u and v, a special value is assigned to </a:t>
            </a:r>
            <a:r>
              <a:rPr lang="en-US" sz="2400" dirty="0" err="1"/>
              <a:t>arr</a:t>
            </a:r>
            <a:r>
              <a:rPr lang="en-US" sz="2400" dirty="0"/>
              <a:t>(</a:t>
            </a:r>
            <a:r>
              <a:rPr lang="en-US" sz="2400" dirty="0" err="1"/>
              <a:t>u,v</a:t>
            </a:r>
            <a:r>
              <a:rPr lang="en-US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highlight>
                  <a:srgbClr val="FFFF00"/>
                </a:highlight>
              </a:rPr>
              <a:t>Space complexity: O(n</a:t>
            </a:r>
            <a:r>
              <a:rPr lang="en-US" sz="2400" baseline="30000" dirty="0">
                <a:highlight>
                  <a:srgbClr val="FFFF00"/>
                </a:highlight>
              </a:rPr>
              <a:t>2</a:t>
            </a:r>
            <a:r>
              <a:rPr lang="en-US" sz="2400" dirty="0">
                <a:highlight>
                  <a:srgbClr val="FFFF00"/>
                </a:highlight>
              </a:rPr>
              <a:t>)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D1FB50-7EFB-6B9C-C654-3333A4051D7B}"/>
              </a:ext>
            </a:extLst>
          </p:cNvPr>
          <p:cNvSpPr/>
          <p:nvPr/>
        </p:nvSpPr>
        <p:spPr>
          <a:xfrm>
            <a:off x="7125526" y="325976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95A2FD-BFAD-0F22-A203-DBE49FB2DDD9}"/>
              </a:ext>
            </a:extLst>
          </p:cNvPr>
          <p:cNvSpPr/>
          <p:nvPr/>
        </p:nvSpPr>
        <p:spPr>
          <a:xfrm>
            <a:off x="7125526" y="5186540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801053-AFC6-3B05-C902-DE98FF8F7748}"/>
              </a:ext>
            </a:extLst>
          </p:cNvPr>
          <p:cNvSpPr/>
          <p:nvPr/>
        </p:nvSpPr>
        <p:spPr>
          <a:xfrm>
            <a:off x="9690308" y="325976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344E88-4A19-38C4-30D6-C1A3462A6E14}"/>
              </a:ext>
            </a:extLst>
          </p:cNvPr>
          <p:cNvSpPr/>
          <p:nvPr/>
        </p:nvSpPr>
        <p:spPr>
          <a:xfrm>
            <a:off x="9690308" y="5186540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7140C-686E-5155-1052-7F362B9361D1}"/>
              </a:ext>
            </a:extLst>
          </p:cNvPr>
          <p:cNvSpPr txBox="1"/>
          <p:nvPr/>
        </p:nvSpPr>
        <p:spPr>
          <a:xfrm>
            <a:off x="7588128" y="377337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822E2-EFE9-F754-071D-01936FF30450}"/>
              </a:ext>
            </a:extLst>
          </p:cNvPr>
          <p:cNvSpPr txBox="1"/>
          <p:nvPr/>
        </p:nvSpPr>
        <p:spPr>
          <a:xfrm>
            <a:off x="7434079" y="34649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66FB0-7E4E-EA2F-45A9-8D32979F221C}"/>
              </a:ext>
            </a:extLst>
          </p:cNvPr>
          <p:cNvSpPr txBox="1"/>
          <p:nvPr/>
        </p:nvSpPr>
        <p:spPr>
          <a:xfrm>
            <a:off x="9970371" y="34907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B5E4A-B66D-61CC-FD76-995875A7C818}"/>
              </a:ext>
            </a:extLst>
          </p:cNvPr>
          <p:cNvSpPr txBox="1"/>
          <p:nvPr/>
        </p:nvSpPr>
        <p:spPr>
          <a:xfrm>
            <a:off x="7431441" y="54433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5DFE38-F360-9726-B5EA-8ECBD8BA79C0}"/>
              </a:ext>
            </a:extLst>
          </p:cNvPr>
          <p:cNvSpPr txBox="1"/>
          <p:nvPr/>
        </p:nvSpPr>
        <p:spPr>
          <a:xfrm>
            <a:off x="9999396" y="54175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5D4863-A413-1F8F-6D21-E8E1C39E0AB5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8051801" y="3675404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9367A1-C665-131C-9494-C5FE55D175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7588664" y="4091040"/>
            <a:ext cx="0" cy="1095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864F0-C599-1C09-369B-517102D73A2D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7916151" y="3969303"/>
            <a:ext cx="1909807" cy="133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40BD1D-AF69-0E23-0A9C-2CC147DC8278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8051801" y="5602176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8FD1105-1A36-C800-4D65-1161BE5FF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88514"/>
              </p:ext>
            </p:extLst>
          </p:nvPr>
        </p:nvGraphicFramePr>
        <p:xfrm>
          <a:off x="2259255" y="3761613"/>
          <a:ext cx="3000804" cy="2014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0201">
                  <a:extLst>
                    <a:ext uri="{9D8B030D-6E8A-4147-A177-3AD203B41FA5}">
                      <a16:colId xmlns:a16="http://schemas.microsoft.com/office/drawing/2014/main" val="328580308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3069124590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867568046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417482348"/>
                    </a:ext>
                  </a:extLst>
                </a:gridCol>
              </a:tblGrid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062098"/>
                  </a:ext>
                </a:extLst>
              </a:tr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51331"/>
                  </a:ext>
                </a:extLst>
              </a:tr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503108"/>
                  </a:ext>
                </a:extLst>
              </a:tr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7176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65A3727-DD3E-0B3C-9B3B-C598625198CF}"/>
              </a:ext>
            </a:extLst>
          </p:cNvPr>
          <p:cNvSpPr txBox="1"/>
          <p:nvPr/>
        </p:nvSpPr>
        <p:spPr>
          <a:xfrm>
            <a:off x="1934905" y="38316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49185-51BD-2FFE-A584-5C29318A54DD}"/>
              </a:ext>
            </a:extLst>
          </p:cNvPr>
          <p:cNvSpPr txBox="1"/>
          <p:nvPr/>
        </p:nvSpPr>
        <p:spPr>
          <a:xfrm>
            <a:off x="1906381" y="43278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482914-DF44-D84D-8071-E9EDBE41926B}"/>
              </a:ext>
            </a:extLst>
          </p:cNvPr>
          <p:cNvSpPr txBox="1"/>
          <p:nvPr/>
        </p:nvSpPr>
        <p:spPr>
          <a:xfrm>
            <a:off x="1906381" y="48243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D1DE76-87D3-7561-2A5A-D48D472A8298}"/>
              </a:ext>
            </a:extLst>
          </p:cNvPr>
          <p:cNvSpPr txBox="1"/>
          <p:nvPr/>
        </p:nvSpPr>
        <p:spPr>
          <a:xfrm>
            <a:off x="1908243" y="53207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E0C6E-E361-D80C-3F85-7BF0829AB27A}"/>
              </a:ext>
            </a:extLst>
          </p:cNvPr>
          <p:cNvSpPr txBox="1"/>
          <p:nvPr/>
        </p:nvSpPr>
        <p:spPr>
          <a:xfrm>
            <a:off x="2471596" y="3338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CC8A2-8BAA-8519-6948-CA27BC10CDC1}"/>
              </a:ext>
            </a:extLst>
          </p:cNvPr>
          <p:cNvSpPr txBox="1"/>
          <p:nvPr/>
        </p:nvSpPr>
        <p:spPr>
          <a:xfrm>
            <a:off x="3223034" y="33386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23B82-0005-8C23-512A-2F65C29BF17D}"/>
              </a:ext>
            </a:extLst>
          </p:cNvPr>
          <p:cNvSpPr txBox="1"/>
          <p:nvPr/>
        </p:nvSpPr>
        <p:spPr>
          <a:xfrm>
            <a:off x="3933615" y="33249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DC4843-6280-0B0B-4CC8-045A83C408F3}"/>
              </a:ext>
            </a:extLst>
          </p:cNvPr>
          <p:cNvSpPr txBox="1"/>
          <p:nvPr/>
        </p:nvSpPr>
        <p:spPr>
          <a:xfrm>
            <a:off x="4720203" y="33451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E8EEBF-8777-E7E6-4172-702B8BE38834}"/>
              </a:ext>
            </a:extLst>
          </p:cNvPr>
          <p:cNvSpPr txBox="1"/>
          <p:nvPr/>
        </p:nvSpPr>
        <p:spPr>
          <a:xfrm>
            <a:off x="3452393" y="5843400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arr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40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39A53-66AA-C988-E934-2ECE10ADE508}"/>
              </a:ext>
            </a:extLst>
          </p:cNvPr>
          <p:cNvSpPr txBox="1"/>
          <p:nvPr/>
        </p:nvSpPr>
        <p:spPr>
          <a:xfrm>
            <a:off x="752088" y="871890"/>
            <a:ext cx="711290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Adjacency Matrix Representation (Directed graph)</a:t>
            </a:r>
          </a:p>
          <a:p>
            <a:pPr marL="285750" indent="-285750">
              <a:buFontTx/>
              <a:buChar char="-"/>
            </a:pPr>
            <a:endParaRPr lang="en-US" sz="2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8FD1105-1A36-C800-4D65-1161BE5FF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2379"/>
              </p:ext>
            </p:extLst>
          </p:nvPr>
        </p:nvGraphicFramePr>
        <p:xfrm>
          <a:off x="2458751" y="2699096"/>
          <a:ext cx="3000804" cy="2014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0201">
                  <a:extLst>
                    <a:ext uri="{9D8B030D-6E8A-4147-A177-3AD203B41FA5}">
                      <a16:colId xmlns:a16="http://schemas.microsoft.com/office/drawing/2014/main" val="328580308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3069124590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867568046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417482348"/>
                    </a:ext>
                  </a:extLst>
                </a:gridCol>
              </a:tblGrid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062098"/>
                  </a:ext>
                </a:extLst>
              </a:tr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51331"/>
                  </a:ext>
                </a:extLst>
              </a:tr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503108"/>
                  </a:ext>
                </a:extLst>
              </a:tr>
              <a:tr h="503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07176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65A3727-DD3E-0B3C-9B3B-C598625198CF}"/>
              </a:ext>
            </a:extLst>
          </p:cNvPr>
          <p:cNvSpPr txBox="1"/>
          <p:nvPr/>
        </p:nvSpPr>
        <p:spPr>
          <a:xfrm>
            <a:off x="2134401" y="27691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749185-51BD-2FFE-A584-5C29318A54DD}"/>
              </a:ext>
            </a:extLst>
          </p:cNvPr>
          <p:cNvSpPr txBox="1"/>
          <p:nvPr/>
        </p:nvSpPr>
        <p:spPr>
          <a:xfrm>
            <a:off x="2105877" y="32653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482914-DF44-D84D-8071-E9EDBE41926B}"/>
              </a:ext>
            </a:extLst>
          </p:cNvPr>
          <p:cNvSpPr txBox="1"/>
          <p:nvPr/>
        </p:nvSpPr>
        <p:spPr>
          <a:xfrm>
            <a:off x="2105877" y="376182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D1DE76-87D3-7561-2A5A-D48D472A8298}"/>
              </a:ext>
            </a:extLst>
          </p:cNvPr>
          <p:cNvSpPr txBox="1"/>
          <p:nvPr/>
        </p:nvSpPr>
        <p:spPr>
          <a:xfrm>
            <a:off x="2107739" y="42582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5E0C6E-E361-D80C-3F85-7BF0829AB27A}"/>
              </a:ext>
            </a:extLst>
          </p:cNvPr>
          <p:cNvSpPr txBox="1"/>
          <p:nvPr/>
        </p:nvSpPr>
        <p:spPr>
          <a:xfrm>
            <a:off x="2671092" y="22761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CC8A2-8BAA-8519-6948-CA27BC10CDC1}"/>
              </a:ext>
            </a:extLst>
          </p:cNvPr>
          <p:cNvSpPr txBox="1"/>
          <p:nvPr/>
        </p:nvSpPr>
        <p:spPr>
          <a:xfrm>
            <a:off x="3422530" y="22761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23B82-0005-8C23-512A-2F65C29BF17D}"/>
              </a:ext>
            </a:extLst>
          </p:cNvPr>
          <p:cNvSpPr txBox="1"/>
          <p:nvPr/>
        </p:nvSpPr>
        <p:spPr>
          <a:xfrm>
            <a:off x="4133111" y="22624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DC4843-6280-0B0B-4CC8-045A83C408F3}"/>
              </a:ext>
            </a:extLst>
          </p:cNvPr>
          <p:cNvSpPr txBox="1"/>
          <p:nvPr/>
        </p:nvSpPr>
        <p:spPr>
          <a:xfrm>
            <a:off x="4919699" y="22826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E8EEBF-8777-E7E6-4172-702B8BE38834}"/>
              </a:ext>
            </a:extLst>
          </p:cNvPr>
          <p:cNvSpPr txBox="1"/>
          <p:nvPr/>
        </p:nvSpPr>
        <p:spPr>
          <a:xfrm>
            <a:off x="3651889" y="4780883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arr</a:t>
            </a:r>
            <a:endParaRPr lang="en-US" b="1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68CB13B-0CE8-5BE1-2386-3026F639CE38}"/>
              </a:ext>
            </a:extLst>
          </p:cNvPr>
          <p:cNvSpPr/>
          <p:nvPr/>
        </p:nvSpPr>
        <p:spPr>
          <a:xfrm>
            <a:off x="7367963" y="218651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53EF0F-1816-A55E-1F15-413C050639F6}"/>
              </a:ext>
            </a:extLst>
          </p:cNvPr>
          <p:cNvSpPr/>
          <p:nvPr/>
        </p:nvSpPr>
        <p:spPr>
          <a:xfrm>
            <a:off x="7367963" y="4113290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FF6D1A-08F7-6A45-B021-85ADE7FCA858}"/>
              </a:ext>
            </a:extLst>
          </p:cNvPr>
          <p:cNvSpPr/>
          <p:nvPr/>
        </p:nvSpPr>
        <p:spPr>
          <a:xfrm>
            <a:off x="9932745" y="218651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C6AE5B-3405-ADCC-B741-6F8E4DEC3478}"/>
              </a:ext>
            </a:extLst>
          </p:cNvPr>
          <p:cNvSpPr/>
          <p:nvPr/>
        </p:nvSpPr>
        <p:spPr>
          <a:xfrm>
            <a:off x="9932745" y="4113290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C7C9AE-4E5F-6B16-C7C3-BE21CCBF6096}"/>
              </a:ext>
            </a:extLst>
          </p:cNvPr>
          <p:cNvSpPr txBox="1"/>
          <p:nvPr/>
        </p:nvSpPr>
        <p:spPr>
          <a:xfrm>
            <a:off x="7830565" y="270012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8F12E3-FE9B-EA43-CAE7-72465031A816}"/>
              </a:ext>
            </a:extLst>
          </p:cNvPr>
          <p:cNvSpPr txBox="1"/>
          <p:nvPr/>
        </p:nvSpPr>
        <p:spPr>
          <a:xfrm>
            <a:off x="7676516" y="23916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FA0E31-5BBF-068D-4F7C-FB3D0723E425}"/>
              </a:ext>
            </a:extLst>
          </p:cNvPr>
          <p:cNvSpPr txBox="1"/>
          <p:nvPr/>
        </p:nvSpPr>
        <p:spPr>
          <a:xfrm>
            <a:off x="10212808" y="24174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9A4BF5-27E5-6587-D143-6CD239DD9FF5}"/>
              </a:ext>
            </a:extLst>
          </p:cNvPr>
          <p:cNvSpPr txBox="1"/>
          <p:nvPr/>
        </p:nvSpPr>
        <p:spPr>
          <a:xfrm>
            <a:off x="7673878" y="4370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EE33DC-10EE-7994-C63C-51EC8A9ABD21}"/>
              </a:ext>
            </a:extLst>
          </p:cNvPr>
          <p:cNvSpPr txBox="1"/>
          <p:nvPr/>
        </p:nvSpPr>
        <p:spPr>
          <a:xfrm>
            <a:off x="10241833" y="43442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FF8A403-6A76-781D-6EF9-617405837E42}"/>
              </a:ext>
            </a:extLst>
          </p:cNvPr>
          <p:cNvCxnSpPr>
            <a:stCxn id="26" idx="6"/>
            <a:endCxn id="28" idx="2"/>
          </p:cNvCxnSpPr>
          <p:nvPr/>
        </p:nvCxnSpPr>
        <p:spPr>
          <a:xfrm>
            <a:off x="8294238" y="2602154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7B89CC-6369-4AD4-9A98-1B193B3258F0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>
            <a:off x="7831101" y="3017790"/>
            <a:ext cx="0" cy="1095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850FFF-86B7-BE0A-E228-CD143DF3747D}"/>
              </a:ext>
            </a:extLst>
          </p:cNvPr>
          <p:cNvCxnSpPr>
            <a:stCxn id="27" idx="7"/>
            <a:endCxn id="28" idx="3"/>
          </p:cNvCxnSpPr>
          <p:nvPr/>
        </p:nvCxnSpPr>
        <p:spPr>
          <a:xfrm flipV="1">
            <a:off x="8158588" y="2896053"/>
            <a:ext cx="1909807" cy="133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9E1E9EC-FAB3-1189-B172-FF0100EC4819}"/>
              </a:ext>
            </a:extLst>
          </p:cNvPr>
          <p:cNvCxnSpPr>
            <a:stCxn id="27" idx="6"/>
            <a:endCxn id="29" idx="2"/>
          </p:cNvCxnSpPr>
          <p:nvPr/>
        </p:nvCxnSpPr>
        <p:spPr>
          <a:xfrm>
            <a:off x="8294238" y="4528926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75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E8FA0E-E27D-68C9-69D7-2A9C533C722E}"/>
              </a:ext>
            </a:extLst>
          </p:cNvPr>
          <p:cNvSpPr txBox="1"/>
          <p:nvPr/>
        </p:nvSpPr>
        <p:spPr>
          <a:xfrm>
            <a:off x="1501902" y="474345"/>
            <a:ext cx="60944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Graph: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def __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__(self, n):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self.nodes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# create the 2-D matrix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matrix = [[0] * n for _ in range(n)]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(self, u, v):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[u][v] = 1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print_adj_matrix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for row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print(row)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graph = Graph(4)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(0, 1)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(0, 2)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(2,1)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(2,3)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graph.print_adj_matrix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EF5344-3200-9BC4-7F5C-4D6EF1BC7967}"/>
              </a:ext>
            </a:extLst>
          </p:cNvPr>
          <p:cNvSpPr/>
          <p:nvPr/>
        </p:nvSpPr>
        <p:spPr>
          <a:xfrm>
            <a:off x="7486835" y="3219790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F0DB35-DDF9-4C6B-C939-4F277C2E658A}"/>
              </a:ext>
            </a:extLst>
          </p:cNvPr>
          <p:cNvSpPr/>
          <p:nvPr/>
        </p:nvSpPr>
        <p:spPr>
          <a:xfrm>
            <a:off x="7486835" y="5146562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9AA6C3-8CA2-F354-DDDB-B72226F7D8DA}"/>
              </a:ext>
            </a:extLst>
          </p:cNvPr>
          <p:cNvSpPr/>
          <p:nvPr/>
        </p:nvSpPr>
        <p:spPr>
          <a:xfrm>
            <a:off x="10051617" y="3219790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D6467E-9B02-014B-CDE4-FDF24F21D727}"/>
              </a:ext>
            </a:extLst>
          </p:cNvPr>
          <p:cNvSpPr/>
          <p:nvPr/>
        </p:nvSpPr>
        <p:spPr>
          <a:xfrm>
            <a:off x="10051617" y="5146562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C15A9-BF89-E4C6-9631-769636E7B77A}"/>
              </a:ext>
            </a:extLst>
          </p:cNvPr>
          <p:cNvSpPr txBox="1"/>
          <p:nvPr/>
        </p:nvSpPr>
        <p:spPr>
          <a:xfrm>
            <a:off x="7949437" y="3733398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7B79C8-3E67-206E-E847-A51A6C4CB08B}"/>
              </a:ext>
            </a:extLst>
          </p:cNvPr>
          <p:cNvSpPr txBox="1"/>
          <p:nvPr/>
        </p:nvSpPr>
        <p:spPr>
          <a:xfrm>
            <a:off x="7795388" y="34249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91763-AFEB-B1B8-24CF-AE4E22E889DE}"/>
              </a:ext>
            </a:extLst>
          </p:cNvPr>
          <p:cNvSpPr txBox="1"/>
          <p:nvPr/>
        </p:nvSpPr>
        <p:spPr>
          <a:xfrm>
            <a:off x="10331680" y="3450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C2BBA-582B-FF36-CAF5-F216B5E38BC7}"/>
              </a:ext>
            </a:extLst>
          </p:cNvPr>
          <p:cNvSpPr txBox="1"/>
          <p:nvPr/>
        </p:nvSpPr>
        <p:spPr>
          <a:xfrm>
            <a:off x="7792750" y="54033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1C1091-EB5C-6868-9111-8DEC617A3542}"/>
              </a:ext>
            </a:extLst>
          </p:cNvPr>
          <p:cNvSpPr txBox="1"/>
          <p:nvPr/>
        </p:nvSpPr>
        <p:spPr>
          <a:xfrm>
            <a:off x="10360705" y="53775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2B1DF2-4AD5-C737-399A-74B745FCD054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8413110" y="3635426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D03C45-3F1C-D25D-B59E-BF2F5D91AE60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7949973" y="4051062"/>
            <a:ext cx="0" cy="1095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89C1F6-4096-3D93-36A6-4FBE37FEC93E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8277460" y="3929325"/>
            <a:ext cx="1909807" cy="133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F5F7F3-300E-6752-C6AE-9240AE4A6E42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8413110" y="5562198"/>
            <a:ext cx="1638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535A32-B20F-9E1F-A9C4-98D7C5EBDE2E}"/>
              </a:ext>
            </a:extLst>
          </p:cNvPr>
          <p:cNvSpPr txBox="1"/>
          <p:nvPr/>
        </p:nvSpPr>
        <p:spPr>
          <a:xfrm>
            <a:off x="7596378" y="402336"/>
            <a:ext cx="3548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Matrix Coding Example</a:t>
            </a:r>
          </a:p>
        </p:txBody>
      </p:sp>
    </p:spTree>
    <p:extLst>
      <p:ext uri="{BB962C8B-B14F-4D97-AF65-F5344CB8AC3E}">
        <p14:creationId xmlns:p14="http://schemas.microsoft.com/office/powerpoint/2010/main" val="381996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8D99D-A5F9-DF4B-4062-30A0B69C60B2}"/>
              </a:ext>
            </a:extLst>
          </p:cNvPr>
          <p:cNvSpPr txBox="1"/>
          <p:nvPr/>
        </p:nvSpPr>
        <p:spPr>
          <a:xfrm>
            <a:off x="2407752" y="790179"/>
            <a:ext cx="817245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Adjacency Matrix Representation – Space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686D3-DA80-A46B-4AA6-8049B5DEDE08}"/>
              </a:ext>
            </a:extLst>
          </p:cNvPr>
          <p:cNvSpPr txBox="1"/>
          <p:nvPr/>
        </p:nvSpPr>
        <p:spPr>
          <a:xfrm>
            <a:off x="1253677" y="2039863"/>
            <a:ext cx="8898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if there are 1000 nodes, with only a few hundred edges?</a:t>
            </a:r>
          </a:p>
          <a:p>
            <a:endParaRPr lang="en-US" sz="2400" dirty="0"/>
          </a:p>
          <a:p>
            <a:r>
              <a:rPr lang="en-US" sz="2400" dirty="0"/>
              <a:t>- Will still occupy an array of size (1000x1000) to store those edges</a:t>
            </a:r>
          </a:p>
        </p:txBody>
      </p:sp>
    </p:spTree>
    <p:extLst>
      <p:ext uri="{BB962C8B-B14F-4D97-AF65-F5344CB8AC3E}">
        <p14:creationId xmlns:p14="http://schemas.microsoft.com/office/powerpoint/2010/main" val="3324686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B4017-00B3-E07D-1A78-1A8E9CC4D88E}"/>
              </a:ext>
            </a:extLst>
          </p:cNvPr>
          <p:cNvSpPr txBox="1"/>
          <p:nvPr/>
        </p:nvSpPr>
        <p:spPr>
          <a:xfrm>
            <a:off x="1700784" y="542966"/>
            <a:ext cx="9541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 more memory efficient approach – Adjacency List Representation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C916266-A2EA-CC11-89BC-5295BCDF3888}"/>
              </a:ext>
            </a:extLst>
          </p:cNvPr>
          <p:cNvSpPr/>
          <p:nvPr/>
        </p:nvSpPr>
        <p:spPr>
          <a:xfrm>
            <a:off x="7454710" y="2363656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FB9AD7-203A-9686-0CE8-02F10F32EC13}"/>
              </a:ext>
            </a:extLst>
          </p:cNvPr>
          <p:cNvSpPr/>
          <p:nvPr/>
        </p:nvSpPr>
        <p:spPr>
          <a:xfrm>
            <a:off x="7454710" y="429042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9142E2-3F0F-19FA-93F2-D6FB95FF377E}"/>
              </a:ext>
            </a:extLst>
          </p:cNvPr>
          <p:cNvSpPr/>
          <p:nvPr/>
        </p:nvSpPr>
        <p:spPr>
          <a:xfrm>
            <a:off x="10019492" y="2363656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3D640C-77B5-42FC-C6EF-FB61F014E425}"/>
              </a:ext>
            </a:extLst>
          </p:cNvPr>
          <p:cNvSpPr/>
          <p:nvPr/>
        </p:nvSpPr>
        <p:spPr>
          <a:xfrm>
            <a:off x="10019492" y="429042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ED61C-0F3F-92CF-9DC7-D794007DD7EB}"/>
              </a:ext>
            </a:extLst>
          </p:cNvPr>
          <p:cNvSpPr txBox="1"/>
          <p:nvPr/>
        </p:nvSpPr>
        <p:spPr>
          <a:xfrm>
            <a:off x="7917312" y="2877264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11749-B177-4F7A-1ECB-D732FCB1666A}"/>
              </a:ext>
            </a:extLst>
          </p:cNvPr>
          <p:cNvSpPr txBox="1"/>
          <p:nvPr/>
        </p:nvSpPr>
        <p:spPr>
          <a:xfrm>
            <a:off x="7763263" y="25687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39146-2DEB-8A54-2C7A-B6ACEA9ED603}"/>
              </a:ext>
            </a:extLst>
          </p:cNvPr>
          <p:cNvSpPr txBox="1"/>
          <p:nvPr/>
        </p:nvSpPr>
        <p:spPr>
          <a:xfrm>
            <a:off x="10299555" y="25946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A3B17-2287-3F9D-4DE2-D0689080C405}"/>
              </a:ext>
            </a:extLst>
          </p:cNvPr>
          <p:cNvSpPr txBox="1"/>
          <p:nvPr/>
        </p:nvSpPr>
        <p:spPr>
          <a:xfrm>
            <a:off x="7760625" y="454723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81C3C-C679-BE9E-2AEF-A6585394EE14}"/>
              </a:ext>
            </a:extLst>
          </p:cNvPr>
          <p:cNvSpPr txBox="1"/>
          <p:nvPr/>
        </p:nvSpPr>
        <p:spPr>
          <a:xfrm>
            <a:off x="10328580" y="45213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F5DF6B-E29C-3FF7-EF76-A8CFC76025D8}"/>
              </a:ext>
            </a:extLst>
          </p:cNvPr>
          <p:cNvCxnSpPr>
            <a:stCxn id="3" idx="6"/>
            <a:endCxn id="5" idx="2"/>
          </p:cNvCxnSpPr>
          <p:nvPr/>
        </p:nvCxnSpPr>
        <p:spPr>
          <a:xfrm>
            <a:off x="8380985" y="2779292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A7561-E8A9-6C0D-FCBE-F11F1F23661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7917848" y="3194928"/>
            <a:ext cx="0" cy="1095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82C6B4-8852-2D4F-DB77-87006C1E8AA1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8245335" y="3073191"/>
            <a:ext cx="1909807" cy="1338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27B90-0029-7F3C-2092-1D495F0E516F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8380985" y="4706064"/>
            <a:ext cx="16385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422478-998A-F233-97A7-2A8A9AB03B88}"/>
              </a:ext>
            </a:extLst>
          </p:cNvPr>
          <p:cNvSpPr txBox="1"/>
          <p:nvPr/>
        </p:nvSpPr>
        <p:spPr>
          <a:xfrm>
            <a:off x="1204663" y="1506099"/>
            <a:ext cx="8322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 this representation, each node is associated with a list that </a:t>
            </a:r>
          </a:p>
          <a:p>
            <a:r>
              <a:rPr lang="en-US" sz="2400" dirty="0"/>
              <a:t>contains the neighboring nodes.</a:t>
            </a:r>
          </a:p>
          <a:p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498AE1-EE9A-D1D7-DC01-E8C7181733CE}"/>
              </a:ext>
            </a:extLst>
          </p:cNvPr>
          <p:cNvSpPr txBox="1"/>
          <p:nvPr/>
        </p:nvSpPr>
        <p:spPr>
          <a:xfrm>
            <a:off x="1923734" y="2878706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Nodes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90145F-B9F5-E299-E151-81C889BECDDE}"/>
              </a:ext>
            </a:extLst>
          </p:cNvPr>
          <p:cNvSpPr txBox="1"/>
          <p:nvPr/>
        </p:nvSpPr>
        <p:spPr>
          <a:xfrm>
            <a:off x="2139816" y="326654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BC31E2-F091-C69F-9DC8-90A62296A043}"/>
              </a:ext>
            </a:extLst>
          </p:cNvPr>
          <p:cNvSpPr txBox="1"/>
          <p:nvPr/>
        </p:nvSpPr>
        <p:spPr>
          <a:xfrm>
            <a:off x="2139816" y="38221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0B1759-B01E-3851-4DDC-72F05B2A05D5}"/>
              </a:ext>
            </a:extLst>
          </p:cNvPr>
          <p:cNvSpPr txBox="1"/>
          <p:nvPr/>
        </p:nvSpPr>
        <p:spPr>
          <a:xfrm>
            <a:off x="2139816" y="436823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0616B-721E-B143-2BE8-8F6FF22F3342}"/>
              </a:ext>
            </a:extLst>
          </p:cNvPr>
          <p:cNvSpPr txBox="1"/>
          <p:nvPr/>
        </p:nvSpPr>
        <p:spPr>
          <a:xfrm>
            <a:off x="2155426" y="48735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2BE0A8-7595-EF65-54F7-D5EBBB044514}"/>
              </a:ext>
            </a:extLst>
          </p:cNvPr>
          <p:cNvSpPr txBox="1"/>
          <p:nvPr/>
        </p:nvSpPr>
        <p:spPr>
          <a:xfrm>
            <a:off x="3222916" y="2883312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Adjacent Nodes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00ED497-D9BC-AC8F-D96B-059B71BBB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93543"/>
              </p:ext>
            </p:extLst>
          </p:nvPr>
        </p:nvGraphicFramePr>
        <p:xfrm>
          <a:off x="3348295" y="3284358"/>
          <a:ext cx="119684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424">
                  <a:extLst>
                    <a:ext uri="{9D8B030D-6E8A-4147-A177-3AD203B41FA5}">
                      <a16:colId xmlns:a16="http://schemas.microsoft.com/office/drawing/2014/main" val="1158893788"/>
                    </a:ext>
                  </a:extLst>
                </a:gridCol>
                <a:gridCol w="598424">
                  <a:extLst>
                    <a:ext uri="{9D8B030D-6E8A-4147-A177-3AD203B41FA5}">
                      <a16:colId xmlns:a16="http://schemas.microsoft.com/office/drawing/2014/main" val="88017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44551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C39CFB7-B659-4716-A711-8D1E571C1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086092"/>
              </p:ext>
            </p:extLst>
          </p:nvPr>
        </p:nvGraphicFramePr>
        <p:xfrm>
          <a:off x="3357740" y="3834288"/>
          <a:ext cx="112298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491">
                  <a:extLst>
                    <a:ext uri="{9D8B030D-6E8A-4147-A177-3AD203B41FA5}">
                      <a16:colId xmlns:a16="http://schemas.microsoft.com/office/drawing/2014/main" val="1158893788"/>
                    </a:ext>
                  </a:extLst>
                </a:gridCol>
                <a:gridCol w="561491">
                  <a:extLst>
                    <a:ext uri="{9D8B030D-6E8A-4147-A177-3AD203B41FA5}">
                      <a16:colId xmlns:a16="http://schemas.microsoft.com/office/drawing/2014/main" val="88017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44551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307B819-97A4-ABF9-0208-57B04E908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14883"/>
              </p:ext>
            </p:extLst>
          </p:nvPr>
        </p:nvGraphicFramePr>
        <p:xfrm>
          <a:off x="3357740" y="4371183"/>
          <a:ext cx="15051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61">
                  <a:extLst>
                    <a:ext uri="{9D8B030D-6E8A-4147-A177-3AD203B41FA5}">
                      <a16:colId xmlns:a16="http://schemas.microsoft.com/office/drawing/2014/main" val="1158893788"/>
                    </a:ext>
                  </a:extLst>
                </a:gridCol>
                <a:gridCol w="535261">
                  <a:extLst>
                    <a:ext uri="{9D8B030D-6E8A-4147-A177-3AD203B41FA5}">
                      <a16:colId xmlns:a16="http://schemas.microsoft.com/office/drawing/2014/main" val="880172333"/>
                    </a:ext>
                  </a:extLst>
                </a:gridCol>
                <a:gridCol w="434677">
                  <a:extLst>
                    <a:ext uri="{9D8B030D-6E8A-4147-A177-3AD203B41FA5}">
                      <a16:colId xmlns:a16="http://schemas.microsoft.com/office/drawing/2014/main" val="769643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44551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E87F572-453D-8353-B792-CEF9BBCA4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504291"/>
              </p:ext>
            </p:extLst>
          </p:nvPr>
        </p:nvGraphicFramePr>
        <p:xfrm>
          <a:off x="3357740" y="4893682"/>
          <a:ext cx="47192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927">
                  <a:extLst>
                    <a:ext uri="{9D8B030D-6E8A-4147-A177-3AD203B41FA5}">
                      <a16:colId xmlns:a16="http://schemas.microsoft.com/office/drawing/2014/main" val="115889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44551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48F20DB-C530-4284-BEE5-15B96AABE5A7}"/>
              </a:ext>
            </a:extLst>
          </p:cNvPr>
          <p:cNvSpPr txBox="1"/>
          <p:nvPr/>
        </p:nvSpPr>
        <p:spPr>
          <a:xfrm>
            <a:off x="2133272" y="5622130"/>
            <a:ext cx="93373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Space Complexity </a:t>
            </a:r>
            <a:r>
              <a:rPr lang="en-US" sz="2400" dirty="0"/>
              <a:t>– O(V+E) where V is the number of nodes/vertices </a:t>
            </a:r>
          </a:p>
          <a:p>
            <a:r>
              <a:rPr lang="en-US" sz="2400" dirty="0"/>
              <a:t>and E is the number of edges.</a:t>
            </a:r>
          </a:p>
        </p:txBody>
      </p:sp>
    </p:spTree>
    <p:extLst>
      <p:ext uri="{BB962C8B-B14F-4D97-AF65-F5344CB8AC3E}">
        <p14:creationId xmlns:p14="http://schemas.microsoft.com/office/powerpoint/2010/main" val="73719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D439D6-459F-A9D0-9C20-9D70114DBB72}"/>
              </a:ext>
            </a:extLst>
          </p:cNvPr>
          <p:cNvSpPr txBox="1"/>
          <p:nvPr/>
        </p:nvSpPr>
        <p:spPr>
          <a:xfrm>
            <a:off x="1977390" y="444234"/>
            <a:ext cx="894054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Graph: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def __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__(self):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# create a dictionary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{}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(self, u, v):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if u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[u].append(v)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else: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[u] = [v]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def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print_adj_list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(self):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for key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print('Node: ', key, ' Neighbors: ',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self.adj_list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[key])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graph = Graph()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(0, 1)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(0, 2)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(2,1)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graph.add_edge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(2,3)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graph.print_adj_list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A02D7-8109-6BF5-C8A7-80F7CF959B69}"/>
              </a:ext>
            </a:extLst>
          </p:cNvPr>
          <p:cNvSpPr txBox="1"/>
          <p:nvPr/>
        </p:nvSpPr>
        <p:spPr>
          <a:xfrm>
            <a:off x="7726680" y="444234"/>
            <a:ext cx="329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Adjacency List Coding Example</a:t>
            </a:r>
          </a:p>
        </p:txBody>
      </p:sp>
    </p:spTree>
    <p:extLst>
      <p:ext uri="{BB962C8B-B14F-4D97-AF65-F5344CB8AC3E}">
        <p14:creationId xmlns:p14="http://schemas.microsoft.com/office/powerpoint/2010/main" val="2098653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34352CB-7B36-0583-3158-AD30D8E166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0399947"/>
              </p:ext>
            </p:extLst>
          </p:nvPr>
        </p:nvGraphicFramePr>
        <p:xfrm>
          <a:off x="2790337" y="1308455"/>
          <a:ext cx="6611325" cy="383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1757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3897C-B0B7-1F80-B64E-F5BF10AAFC0C}"/>
              </a:ext>
            </a:extLst>
          </p:cNvPr>
          <p:cNvSpPr txBox="1"/>
          <p:nvPr/>
        </p:nvSpPr>
        <p:spPr>
          <a:xfrm>
            <a:off x="1700784" y="895874"/>
            <a:ext cx="3023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Breadth First 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C4EED-3859-12D4-D8E4-E254CE7A1015}"/>
              </a:ext>
            </a:extLst>
          </p:cNvPr>
          <p:cNvSpPr txBox="1"/>
          <p:nvPr/>
        </p:nvSpPr>
        <p:spPr>
          <a:xfrm>
            <a:off x="1792224" y="1618488"/>
            <a:ext cx="82891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Starting from the source, it explores the graph level-by-level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Uses a queue to ensure such exploration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DDF52-0BEA-4A0E-5A79-DD8534F42C32}"/>
              </a:ext>
            </a:extLst>
          </p:cNvPr>
          <p:cNvSpPr txBox="1"/>
          <p:nvPr/>
        </p:nvSpPr>
        <p:spPr>
          <a:xfrm>
            <a:off x="1700784" y="2683871"/>
            <a:ext cx="2770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Depth First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E9690-EF85-A2C8-CD17-BFFE57DC65FB}"/>
              </a:ext>
            </a:extLst>
          </p:cNvPr>
          <p:cNvSpPr txBox="1"/>
          <p:nvPr/>
        </p:nvSpPr>
        <p:spPr>
          <a:xfrm>
            <a:off x="1700784" y="3389299"/>
            <a:ext cx="8912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Starting from the source, it explores the graph branch-by-branch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Uses a stack to ensure such exploration</a:t>
            </a:r>
          </a:p>
        </p:txBody>
      </p:sp>
    </p:spTree>
    <p:extLst>
      <p:ext uri="{BB962C8B-B14F-4D97-AF65-F5344CB8AC3E}">
        <p14:creationId xmlns:p14="http://schemas.microsoft.com/office/powerpoint/2010/main" val="3006542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0160046-4EDA-FB27-DAD5-A302F2C02577}"/>
              </a:ext>
            </a:extLst>
          </p:cNvPr>
          <p:cNvSpPr/>
          <p:nvPr/>
        </p:nvSpPr>
        <p:spPr>
          <a:xfrm>
            <a:off x="5526341" y="22134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335CC-0282-6282-099E-0F577DED6900}"/>
              </a:ext>
            </a:extLst>
          </p:cNvPr>
          <p:cNvSpPr txBox="1"/>
          <p:nvPr/>
        </p:nvSpPr>
        <p:spPr>
          <a:xfrm>
            <a:off x="5835429" y="4523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62E65A-3F3B-B0BA-2493-75C83EFAB1E5}"/>
              </a:ext>
            </a:extLst>
          </p:cNvPr>
          <p:cNvSpPr/>
          <p:nvPr/>
        </p:nvSpPr>
        <p:spPr>
          <a:xfrm>
            <a:off x="4160837" y="1343012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087239-7D43-88F4-093D-37A40B0ED3EE}"/>
              </a:ext>
            </a:extLst>
          </p:cNvPr>
          <p:cNvSpPr/>
          <p:nvPr/>
        </p:nvSpPr>
        <p:spPr>
          <a:xfrm>
            <a:off x="6785165" y="1343012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97F3B9-69B5-D582-B5E2-8D09B01262A7}"/>
              </a:ext>
            </a:extLst>
          </p:cNvPr>
          <p:cNvSpPr/>
          <p:nvPr/>
        </p:nvSpPr>
        <p:spPr>
          <a:xfrm>
            <a:off x="4138409" y="2798064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654E9F-C362-340A-6669-37EC9330304F}"/>
              </a:ext>
            </a:extLst>
          </p:cNvPr>
          <p:cNvSpPr/>
          <p:nvPr/>
        </p:nvSpPr>
        <p:spPr>
          <a:xfrm>
            <a:off x="6785165" y="2760656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DC89C-1716-B9BA-0D82-D603A7F09CDD}"/>
              </a:ext>
            </a:extLst>
          </p:cNvPr>
          <p:cNvSpPr txBox="1"/>
          <p:nvPr/>
        </p:nvSpPr>
        <p:spPr>
          <a:xfrm>
            <a:off x="4469925" y="15739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1C826-C124-8A30-314D-A450625B56B9}"/>
              </a:ext>
            </a:extLst>
          </p:cNvPr>
          <p:cNvSpPr txBox="1"/>
          <p:nvPr/>
        </p:nvSpPr>
        <p:spPr>
          <a:xfrm>
            <a:off x="7069313" y="15087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374AB0-DBA5-7DD2-EFCB-01B9B8662631}"/>
              </a:ext>
            </a:extLst>
          </p:cNvPr>
          <p:cNvSpPr txBox="1"/>
          <p:nvPr/>
        </p:nvSpPr>
        <p:spPr>
          <a:xfrm>
            <a:off x="4447497" y="30290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4E32C-67BB-D88F-AE58-B84E1C7D9A90}"/>
              </a:ext>
            </a:extLst>
          </p:cNvPr>
          <p:cNvSpPr txBox="1"/>
          <p:nvPr/>
        </p:nvSpPr>
        <p:spPr>
          <a:xfrm>
            <a:off x="7223362" y="30290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0A0957-85DD-3C59-1847-CA4090B44A46}"/>
              </a:ext>
            </a:extLst>
          </p:cNvPr>
          <p:cNvCxnSpPr>
            <a:stCxn id="4" idx="7"/>
            <a:endCxn id="2" idx="3"/>
          </p:cNvCxnSpPr>
          <p:nvPr/>
        </p:nvCxnSpPr>
        <p:spPr>
          <a:xfrm flipV="1">
            <a:off x="4951462" y="930883"/>
            <a:ext cx="710529" cy="533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D25F6F-537F-E4A0-2F11-F9B0D19EC5B4}"/>
              </a:ext>
            </a:extLst>
          </p:cNvPr>
          <p:cNvCxnSpPr>
            <a:cxnSpLocks/>
            <a:stCxn id="5" idx="1"/>
            <a:endCxn id="2" idx="5"/>
          </p:cNvCxnSpPr>
          <p:nvPr/>
        </p:nvCxnSpPr>
        <p:spPr>
          <a:xfrm flipH="1" flipV="1">
            <a:off x="6316966" y="930883"/>
            <a:ext cx="603849" cy="5338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A565D4-2913-CA5B-F441-79BB9D76EE8D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601547" y="2174284"/>
            <a:ext cx="22428" cy="623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140AFF-BE45-7653-5CB8-921D755D4403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7248303" y="2174284"/>
            <a:ext cx="0" cy="586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C93071D-37BA-5995-A4BD-57B8365F10AD}"/>
              </a:ext>
            </a:extLst>
          </p:cNvPr>
          <p:cNvSpPr/>
          <p:nvPr/>
        </p:nvSpPr>
        <p:spPr>
          <a:xfrm>
            <a:off x="3065513" y="4532376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B10E479-8E86-159E-CCB5-019AD90E17BA}"/>
              </a:ext>
            </a:extLst>
          </p:cNvPr>
          <p:cNvSpPr/>
          <p:nvPr/>
        </p:nvSpPr>
        <p:spPr>
          <a:xfrm>
            <a:off x="5525407" y="4543508"/>
            <a:ext cx="926275" cy="83127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BD84B5-56F5-A8B0-41B1-74C13D1267EB}"/>
              </a:ext>
            </a:extLst>
          </p:cNvPr>
          <p:cNvCxnSpPr>
            <a:cxnSpLocks/>
            <a:stCxn id="32" idx="0"/>
            <a:endCxn id="6" idx="3"/>
          </p:cNvCxnSpPr>
          <p:nvPr/>
        </p:nvCxnSpPr>
        <p:spPr>
          <a:xfrm flipV="1">
            <a:off x="3528651" y="3507599"/>
            <a:ext cx="745408" cy="1024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04595A3-3295-1A5F-9FD3-3EC83ECF6EE0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3991788" y="4948012"/>
            <a:ext cx="1533619" cy="111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341632-ACB2-3D31-AA84-738947AEFFC1}"/>
              </a:ext>
            </a:extLst>
          </p:cNvPr>
          <p:cNvCxnSpPr>
            <a:cxnSpLocks/>
            <a:stCxn id="6" idx="5"/>
            <a:endCxn id="33" idx="1"/>
          </p:cNvCxnSpPr>
          <p:nvPr/>
        </p:nvCxnSpPr>
        <p:spPr>
          <a:xfrm>
            <a:off x="4929034" y="3507599"/>
            <a:ext cx="732023" cy="11576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C6A8EA9-37D7-C52F-7D5A-FF7586D3CAFA}"/>
              </a:ext>
            </a:extLst>
          </p:cNvPr>
          <p:cNvSpPr txBox="1"/>
          <p:nvPr/>
        </p:nvSpPr>
        <p:spPr>
          <a:xfrm>
            <a:off x="3385504" y="47840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323719-39D4-D0D1-2CC5-2845240B3123}"/>
              </a:ext>
            </a:extLst>
          </p:cNvPr>
          <p:cNvSpPr txBox="1"/>
          <p:nvPr/>
        </p:nvSpPr>
        <p:spPr>
          <a:xfrm>
            <a:off x="5834495" y="47840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7424EB-07A8-83D9-0F0C-5E9831946437}"/>
              </a:ext>
            </a:extLst>
          </p:cNvPr>
          <p:cNvSpPr txBox="1"/>
          <p:nvPr/>
        </p:nvSpPr>
        <p:spPr>
          <a:xfrm>
            <a:off x="359248" y="5926760"/>
            <a:ext cx="5213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BFS (source=0)  0 &gt; 1 &gt; 2 &gt; 3 &gt; 4 &gt; 5 &gt; 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9AC072-742E-5496-E141-80781D99A817}"/>
              </a:ext>
            </a:extLst>
          </p:cNvPr>
          <p:cNvSpPr txBox="1"/>
          <p:nvPr/>
        </p:nvSpPr>
        <p:spPr>
          <a:xfrm>
            <a:off x="6371059" y="5839415"/>
            <a:ext cx="5239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DFS (source=0)  0 &gt; 1 &gt; 3 &gt; 5 &gt; 6 &gt; 2 &gt; 4</a:t>
            </a:r>
          </a:p>
        </p:txBody>
      </p:sp>
    </p:spTree>
    <p:extLst>
      <p:ext uri="{BB962C8B-B14F-4D97-AF65-F5344CB8AC3E}">
        <p14:creationId xmlns:p14="http://schemas.microsoft.com/office/powerpoint/2010/main" val="338620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/>
      <p:bldP spid="3" grpId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/>
      <p:bldP spid="12" grpId="0"/>
      <p:bldP spid="13" grpId="0"/>
      <p:bldP spid="14" grpId="0"/>
      <p:bldP spid="32" grpId="0" animBg="1"/>
      <p:bldP spid="32" grpId="1" animBg="1"/>
      <p:bldP spid="33" grpId="0" animBg="1"/>
      <p:bldP spid="33" grpId="1" animBg="1"/>
      <p:bldP spid="45" grpId="0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8D6C4-704F-AD31-13A3-D9C5FF10A3AD}"/>
              </a:ext>
            </a:extLst>
          </p:cNvPr>
          <p:cNvSpPr txBox="1"/>
          <p:nvPr/>
        </p:nvSpPr>
        <p:spPr>
          <a:xfrm>
            <a:off x="1021277" y="2683824"/>
            <a:ext cx="103957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- Exam 2 syllabus has been updated (Graph topics added) </a:t>
            </a:r>
          </a:p>
          <a:p>
            <a:r>
              <a:rPr lang="en-US" sz="3200" dirty="0"/>
              <a:t>- Please download the updated version from </a:t>
            </a:r>
            <a:r>
              <a:rPr lang="en-US" sz="3200" dirty="0" err="1"/>
              <a:t>iCollege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502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037404-C776-6E81-2A58-E9139F43CEF2}"/>
              </a:ext>
            </a:extLst>
          </p:cNvPr>
          <p:cNvSpPr/>
          <p:nvPr/>
        </p:nvSpPr>
        <p:spPr>
          <a:xfrm>
            <a:off x="4269669" y="2967335"/>
            <a:ext cx="36526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83438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1043</Words>
  <Application>Microsoft Macintosh PowerPoint</Application>
  <PresentationFormat>Widescreen</PresentationFormat>
  <Paragraphs>262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Courier New</vt:lpstr>
      <vt:lpstr>Wingdings</vt:lpstr>
      <vt:lpstr>Office Theme</vt:lpstr>
      <vt:lpstr>Data Structure -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- Graphs</dc:title>
  <dc:creator>Towhid Islam</dc:creator>
  <cp:lastModifiedBy>S M Towhidul Islam</cp:lastModifiedBy>
  <cp:revision>27</cp:revision>
  <dcterms:created xsi:type="dcterms:W3CDTF">2024-03-19T03:41:24Z</dcterms:created>
  <dcterms:modified xsi:type="dcterms:W3CDTF">2025-10-22T19:33:17Z</dcterms:modified>
</cp:coreProperties>
</file>
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9" autoAdjust="0"/>
    <p:restoredTop sz="94660"/>
  </p:normalViewPr>
  <p:slideViewPr>
    <p:cSldViewPr snapToGrid="0" showGuides="1">
      <p:cViewPr varScale="1">
        <p:scale>
          <a:sx n="157" d="100"/>
          <a:sy n="157" d="100"/>
        </p:scale>
        <p:origin x="68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60C34-CD5B-0632-7FF2-BEB60898D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ED0D7F-246F-3D34-DE80-93AC5E945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A816C-D9A5-1125-98B9-581950ECC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7090E-B6BA-4492-9734-57CF9C89CD1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D555B-F293-847E-2E44-3B4EAD68D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41B72-CE85-E825-152C-C15985569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F710-2A91-4AED-A863-ECD481003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66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9E34-0E53-DAF4-12EF-BBC7BDCD8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516F6-6CD7-F263-1E42-3A57F3EC1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4DD36-61B2-1632-1E50-17E6C6F2D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7090E-B6BA-4492-9734-57CF9C89CD1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E40E5-64D3-67ED-F221-DC909D626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55F0D-464B-8AC5-BE19-B28390F14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F710-2A91-4AED-A863-ECD481003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20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03426-CAC3-3EA7-84B5-AB7362E96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3AF54-ED71-0926-4825-88416E635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F2DEB-0FD6-BCB0-1007-97CF8BD1C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7090E-B6BA-4492-9734-57CF9C89CD1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FCCDC-0EE5-D23E-2C35-46FA6609F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9B56F-2310-D458-CAAA-8CF1CFE25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F710-2A91-4AED-A863-ECD481003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33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09528-2A34-A543-51CF-AA28F5B28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62C3B-A739-89E7-FADE-E95DBD5E9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66645-9D4C-30CB-EEAF-266BAC5C8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B7F95-F394-2237-32D5-8E56AFBF0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7090E-B6BA-4492-9734-57CF9C89CD1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9794C-019D-0831-DE3A-07D002E62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629DC-F49C-E3AF-6CE5-480CAF441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F710-2A91-4AED-A863-ECD481003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8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F09F6-B734-1A06-388A-C42B0C66F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F13F4-8FBB-E67B-919F-4F18E1A77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1B0C21-822F-3D33-CA35-B51D6CA9D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57C6E5-57CD-5AC1-6550-36D249E5F0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D42098-0B9B-92F1-36DF-03E78CFE7E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5B6F3D-8BA4-E0A7-CC68-E09321388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7090E-B6BA-4492-9734-57CF9C89CD1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ED3D4B-758A-9435-13CA-990D81F68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350AE4-62C2-1E10-BDA9-1C88F8D6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F710-2A91-4AED-A863-ECD481003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174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4C202-15DC-3DC8-F55B-EA4896046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E92EE-3375-DD7C-7F0F-D25018F54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7090E-B6BA-4492-9734-57CF9C89CD1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7D6F3A-A072-20C3-7809-2AC7314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7EB057-0957-87C3-57D6-3ABEDFC51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F710-2A91-4AED-A863-ECD481003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99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9AB6CE-DE50-AEB5-0084-0C7AA6AA6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7090E-B6BA-4492-9734-57CF9C89CD1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D226F-7176-674F-B409-90F70E5A0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B37B6-8690-385B-6E62-9B9095045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F710-2A91-4AED-A863-ECD481003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38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FEAC5-AE6D-395A-FDF8-1A2D3BA34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ADE63-E9D6-D173-641E-1AF793A20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3E8A9-D153-51DF-63CE-4B9345136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0AF51-64BB-4B5F-E5AA-392F249B0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7090E-B6BA-4492-9734-57CF9C89CD1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158C8-307C-ADF5-EBCE-F864E40EF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15A80-2B04-680D-8978-CA9D43BFE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F710-2A91-4AED-A863-ECD481003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09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36E0A-94F7-B2D8-A89E-1205A722A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D9E05B-5E28-D7AE-B50F-28F470D742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A860A-F1E5-2C99-1937-19E962050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EC65B-0361-0B32-CC23-0A59A4735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7090E-B6BA-4492-9734-57CF9C89CD1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DF458-9B92-D0E0-0347-3B9030B4E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681B5-CA0C-5581-6DB9-4E7E6A43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F710-2A91-4AED-A863-ECD481003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93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C6167-AD5B-7BF5-E13B-8CA1797F9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24B15-1286-E122-E204-EDF87223A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540AC-4B1A-D00B-1D37-929A07700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7090E-B6BA-4492-9734-57CF9C89CD1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FB4CA-05D0-502B-D678-DA7BD72CA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07C23-E53A-F242-D514-9332EF555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F710-2A91-4AED-A863-ECD481003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394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156F40-0D93-5878-266C-FE04514D61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41E4D-1DB1-15D2-B4AF-AB563768D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C278D-253A-3F5D-C5B5-DCFE744CC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7090E-B6BA-4492-9734-57CF9C89CD1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9EDF9-33CB-41C6-BE3E-F72CA4243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39A71-B7CA-006F-DB26-6A941A99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9F710-2A91-4AED-A863-ECD481003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29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1B98C6-10B8-4110-5A74-DDBA8D848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17072-9CD1-41E0-F8C8-867A6E72E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3EB6A-172C-0DF5-88C6-4F55617097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7090E-B6BA-4492-9734-57CF9C89CD1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DC4B5-E5F9-F5AE-649D-892240530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FF69E-F998-8890-A6FC-F1CE8BC3F9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9F710-2A91-4AED-A863-ECD481003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39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77E0A-8913-241B-92A2-40980E27E1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NumPy</a:t>
            </a:r>
          </a:p>
        </p:txBody>
      </p:sp>
    </p:spTree>
    <p:extLst>
      <p:ext uri="{BB962C8B-B14F-4D97-AF65-F5344CB8AC3E}">
        <p14:creationId xmlns:p14="http://schemas.microsoft.com/office/powerpoint/2010/main" val="411532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5B780F-8E1B-DA9F-0011-144F24E35212}"/>
              </a:ext>
            </a:extLst>
          </p:cNvPr>
          <p:cNvSpPr txBox="1"/>
          <p:nvPr/>
        </p:nvSpPr>
        <p:spPr>
          <a:xfrm>
            <a:off x="1369435" y="1312039"/>
            <a:ext cx="945313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NumPy stands for Numerical Python, and it is a fundamental library for numerical computing in Python.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Designed for efficient computation with large, multi-dimensional arrays and matrices (~50x faster than python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Offers a wide range of mathematical functions to perform operations on these arrays.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Widely used in scientific, engineering, and data analysis applications.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2F1007-E3A3-0E8B-D924-7AC59BC05ADE}"/>
              </a:ext>
            </a:extLst>
          </p:cNvPr>
          <p:cNvSpPr txBox="1"/>
          <p:nvPr/>
        </p:nvSpPr>
        <p:spPr>
          <a:xfrm>
            <a:off x="1959429" y="4672765"/>
            <a:ext cx="969450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Installation: PyCharm &gt; Python Packages &gt; </a:t>
            </a:r>
            <a:r>
              <a:rPr lang="en-US" sz="3200" dirty="0" err="1"/>
              <a:t>numpy</a:t>
            </a:r>
            <a:endParaRPr lang="en-US" sz="3200" dirty="0"/>
          </a:p>
          <a:p>
            <a:r>
              <a:rPr lang="en-US" sz="3200" dirty="0"/>
              <a:t>import </a:t>
            </a:r>
            <a:r>
              <a:rPr lang="en-US" sz="3200" dirty="0" err="1"/>
              <a:t>numpy</a:t>
            </a:r>
            <a:r>
              <a:rPr lang="en-US" sz="3200" dirty="0"/>
              <a:t> as np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B77A5D-FAF5-5B95-C71C-759DC831EFD4}"/>
              </a:ext>
            </a:extLst>
          </p:cNvPr>
          <p:cNvSpPr txBox="1">
            <a:spLocks/>
          </p:cNvSpPr>
          <p:nvPr/>
        </p:nvSpPr>
        <p:spPr>
          <a:xfrm>
            <a:off x="5002736" y="578498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413871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9356A-B5A7-5A4F-041E-51BD3CED87DA}"/>
              </a:ext>
            </a:extLst>
          </p:cNvPr>
          <p:cNvSpPr txBox="1">
            <a:spLocks/>
          </p:cNvSpPr>
          <p:nvPr/>
        </p:nvSpPr>
        <p:spPr>
          <a:xfrm>
            <a:off x="1083878" y="827000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Arrays: </a:t>
            </a:r>
            <a:r>
              <a:rPr lang="en-US" sz="3200" b="1" dirty="0" err="1"/>
              <a:t>ndarray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54AF98-DDAE-4538-ABCF-6DD81014D03D}"/>
              </a:ext>
            </a:extLst>
          </p:cNvPr>
          <p:cNvSpPr txBox="1"/>
          <p:nvPr/>
        </p:nvSpPr>
        <p:spPr>
          <a:xfrm>
            <a:off x="1571624" y="1602570"/>
            <a:ext cx="85595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 </a:t>
            </a:r>
            <a:r>
              <a:rPr lang="en-US" sz="2400" b="1" i="1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ndarray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type is a mutable container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elements must be of the same type / homogenous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ndarray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object is called an array and is created by the array() function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array may have zero, one, or many dimensions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3A688B2-A06B-E740-32CC-6F1419C04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048" y="3818128"/>
            <a:ext cx="4822240" cy="261611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E38A6A-4F6C-1DBE-D11D-B72FDF198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719" y="4301433"/>
            <a:ext cx="3912548" cy="166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15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137EAC-062D-CE7F-6AD2-0FD8C7C91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418" y="359554"/>
            <a:ext cx="6451039" cy="613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21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EF305E-BA54-4400-01B4-321117374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53" y="1796885"/>
            <a:ext cx="11048294" cy="41350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176E74-7DEB-D52C-13A8-4E55C69A3B95}"/>
              </a:ext>
            </a:extLst>
          </p:cNvPr>
          <p:cNvSpPr txBox="1"/>
          <p:nvPr/>
        </p:nvSpPr>
        <p:spPr>
          <a:xfrm>
            <a:off x="2242458" y="1905001"/>
            <a:ext cx="5036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(4)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4D1FCC-A133-20B3-8CC1-58F7A70A6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084" y="583453"/>
            <a:ext cx="8093831" cy="733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3B8C30-79F9-40D7-8487-A41F602C775A}"/>
              </a:ext>
            </a:extLst>
          </p:cNvPr>
          <p:cNvSpPr txBox="1"/>
          <p:nvPr/>
        </p:nvSpPr>
        <p:spPr>
          <a:xfrm>
            <a:off x="2046515" y="2481944"/>
            <a:ext cx="9332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(2,2,3)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CE1D3F-17BA-77C9-9497-6C151D80A312}"/>
              </a:ext>
            </a:extLst>
          </p:cNvPr>
          <p:cNvSpPr txBox="1"/>
          <p:nvPr/>
        </p:nvSpPr>
        <p:spPr>
          <a:xfrm>
            <a:off x="2155373" y="3091544"/>
            <a:ext cx="7184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(4,2)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D2FFC3-9316-3B49-234D-09D30EF097C9}"/>
              </a:ext>
            </a:extLst>
          </p:cNvPr>
          <p:cNvSpPr txBox="1"/>
          <p:nvPr/>
        </p:nvSpPr>
        <p:spPr>
          <a:xfrm>
            <a:off x="2286001" y="3646716"/>
            <a:ext cx="3609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1F557A-010A-459D-8AA7-201AEE9477C3}"/>
              </a:ext>
            </a:extLst>
          </p:cNvPr>
          <p:cNvSpPr txBox="1"/>
          <p:nvPr/>
        </p:nvSpPr>
        <p:spPr>
          <a:xfrm>
            <a:off x="2024744" y="4234545"/>
            <a:ext cx="18614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Invalid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B84F17-3E25-F0BA-F514-C7CCB45BE75F}"/>
              </a:ext>
            </a:extLst>
          </p:cNvPr>
          <p:cNvSpPr txBox="1"/>
          <p:nvPr/>
        </p:nvSpPr>
        <p:spPr>
          <a:xfrm>
            <a:off x="2166259" y="4855029"/>
            <a:ext cx="7184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(2,4)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D14A61-580A-E5D8-8BA9-92B4FD01C98A}"/>
              </a:ext>
            </a:extLst>
          </p:cNvPr>
          <p:cNvSpPr txBox="1"/>
          <p:nvPr/>
        </p:nvSpPr>
        <p:spPr>
          <a:xfrm>
            <a:off x="2340429" y="5431973"/>
            <a:ext cx="5116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2484624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733BD-B01E-3380-FA41-E3EEBACA4682}"/>
              </a:ext>
            </a:extLst>
          </p:cNvPr>
          <p:cNvSpPr txBox="1">
            <a:spLocks/>
          </p:cNvSpPr>
          <p:nvPr/>
        </p:nvSpPr>
        <p:spPr>
          <a:xfrm>
            <a:off x="1083878" y="827000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Array functions – array()</a:t>
            </a:r>
            <a:endParaRPr 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42205-438F-3916-3DB9-A308BE1D11C5}"/>
              </a:ext>
            </a:extLst>
          </p:cNvPr>
          <p:cNvSpPr txBox="1"/>
          <p:nvPr/>
        </p:nvSpPr>
        <p:spPr>
          <a:xfrm>
            <a:off x="4201390" y="194547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arr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lang="en-US" sz="2400" dirty="0" err="1">
                <a:solidFill>
                  <a:srgbClr val="080808"/>
                </a:solidFill>
                <a:effectLst/>
                <a:latin typeface="JetBrains Mono"/>
              </a:rPr>
              <a:t>np.array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([[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],[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]])</a:t>
            </a:r>
          </a:p>
        </p:txBody>
      </p:sp>
    </p:spTree>
    <p:extLst>
      <p:ext uri="{BB962C8B-B14F-4D97-AF65-F5344CB8AC3E}">
        <p14:creationId xmlns:p14="http://schemas.microsoft.com/office/powerpoint/2010/main" val="3091917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733BD-B01E-3380-FA41-E3EEBACA4682}"/>
              </a:ext>
            </a:extLst>
          </p:cNvPr>
          <p:cNvSpPr txBox="1">
            <a:spLocks/>
          </p:cNvSpPr>
          <p:nvPr/>
        </p:nvSpPr>
        <p:spPr>
          <a:xfrm>
            <a:off x="1083878" y="827000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Array functions – delete()</a:t>
            </a:r>
            <a:endParaRPr lang="en-US" sz="3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7DB164-2A7F-7A72-107A-578EE7FF5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870" y="1923844"/>
            <a:ext cx="6988236" cy="22172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19F597-4331-6721-9461-0D8051270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033" y="4711774"/>
            <a:ext cx="4167353" cy="54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2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733BD-B01E-3380-FA41-E3EEBACA4682}"/>
              </a:ext>
            </a:extLst>
          </p:cNvPr>
          <p:cNvSpPr txBox="1">
            <a:spLocks/>
          </p:cNvSpPr>
          <p:nvPr/>
        </p:nvSpPr>
        <p:spPr>
          <a:xfrm>
            <a:off x="1083878" y="827000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Array functions – delete()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88B82B-3009-11A3-C51B-FC85B984B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945" y="1679413"/>
            <a:ext cx="7686726" cy="2934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3436CC-EE16-DE34-CFE0-E03D9B4DA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792" y="4887309"/>
            <a:ext cx="1863855" cy="15314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3DBCBF-4439-E436-8A50-3C2296AFB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819" y="5151749"/>
            <a:ext cx="1880484" cy="9941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0CDCB8-2243-CDCA-19C3-F9035B0D62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0659" y="4782207"/>
            <a:ext cx="1461515" cy="154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54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733BD-B01E-3380-FA41-E3EEBACA4682}"/>
              </a:ext>
            </a:extLst>
          </p:cNvPr>
          <p:cNvSpPr txBox="1">
            <a:spLocks/>
          </p:cNvSpPr>
          <p:nvPr/>
        </p:nvSpPr>
        <p:spPr>
          <a:xfrm>
            <a:off x="1083878" y="827000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Array functions – full()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82C58B-1327-0B2B-D0F8-78F9E7FBC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748" y="1663363"/>
            <a:ext cx="4117250" cy="9390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9C86E6-D535-1780-697C-3DBC73476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844" y="3263517"/>
            <a:ext cx="3203894" cy="316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6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733BD-B01E-3380-FA41-E3EEBACA4682}"/>
              </a:ext>
            </a:extLst>
          </p:cNvPr>
          <p:cNvSpPr txBox="1">
            <a:spLocks/>
          </p:cNvSpPr>
          <p:nvPr/>
        </p:nvSpPr>
        <p:spPr>
          <a:xfrm>
            <a:off x="1083878" y="827000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Array functions – insert() a new row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7680A-769B-BF03-CA9A-C7E790FAB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116" y="2118053"/>
            <a:ext cx="5670838" cy="26218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51A6CE-8EBA-7EA1-A87E-B7FAF775A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825" y="2191845"/>
            <a:ext cx="2258091" cy="267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128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733BD-B01E-3380-FA41-E3EEBACA4682}"/>
              </a:ext>
            </a:extLst>
          </p:cNvPr>
          <p:cNvSpPr txBox="1">
            <a:spLocks/>
          </p:cNvSpPr>
          <p:nvPr/>
        </p:nvSpPr>
        <p:spPr>
          <a:xfrm>
            <a:off x="1083878" y="827000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Array functions – insert() a new column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0311AC-915D-7F8B-C974-A1D27AC24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17" y="2155127"/>
            <a:ext cx="5549462" cy="26189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58050E-E41A-AA16-893F-AF1B77E20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534" y="2406399"/>
            <a:ext cx="2845237" cy="244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9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733BD-B01E-3380-FA41-E3EEBACA4682}"/>
              </a:ext>
            </a:extLst>
          </p:cNvPr>
          <p:cNvSpPr txBox="1">
            <a:spLocks/>
          </p:cNvSpPr>
          <p:nvPr/>
        </p:nvSpPr>
        <p:spPr>
          <a:xfrm>
            <a:off x="1083878" y="827000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Array functions – zeros() and ones()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68F4E0-D973-DB0A-D25C-B25BC30CF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759" y="1822601"/>
            <a:ext cx="5031186" cy="19515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BB7704-C51B-92F2-5CBC-075B39EB1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409" y="1361759"/>
            <a:ext cx="2466328" cy="24771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FA2D69-DB88-8DC1-FED2-9A44C6206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479" y="4409427"/>
            <a:ext cx="4855528" cy="19399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EDFE9D-5A33-FCA2-62A6-172874DBFB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246" y="4526498"/>
            <a:ext cx="3072271" cy="13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22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733BD-B01E-3380-FA41-E3EEBACA4682}"/>
              </a:ext>
            </a:extLst>
          </p:cNvPr>
          <p:cNvSpPr txBox="1">
            <a:spLocks/>
          </p:cNvSpPr>
          <p:nvPr/>
        </p:nvSpPr>
        <p:spPr>
          <a:xfrm>
            <a:off x="1083878" y="827000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Array functions – sort()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A29122-5737-171A-87C2-E23C1EA6A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493" y="2362899"/>
            <a:ext cx="6412524" cy="24298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055517-CC2B-9604-AA82-9D6CD2E6E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171" y="867851"/>
            <a:ext cx="1847539" cy="14549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2B96C9-94B9-4FDA-5B7E-D1A62BC34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056" y="2797942"/>
            <a:ext cx="1895128" cy="15428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33D214-AAA9-D8F1-8F87-90D5D12929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7546" y="4691774"/>
            <a:ext cx="1908205" cy="161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25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733BD-B01E-3380-FA41-E3EEBACA4682}"/>
              </a:ext>
            </a:extLst>
          </p:cNvPr>
          <p:cNvSpPr txBox="1">
            <a:spLocks/>
          </p:cNvSpPr>
          <p:nvPr/>
        </p:nvSpPr>
        <p:spPr>
          <a:xfrm>
            <a:off x="1083878" y="827000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Shape functions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2EADED-25E5-46DF-D0BE-EE54DC70B9D8}"/>
              </a:ext>
            </a:extLst>
          </p:cNvPr>
          <p:cNvSpPr txBox="1"/>
          <p:nvPr/>
        </p:nvSpPr>
        <p:spPr>
          <a:xfrm>
            <a:off x="1187161" y="1799998"/>
            <a:ext cx="104194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Occasionally, data scientists must change the shape of an array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Reshaping</a:t>
            </a:r>
            <a:r>
              <a:rPr lang="en-US" sz="2400" b="0" i="0" dirty="0">
                <a:solidFill>
                  <a:srgbClr val="37474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 array changes array dimensions while retaining array data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3747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Ex: [[1, 3, 5], [2, 4, 6]] might be reshaped to [[1, 2], [3, 4], [5, 6]]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Flattening</a:t>
            </a:r>
            <a:r>
              <a:rPr lang="en-US" sz="2400" b="0" i="0" dirty="0">
                <a:solidFill>
                  <a:srgbClr val="37474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 array reshapes an N-dimensional array to one dimension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3747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 [[1, 3, 5], [2, 4, 6]] 	&gt; 	[1, 2, 3, 4, 5, 6]</a:t>
            </a:r>
          </a:p>
        </p:txBody>
      </p:sp>
    </p:spTree>
    <p:extLst>
      <p:ext uri="{BB962C8B-B14F-4D97-AF65-F5344CB8AC3E}">
        <p14:creationId xmlns:p14="http://schemas.microsoft.com/office/powerpoint/2010/main" val="101342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3F21A-9B79-E7FA-8244-BC75807FE8D4}"/>
              </a:ext>
            </a:extLst>
          </p:cNvPr>
          <p:cNvSpPr txBox="1">
            <a:spLocks/>
          </p:cNvSpPr>
          <p:nvPr/>
        </p:nvSpPr>
        <p:spPr>
          <a:xfrm>
            <a:off x="1083878" y="827000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Shape functions: element order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AE58D8-63FF-9F56-0814-2A58E35816C9}"/>
              </a:ext>
            </a:extLst>
          </p:cNvPr>
          <p:cNvSpPr txBox="1"/>
          <p:nvPr/>
        </p:nvSpPr>
        <p:spPr>
          <a:xfrm>
            <a:off x="1384589" y="1685698"/>
            <a:ext cx="60942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/>
              <a:t> Row-major </a:t>
            </a:r>
            <a:r>
              <a:rPr lang="en-US" sz="2500" dirty="0"/>
              <a:t>order prioritizes row order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F11E09-D584-A7C9-0B86-2722724F4CC7}"/>
              </a:ext>
            </a:extLst>
          </p:cNvPr>
          <p:cNvSpPr txBox="1"/>
          <p:nvPr/>
        </p:nvSpPr>
        <p:spPr>
          <a:xfrm>
            <a:off x="1374198" y="3898961"/>
            <a:ext cx="60942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/>
              <a:t>Column-major</a:t>
            </a:r>
            <a:r>
              <a:rPr lang="en-US" sz="2500" dirty="0"/>
              <a:t> order prioritizes column order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BC263B56-52B6-8FF1-B04F-6342C8B3A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414821"/>
              </p:ext>
            </p:extLst>
          </p:nvPr>
        </p:nvGraphicFramePr>
        <p:xfrm>
          <a:off x="1886527" y="2506902"/>
          <a:ext cx="1542474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4158">
                  <a:extLst>
                    <a:ext uri="{9D8B030D-6E8A-4147-A177-3AD203B41FA5}">
                      <a16:colId xmlns:a16="http://schemas.microsoft.com/office/drawing/2014/main" val="3899420921"/>
                    </a:ext>
                  </a:extLst>
                </a:gridCol>
                <a:gridCol w="514158">
                  <a:extLst>
                    <a:ext uri="{9D8B030D-6E8A-4147-A177-3AD203B41FA5}">
                      <a16:colId xmlns:a16="http://schemas.microsoft.com/office/drawing/2014/main" val="2785002430"/>
                    </a:ext>
                  </a:extLst>
                </a:gridCol>
                <a:gridCol w="514158">
                  <a:extLst>
                    <a:ext uri="{9D8B030D-6E8A-4147-A177-3AD203B41FA5}">
                      <a16:colId xmlns:a16="http://schemas.microsoft.com/office/drawing/2014/main" val="3721718995"/>
                    </a:ext>
                  </a:extLst>
                </a:gridCol>
              </a:tblGrid>
              <a:tr h="3415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354244"/>
                  </a:ext>
                </a:extLst>
              </a:tr>
              <a:tr h="3415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480296"/>
                  </a:ext>
                </a:extLst>
              </a:tr>
            </a:tbl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DD7E1ADF-1B19-E631-973F-3B41620A0A44}"/>
              </a:ext>
            </a:extLst>
          </p:cNvPr>
          <p:cNvSpPr/>
          <p:nvPr/>
        </p:nvSpPr>
        <p:spPr>
          <a:xfrm>
            <a:off x="3792682" y="2701637"/>
            <a:ext cx="415636" cy="2909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12A15C3D-56D6-6DEE-B5B6-30C80C6CA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348547"/>
              </p:ext>
            </p:extLst>
          </p:nvPr>
        </p:nvGraphicFramePr>
        <p:xfrm>
          <a:off x="4742871" y="2693938"/>
          <a:ext cx="2706258" cy="381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043">
                  <a:extLst>
                    <a:ext uri="{9D8B030D-6E8A-4147-A177-3AD203B41FA5}">
                      <a16:colId xmlns:a16="http://schemas.microsoft.com/office/drawing/2014/main" val="2606421819"/>
                    </a:ext>
                  </a:extLst>
                </a:gridCol>
                <a:gridCol w="451043">
                  <a:extLst>
                    <a:ext uri="{9D8B030D-6E8A-4147-A177-3AD203B41FA5}">
                      <a16:colId xmlns:a16="http://schemas.microsoft.com/office/drawing/2014/main" val="4015110099"/>
                    </a:ext>
                  </a:extLst>
                </a:gridCol>
                <a:gridCol w="451043">
                  <a:extLst>
                    <a:ext uri="{9D8B030D-6E8A-4147-A177-3AD203B41FA5}">
                      <a16:colId xmlns:a16="http://schemas.microsoft.com/office/drawing/2014/main" val="4242848118"/>
                    </a:ext>
                  </a:extLst>
                </a:gridCol>
                <a:gridCol w="451043">
                  <a:extLst>
                    <a:ext uri="{9D8B030D-6E8A-4147-A177-3AD203B41FA5}">
                      <a16:colId xmlns:a16="http://schemas.microsoft.com/office/drawing/2014/main" val="3752059860"/>
                    </a:ext>
                  </a:extLst>
                </a:gridCol>
                <a:gridCol w="451043">
                  <a:extLst>
                    <a:ext uri="{9D8B030D-6E8A-4147-A177-3AD203B41FA5}">
                      <a16:colId xmlns:a16="http://schemas.microsoft.com/office/drawing/2014/main" val="632436375"/>
                    </a:ext>
                  </a:extLst>
                </a:gridCol>
                <a:gridCol w="451043">
                  <a:extLst>
                    <a:ext uri="{9D8B030D-6E8A-4147-A177-3AD203B41FA5}">
                      <a16:colId xmlns:a16="http://schemas.microsoft.com/office/drawing/2014/main" val="1650867440"/>
                    </a:ext>
                  </a:extLst>
                </a:gridCol>
              </a:tblGrid>
              <a:tr h="38177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919825"/>
                  </a:ext>
                </a:extLst>
              </a:tr>
            </a:tbl>
          </a:graphicData>
        </a:graphic>
      </p:graphicFrame>
      <p:graphicFrame>
        <p:nvGraphicFramePr>
          <p:cNvPr id="12" name="Table 8">
            <a:extLst>
              <a:ext uri="{FF2B5EF4-FFF2-40B4-BE49-F238E27FC236}">
                <a16:creationId xmlns:a16="http://schemas.microsoft.com/office/drawing/2014/main" id="{2C280CA8-384F-7D70-ED1B-A6B107D7EE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151926"/>
              </p:ext>
            </p:extLst>
          </p:nvPr>
        </p:nvGraphicFramePr>
        <p:xfrm>
          <a:off x="1883064" y="4695921"/>
          <a:ext cx="1542474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4158">
                  <a:extLst>
                    <a:ext uri="{9D8B030D-6E8A-4147-A177-3AD203B41FA5}">
                      <a16:colId xmlns:a16="http://schemas.microsoft.com/office/drawing/2014/main" val="3899420921"/>
                    </a:ext>
                  </a:extLst>
                </a:gridCol>
                <a:gridCol w="514158">
                  <a:extLst>
                    <a:ext uri="{9D8B030D-6E8A-4147-A177-3AD203B41FA5}">
                      <a16:colId xmlns:a16="http://schemas.microsoft.com/office/drawing/2014/main" val="2785002430"/>
                    </a:ext>
                  </a:extLst>
                </a:gridCol>
                <a:gridCol w="514158">
                  <a:extLst>
                    <a:ext uri="{9D8B030D-6E8A-4147-A177-3AD203B41FA5}">
                      <a16:colId xmlns:a16="http://schemas.microsoft.com/office/drawing/2014/main" val="3721718995"/>
                    </a:ext>
                  </a:extLst>
                </a:gridCol>
              </a:tblGrid>
              <a:tr h="3415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354244"/>
                  </a:ext>
                </a:extLst>
              </a:tr>
              <a:tr h="3415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480296"/>
                  </a:ext>
                </a:extLst>
              </a:tr>
            </a:tbl>
          </a:graphicData>
        </a:graphic>
      </p:graphicFrame>
      <p:sp>
        <p:nvSpPr>
          <p:cNvPr id="13" name="Arrow: Right 12">
            <a:extLst>
              <a:ext uri="{FF2B5EF4-FFF2-40B4-BE49-F238E27FC236}">
                <a16:creationId xmlns:a16="http://schemas.microsoft.com/office/drawing/2014/main" id="{DC70E067-6FAF-A944-2C03-B708DF3E9C6F}"/>
              </a:ext>
            </a:extLst>
          </p:cNvPr>
          <p:cNvSpPr/>
          <p:nvPr/>
        </p:nvSpPr>
        <p:spPr>
          <a:xfrm>
            <a:off x="3789219" y="4890656"/>
            <a:ext cx="415636" cy="2909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C7A664D4-1917-0EA9-2506-147D3E155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555289"/>
              </p:ext>
            </p:extLst>
          </p:nvPr>
        </p:nvGraphicFramePr>
        <p:xfrm>
          <a:off x="4739408" y="4882957"/>
          <a:ext cx="2706258" cy="381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043">
                  <a:extLst>
                    <a:ext uri="{9D8B030D-6E8A-4147-A177-3AD203B41FA5}">
                      <a16:colId xmlns:a16="http://schemas.microsoft.com/office/drawing/2014/main" val="2606421819"/>
                    </a:ext>
                  </a:extLst>
                </a:gridCol>
                <a:gridCol w="451043">
                  <a:extLst>
                    <a:ext uri="{9D8B030D-6E8A-4147-A177-3AD203B41FA5}">
                      <a16:colId xmlns:a16="http://schemas.microsoft.com/office/drawing/2014/main" val="4015110099"/>
                    </a:ext>
                  </a:extLst>
                </a:gridCol>
                <a:gridCol w="451043">
                  <a:extLst>
                    <a:ext uri="{9D8B030D-6E8A-4147-A177-3AD203B41FA5}">
                      <a16:colId xmlns:a16="http://schemas.microsoft.com/office/drawing/2014/main" val="4242848118"/>
                    </a:ext>
                  </a:extLst>
                </a:gridCol>
                <a:gridCol w="451043">
                  <a:extLst>
                    <a:ext uri="{9D8B030D-6E8A-4147-A177-3AD203B41FA5}">
                      <a16:colId xmlns:a16="http://schemas.microsoft.com/office/drawing/2014/main" val="3752059860"/>
                    </a:ext>
                  </a:extLst>
                </a:gridCol>
                <a:gridCol w="451043">
                  <a:extLst>
                    <a:ext uri="{9D8B030D-6E8A-4147-A177-3AD203B41FA5}">
                      <a16:colId xmlns:a16="http://schemas.microsoft.com/office/drawing/2014/main" val="632436375"/>
                    </a:ext>
                  </a:extLst>
                </a:gridCol>
                <a:gridCol w="451043">
                  <a:extLst>
                    <a:ext uri="{9D8B030D-6E8A-4147-A177-3AD203B41FA5}">
                      <a16:colId xmlns:a16="http://schemas.microsoft.com/office/drawing/2014/main" val="1650867440"/>
                    </a:ext>
                  </a:extLst>
                </a:gridCol>
              </a:tblGrid>
              <a:tr h="38177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919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602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3F21A-9B79-E7FA-8244-BC75807FE8D4}"/>
              </a:ext>
            </a:extLst>
          </p:cNvPr>
          <p:cNvSpPr txBox="1">
            <a:spLocks/>
          </p:cNvSpPr>
          <p:nvPr/>
        </p:nvSpPr>
        <p:spPr>
          <a:xfrm>
            <a:off x="1083878" y="827000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Shape functions: element order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8B10D2-3FB1-37EB-2375-79F8F334AA88}"/>
              </a:ext>
            </a:extLst>
          </p:cNvPr>
          <p:cNvSpPr txBox="1"/>
          <p:nvPr/>
        </p:nvSpPr>
        <p:spPr>
          <a:xfrm>
            <a:off x="1841787" y="1874728"/>
            <a:ext cx="8071139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/>
              <a:t>Some shape functions have an order parameter</a:t>
            </a:r>
          </a:p>
          <a:p>
            <a:endParaRPr lang="en-US" sz="2500" dirty="0"/>
          </a:p>
          <a:p>
            <a:r>
              <a:rPr lang="en-US" sz="2500" dirty="0"/>
              <a:t>order='C' specifies row-major order</a:t>
            </a:r>
          </a:p>
          <a:p>
            <a:endParaRPr lang="en-US" sz="2500" dirty="0"/>
          </a:p>
          <a:p>
            <a:r>
              <a:rPr lang="en-US" sz="2500" dirty="0"/>
              <a:t>order='F' specifies column-major order</a:t>
            </a:r>
          </a:p>
          <a:p>
            <a:endParaRPr lang="en-US" sz="2500" dirty="0"/>
          </a:p>
          <a:p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343173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2EA03-CEC5-563C-02E4-7F3CCFD601B1}"/>
              </a:ext>
            </a:extLst>
          </p:cNvPr>
          <p:cNvSpPr txBox="1">
            <a:spLocks/>
          </p:cNvSpPr>
          <p:nvPr/>
        </p:nvSpPr>
        <p:spPr>
          <a:xfrm>
            <a:off x="1083878" y="827000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Shape functions: ravel()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94027E-7E81-286D-C82F-23B4B9B11FF8}"/>
              </a:ext>
            </a:extLst>
          </p:cNvPr>
          <p:cNvSpPr txBox="1"/>
          <p:nvPr/>
        </p:nvSpPr>
        <p:spPr>
          <a:xfrm>
            <a:off x="5261957" y="835867"/>
            <a:ext cx="8071139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/>
              <a:t>Returns a flattened array</a:t>
            </a:r>
          </a:p>
          <a:p>
            <a:endParaRPr lang="en-US" sz="2500" b="1" dirty="0"/>
          </a:p>
          <a:p>
            <a:endParaRPr lang="en-US" sz="25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8ACCF7-1C60-98E3-3EA8-1D8D28548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625" y="1798728"/>
            <a:ext cx="6360176" cy="4329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06008A-B2B1-1B30-DF2B-CF0C04F62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207" y="4730641"/>
            <a:ext cx="2615677" cy="149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28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2EA03-CEC5-563C-02E4-7F3CCFD601B1}"/>
              </a:ext>
            </a:extLst>
          </p:cNvPr>
          <p:cNvSpPr txBox="1">
            <a:spLocks/>
          </p:cNvSpPr>
          <p:nvPr/>
        </p:nvSpPr>
        <p:spPr>
          <a:xfrm>
            <a:off x="605897" y="775045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Shape functions: reshape()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94027E-7E81-286D-C82F-23B4B9B11FF8}"/>
              </a:ext>
            </a:extLst>
          </p:cNvPr>
          <p:cNvSpPr txBox="1"/>
          <p:nvPr/>
        </p:nvSpPr>
        <p:spPr>
          <a:xfrm>
            <a:off x="6096000" y="856648"/>
            <a:ext cx="807113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/>
              <a:t>Returns a reshaped array</a:t>
            </a:r>
          </a:p>
          <a:p>
            <a:r>
              <a:rPr lang="en-US" sz="2500" dirty="0"/>
              <a:t>M x N == A x B (#items)</a:t>
            </a:r>
          </a:p>
          <a:p>
            <a:endParaRPr lang="en-US" sz="2500" dirty="0"/>
          </a:p>
          <a:p>
            <a:endParaRPr lang="en-US" sz="2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074957-EADE-932A-11ED-D03C6D2B7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2010557"/>
            <a:ext cx="6377743" cy="35050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514238-F38E-FDA5-E9D1-AAFD2955F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515" y="2959495"/>
            <a:ext cx="4447346" cy="242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42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53105-F186-1BC4-3CAE-3589EA019A02}"/>
              </a:ext>
            </a:extLst>
          </p:cNvPr>
          <p:cNvSpPr txBox="1">
            <a:spLocks/>
          </p:cNvSpPr>
          <p:nvPr/>
        </p:nvSpPr>
        <p:spPr>
          <a:xfrm>
            <a:off x="1083878" y="827000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Shape functions: resize()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A73778-E489-88C4-3BA7-1A468EC3BC1A}"/>
              </a:ext>
            </a:extLst>
          </p:cNvPr>
          <p:cNvSpPr txBox="1"/>
          <p:nvPr/>
        </p:nvSpPr>
        <p:spPr>
          <a:xfrm>
            <a:off x="7148623" y="899178"/>
            <a:ext cx="8071139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/>
              <a:t>Returns a resized array</a:t>
            </a:r>
          </a:p>
          <a:p>
            <a:r>
              <a:rPr lang="en-US" sz="2500" dirty="0"/>
              <a:t>M x N == A x B (# of items)</a:t>
            </a:r>
          </a:p>
          <a:p>
            <a:r>
              <a:rPr lang="en-US" sz="2500" dirty="0"/>
              <a:t>M x N != A x B (# of items)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7308B-C815-5E1A-D6EC-63D0439F1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269" y="1976154"/>
            <a:ext cx="5605153" cy="3945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41C5E8-F23B-013C-9898-958E5F9F9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197" y="2817357"/>
            <a:ext cx="4296830" cy="299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3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D8DD9-959A-491F-9163-14A2AA3381E2}"/>
              </a:ext>
            </a:extLst>
          </p:cNvPr>
          <p:cNvSpPr txBox="1">
            <a:spLocks/>
          </p:cNvSpPr>
          <p:nvPr/>
        </p:nvSpPr>
        <p:spPr>
          <a:xfrm>
            <a:off x="1083878" y="827000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Shape functions: transpose()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D7ACE-4C18-E135-693B-84757E5DB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132" y="2708808"/>
            <a:ext cx="6445204" cy="31412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CF6324-BF3E-0811-4948-66E5CD606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850" y="4425084"/>
            <a:ext cx="1998130" cy="2009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D431B0-C7F7-DF53-9751-5201F3C29155}"/>
              </a:ext>
            </a:extLst>
          </p:cNvPr>
          <p:cNvSpPr txBox="1"/>
          <p:nvPr/>
        </p:nvSpPr>
        <p:spPr>
          <a:xfrm>
            <a:off x="1115290" y="1497871"/>
            <a:ext cx="98159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rows of the original matrix become the columns of the transposed matrix, and vice versa.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634570-2689-8FC0-6534-DBA57959D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5572" y="2480267"/>
            <a:ext cx="1778628" cy="148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050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43DF6-6301-91E0-02D7-000FB4B050B3}"/>
              </a:ext>
            </a:extLst>
          </p:cNvPr>
          <p:cNvSpPr txBox="1">
            <a:spLocks/>
          </p:cNvSpPr>
          <p:nvPr/>
        </p:nvSpPr>
        <p:spPr>
          <a:xfrm>
            <a:off x="917624" y="556836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Exercise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6FD190-001A-9195-7DDC-31658B1D6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84" y="2810342"/>
            <a:ext cx="10349431" cy="35661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DCA3D2-9045-4BFC-4666-AFC1C335C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194" y="1561661"/>
            <a:ext cx="10438463" cy="11394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AA8F1C4-37B7-B81D-A5C9-F7E4B674C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223" y="3036906"/>
            <a:ext cx="3060716" cy="30896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D3137A1-4A5D-23D6-929A-96E9046D5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4483" y="3687721"/>
            <a:ext cx="3053874" cy="34395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7E6FCDB-104D-E8B9-9455-10BC3F7AF2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3720" y="5133788"/>
            <a:ext cx="2805544" cy="36139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0DE70E1-264C-7084-6309-9C366D2478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2937" y="4443489"/>
            <a:ext cx="2265218" cy="3251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A165BC6-0AA6-7581-F7EE-0F6CF1FEFC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3079" y="5843490"/>
            <a:ext cx="2595774" cy="276755"/>
          </a:xfrm>
          <a:prstGeom prst="rect">
            <a:avLst/>
          </a:prstGeom>
        </p:spPr>
      </p:pic>
      <p:graphicFrame>
        <p:nvGraphicFramePr>
          <p:cNvPr id="25" name="Table 25">
            <a:extLst>
              <a:ext uri="{FF2B5EF4-FFF2-40B4-BE49-F238E27FC236}">
                <a16:creationId xmlns:a16="http://schemas.microsoft.com/office/drawing/2014/main" id="{BACD9296-E220-DDC3-9509-C51886979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04695"/>
              </p:ext>
            </p:extLst>
          </p:nvPr>
        </p:nvGraphicFramePr>
        <p:xfrm>
          <a:off x="9045864" y="667711"/>
          <a:ext cx="230100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5252">
                  <a:extLst>
                    <a:ext uri="{9D8B030D-6E8A-4147-A177-3AD203B41FA5}">
                      <a16:colId xmlns:a16="http://schemas.microsoft.com/office/drawing/2014/main" val="1522348090"/>
                    </a:ext>
                  </a:extLst>
                </a:gridCol>
                <a:gridCol w="575252">
                  <a:extLst>
                    <a:ext uri="{9D8B030D-6E8A-4147-A177-3AD203B41FA5}">
                      <a16:colId xmlns:a16="http://schemas.microsoft.com/office/drawing/2014/main" val="1795781775"/>
                    </a:ext>
                  </a:extLst>
                </a:gridCol>
                <a:gridCol w="575252">
                  <a:extLst>
                    <a:ext uri="{9D8B030D-6E8A-4147-A177-3AD203B41FA5}">
                      <a16:colId xmlns:a16="http://schemas.microsoft.com/office/drawing/2014/main" val="241857955"/>
                    </a:ext>
                  </a:extLst>
                </a:gridCol>
                <a:gridCol w="575252">
                  <a:extLst>
                    <a:ext uri="{9D8B030D-6E8A-4147-A177-3AD203B41FA5}">
                      <a16:colId xmlns:a16="http://schemas.microsoft.com/office/drawing/2014/main" val="702998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126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55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4442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CC886-9F36-2B50-AB0F-09A9A4A17ADE}"/>
              </a:ext>
            </a:extLst>
          </p:cNvPr>
          <p:cNvSpPr txBox="1">
            <a:spLocks/>
          </p:cNvSpPr>
          <p:nvPr/>
        </p:nvSpPr>
        <p:spPr>
          <a:xfrm>
            <a:off x="834497" y="691918"/>
            <a:ext cx="9500755" cy="5505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Math operators and functions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2AE95-3127-5A59-2ECC-45C3EE9D2A8E}"/>
              </a:ext>
            </a:extLst>
          </p:cNvPr>
          <p:cNvSpPr txBox="1"/>
          <p:nvPr/>
        </p:nvSpPr>
        <p:spPr>
          <a:xfrm>
            <a:off x="1665576" y="1432899"/>
            <a:ext cx="88608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NumPy offers a rich library of mathematical operators and functions.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EA38DC-4C65-53A3-56CE-54DE38093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906" y="2455646"/>
            <a:ext cx="9874216" cy="270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55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403965-C40D-3145-0384-27E1590AC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59" y="1702777"/>
            <a:ext cx="6840582" cy="28038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0C7321-1B11-6F79-9499-16E4E74D6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85" y="3800646"/>
            <a:ext cx="2249756" cy="8344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D72370-AF3D-75E4-9296-1A2DEDDC4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850" y="5085354"/>
            <a:ext cx="2834110" cy="8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55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8CD2C3-8468-B19E-3419-FD1FAD0D0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280" y="1493547"/>
            <a:ext cx="8143439" cy="16366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9E44C8-4D2D-022F-8B14-0F86CEB60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203" y="3768914"/>
            <a:ext cx="8548884" cy="207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65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DB3053-10E2-DFC3-67BA-4D7928EDD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84" y="1758720"/>
            <a:ext cx="6344371" cy="30550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8329FA-9519-27C2-837C-312F65D0E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162" y="3942139"/>
            <a:ext cx="5163839" cy="7244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F5AD56-45C0-4F90-47A0-16E640B94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544" y="4889911"/>
            <a:ext cx="2022387" cy="82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2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44E6FF-12A1-B910-78DA-0E31F9D0F767}"/>
              </a:ext>
            </a:extLst>
          </p:cNvPr>
          <p:cNvSpPr/>
          <p:nvPr/>
        </p:nvSpPr>
        <p:spPr>
          <a:xfrm>
            <a:off x="3831790" y="2551837"/>
            <a:ext cx="452841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ZyBook Reading:</a:t>
            </a:r>
          </a:p>
          <a:p>
            <a:pPr algn="ctr"/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31.5 NumPy package</a:t>
            </a:r>
            <a:endParaRPr lang="en-US" sz="40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16573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e7bfbcc-834f-422c-a61f-4e1400314c9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0E7AB627372340BC90817A16362710" ma:contentTypeVersion="9" ma:contentTypeDescription="Create a new document." ma:contentTypeScope="" ma:versionID="f2c3a11852dc30fee7c6685d0f4a4ec5">
  <xsd:schema xmlns:xsd="http://www.w3.org/2001/XMLSchema" xmlns:xs="http://www.w3.org/2001/XMLSchema" xmlns:p="http://schemas.microsoft.com/office/2006/metadata/properties" xmlns:ns3="de7bfbcc-834f-422c-a61f-4e1400314c9a" xmlns:ns4="890a661f-6afe-4b4e-bef4-5bc2e81fdcdf" targetNamespace="http://schemas.microsoft.com/office/2006/metadata/properties" ma:root="true" ma:fieldsID="8fbbebcadc8028faef9b6f320318449b" ns3:_="" ns4:_="">
    <xsd:import namespace="de7bfbcc-834f-422c-a61f-4e1400314c9a"/>
    <xsd:import namespace="890a661f-6afe-4b4e-bef4-5bc2e81fdcd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7bfbcc-834f-422c-a61f-4e1400314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0a661f-6afe-4b4e-bef4-5bc2e81fdcd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5ED50E-9D86-4119-9491-16DF5CD18CE2}">
  <ds:schemaRefs>
    <ds:schemaRef ds:uri="890a661f-6afe-4b4e-bef4-5bc2e81fdcdf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de7bfbcc-834f-422c-a61f-4e1400314c9a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652CA85-9560-4CA6-B92A-76A24BA898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C27ACB-6DE9-418F-9DF3-B7E16B4FCF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7bfbcc-834f-422c-a61f-4e1400314c9a"/>
    <ds:schemaRef ds:uri="890a661f-6afe-4b4e-bef4-5bc2e81fdc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11266</TotalTime>
  <Words>476</Words>
  <Application>Microsoft Macintosh PowerPoint</Application>
  <PresentationFormat>Widescreen</PresentationFormat>
  <Paragraphs>96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JetBrains Mono</vt:lpstr>
      <vt:lpstr>Wingdings</vt:lpstr>
      <vt:lpstr>Office Theme</vt:lpstr>
      <vt:lpstr>NumPy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 M Towhidul Islam</dc:creator>
  <cp:lastModifiedBy>S M Towhidul Islam</cp:lastModifiedBy>
  <cp:revision>16</cp:revision>
  <dcterms:created xsi:type="dcterms:W3CDTF">2023-07-05T08:50:45Z</dcterms:created>
  <dcterms:modified xsi:type="dcterms:W3CDTF">2025-11-05T06:15:37Z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0x0101006A0E7AB627372340BC90817A16362710</vt:lpwstr>
  </property>
</Properties>
</file>
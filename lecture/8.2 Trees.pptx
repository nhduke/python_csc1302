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33"/>
  </p:notesMasterIdLst>
  <p:sldIdLst>
    <p:sldId id="321" r:id="rId2"/>
    <p:sldId id="322" r:id="rId3"/>
    <p:sldId id="317" r:id="rId4"/>
    <p:sldId id="323" r:id="rId5"/>
    <p:sldId id="338" r:id="rId6"/>
    <p:sldId id="324" r:id="rId7"/>
    <p:sldId id="269" r:id="rId8"/>
    <p:sldId id="270" r:id="rId9"/>
    <p:sldId id="271" r:id="rId10"/>
    <p:sldId id="286" r:id="rId11"/>
    <p:sldId id="272" r:id="rId12"/>
    <p:sldId id="259" r:id="rId13"/>
    <p:sldId id="325" r:id="rId14"/>
    <p:sldId id="326" r:id="rId15"/>
    <p:sldId id="329" r:id="rId16"/>
    <p:sldId id="327" r:id="rId17"/>
    <p:sldId id="328" r:id="rId18"/>
    <p:sldId id="330" r:id="rId19"/>
    <p:sldId id="331" r:id="rId20"/>
    <p:sldId id="332" r:id="rId21"/>
    <p:sldId id="275" r:id="rId22"/>
    <p:sldId id="263" r:id="rId23"/>
    <p:sldId id="264" r:id="rId24"/>
    <p:sldId id="265" r:id="rId25"/>
    <p:sldId id="266" r:id="rId26"/>
    <p:sldId id="267" r:id="rId27"/>
    <p:sldId id="333" r:id="rId28"/>
    <p:sldId id="334" r:id="rId29"/>
    <p:sldId id="335" r:id="rId30"/>
    <p:sldId id="268" r:id="rId31"/>
    <p:sldId id="336" r:id="rId32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12" userDrawn="1">
          <p15:clr>
            <a:srgbClr val="A4A3A4"/>
          </p15:clr>
        </p15:guide>
        <p15:guide id="2" pos="40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C7E5"/>
    <a:srgbClr val="EDF6F7"/>
    <a:srgbClr val="36552D"/>
    <a:srgbClr val="548446"/>
    <a:srgbClr val="85C555"/>
    <a:srgbClr val="953A1F"/>
    <a:srgbClr val="27333F"/>
    <a:srgbClr val="E7BA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7" autoAdjust="0"/>
    <p:restoredTop sz="94660"/>
  </p:normalViewPr>
  <p:slideViewPr>
    <p:cSldViewPr>
      <p:cViewPr varScale="1">
        <p:scale>
          <a:sx n="107" d="100"/>
          <a:sy n="107" d="100"/>
        </p:scale>
        <p:origin x="176" y="176"/>
      </p:cViewPr>
      <p:guideLst>
        <p:guide orient="horz" pos="912"/>
        <p:guide pos="40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24FA8FA-1940-4058-8B99-DB6296E3274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775606F-5A3E-472A-836D-71104871E06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73661390-F5D4-486E-A007-B5D6FEC419B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3A8C3497-4766-4113-845C-D0E0D85C615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20D1918B-0FF6-4686-B785-EB3EC3B0282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49352685-A561-4A64-A744-AD86232D2B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579929A4-3FCA-4F37-9CE9-2B1CE3A3D3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84E8D-B1E8-F434-B8E6-97C3464E7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36169EC9-C04E-CD04-5B96-47C33ABE42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F491B86C-1A1E-4BEE-A83A-5E6C21B4E951}" type="slidenum">
              <a:rPr lang="en-US" altLang="en-US" sz="1200"/>
              <a:pPr/>
              <a:t>1</a:t>
            </a:fld>
            <a:endParaRPr lang="en-US" altLang="en-US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5E0C4A01-70BF-6B0C-349B-DCD686C2AD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ACF12402-7B10-F2D6-B1A1-D321122E73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348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801A0FB9-56E8-4C8C-8562-C05337096C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E4DD22E6-4335-4BE2-AEF6-25E407D8E81C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499A8605-43D9-4030-8BF4-0BF0E37978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DED6FE27-310E-4AE7-AC5D-3E95D4AB6D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693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39DD5416-2983-43F9-B3D5-7DD3CD183B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4BBC95DC-D3C6-4D1B-9603-97B852F61E64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90EF633D-A4BE-4BDF-BFE2-0F42E21051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D4A4A9F3-A53D-466D-873E-1E5DA870CF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95D7BE10-CD3A-4874-98EF-863C376DCB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0D72D85E-2BE7-4B58-85FA-AFC77EE5F4E4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97191D35-3761-43A4-BA22-A306EFC95C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56414ECF-CA71-4E4E-B6B6-D1970EE897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4310B39E-38B2-4F78-B545-E01A6FBACF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952F7EF3-EA4C-42BA-9161-B95633159983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73741499-62D8-4409-AEE1-7E2702FDC9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0DD3F34F-40AD-46DD-A0FD-DD6CBCA90D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9E23AAB4-C2E3-4707-A485-3516A23624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5B78921F-8345-4F5C-B3FE-28A1A07745B6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6999EE18-E42F-4F72-9C99-7BB81A9ADE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E1089035-8BC8-4370-9C02-89ECD6A3C5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1521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C161ECC4-ECB8-4D8F-B78B-CB8B0AC17E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18F47C24-0D72-486A-9CF8-F22D4D1AFDD6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52AA43E5-9409-4F1D-9EE5-271C11B92F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1BE42EF5-90F4-4321-8786-E9EF7FE223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8379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A1A70-D30F-63AC-E320-5222E2DA5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5AFF4871-5960-54EC-D362-2ADD385650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F491B86C-1A1E-4BEE-A83A-5E6C21B4E951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3DAFD832-6465-FAF3-833F-49557A62F7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67674D2D-9BBE-4F68-52DE-4486FF85C5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660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06400" y="533400"/>
            <a:ext cx="4572000" cy="1143000"/>
          </a:xfrm>
        </p:spPr>
        <p:txBody>
          <a:bodyPr anchor="b"/>
          <a:lstStyle>
            <a:lvl1pPr>
              <a:defRPr sz="3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06400" y="1828800"/>
            <a:ext cx="4572000" cy="17526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38802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493438F-C225-4D77-9450-4A47F23030D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 2011 Pearson Addison-Wesley. All rights reserved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C275E29-81D0-47ED-BACE-12F90532A2F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11 A-</a:t>
            </a:r>
            <a:fld id="{90CB1911-E0AF-49A4-A4FC-C7B0268B815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7204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4CCFE89-6A61-4CC4-AACE-212C523CA41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 2011 Pearson Addison-Wesley. All rights reserved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ED7249F-CB44-4D64-8176-584FAC9C288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11 A-</a:t>
            </a:r>
            <a:fld id="{79EFA578-3F82-4EBB-8FFC-6FEB27F797C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5593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20800" y="1828800"/>
            <a:ext cx="50800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4000" y="1828800"/>
            <a:ext cx="50800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5A53F58-D902-4F42-AA86-6101902B5D0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 2011 Pearson Addison-Wesley. All rights reserved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E706FA-EAF3-41DE-9C60-DD0CAC622A0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11 A-</a:t>
            </a:r>
            <a:fld id="{7C3C1EC4-07B4-4648-9E2F-666726FA0A2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5593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82B7392-F089-479B-8A42-DD72E6CC56C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 2011 Pearson Addison-Wesley. All rights reserved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56AB853-5813-4A83-9D59-2839E2EFA19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11 A-</a:t>
            </a:r>
            <a:fld id="{B834C0CC-C526-42A9-B673-17BF5AC9BFA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3680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ECA4DC8-4FCD-4511-83E9-6E623DC87D8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 2011 Pearson Addison-Wesley. All rights reserved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D4A3A35-AE6A-4DC3-8C1C-2FB77C1B407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11 A-</a:t>
            </a:r>
            <a:fld id="{A3F03BE8-4509-4326-A4C2-C5CD3A32E4F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6210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ABA8518C-493C-4320-8E84-F8F5C6639DD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 2011 Pearson Addison-Wesley. All rights reserved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13C88D37-BA93-49ED-8535-4A8BFEBE752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11 A-</a:t>
            </a:r>
            <a:fld id="{D1F07210-D085-4776-BAB3-2205DA07CFF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5859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61BF011-E6B2-4DE5-B061-A4BB4CE033B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 2011 Pearson Addison-Wesley. All rights reserved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709E622-AB0A-40AE-89B3-D96C83D5BE5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11 A-</a:t>
            </a:r>
            <a:fld id="{C836DF15-393D-4BE8-BB2C-6C1C7F7B6A2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4164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449F987-324C-4BE9-A6C5-113317704DA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 2011 Pearson Addison-Wesley. All rights reserved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0393AC5-896D-4063-9ABB-C0B7A9073F7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11 A-</a:t>
            </a:r>
            <a:fld id="{17DC1A20-6B4F-41EC-B9D5-5ECBA0FBB6C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278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DF74AD8-52A2-41DC-90C2-3EF3AFF0AFA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 2011 Pearson Addison-Wesley. All rights reserved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0C7D747-98B9-4EBC-B8C4-349998BE00A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11 A-</a:t>
            </a:r>
            <a:fld id="{AFB0B809-4FD1-4D15-ABFC-D8EF21B1CE6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6024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67800" y="228600"/>
            <a:ext cx="26162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228600"/>
            <a:ext cx="76454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433A239-16E1-4AA1-8588-909F8215DCC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 2011 Pearson Addison-Wesley. All rights reserved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13E0BD7-EF0D-4C01-94B0-B32435306C4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11 A-</a:t>
            </a:r>
            <a:fld id="{31DAD45F-BB0A-40F4-9D2F-90BF721434F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89969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28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320800" y="1828800"/>
            <a:ext cx="10363200" cy="1943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20800" y="3924300"/>
            <a:ext cx="10363200" cy="1943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F08D9AF-E101-47EA-BCB4-C72AD717764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 2011 Pearson Addison-Wesley. All rights reserved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58DDBA5-146F-45E8-A019-94CFDBACEF8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11 A-</a:t>
            </a:r>
            <a:fld id="{B174C337-6D3D-47E8-9F2C-BC5EA76AC70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13914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28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320800" y="1828800"/>
            <a:ext cx="5080000" cy="1943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604000" y="1828800"/>
            <a:ext cx="5080000" cy="1943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1320800" y="3924300"/>
            <a:ext cx="10363200" cy="1943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5294AC-7C23-47C5-AFD9-2FA43621251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 2011 Pearson Addison-Wesley. All rights reserved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B0C4A2-9071-484B-99F5-83A9253A6C6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11 A-</a:t>
            </a:r>
            <a:fld id="{33F900C7-1345-4A18-8D44-CEA14E4DC3B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6566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2F25156-4AC9-47E2-8E51-76B51F0EAC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228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287E317-D4C8-4F6E-B5ED-C14DE560F7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20800" y="1828800"/>
            <a:ext cx="103632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8BA9256-7784-48FE-9A48-30088BDB6DB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320800" y="6096000"/>
            <a:ext cx="467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54844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© 2011 Pearson Addison-Wesley. All rights reserved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9009D91-A1DC-4378-B356-E48F37942FB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44000" y="60960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548446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11 A-</a:t>
            </a:r>
            <a:fld id="{F08698EE-C9AC-4143-94BE-6892B598D85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548446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548446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548446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548446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548446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rgbClr val="548446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rgbClr val="548446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rgbClr val="548446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rgbClr val="54844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28981-8311-385D-932B-CFC74F7BF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>
            <a:extLst>
              <a:ext uri="{FF2B5EF4-FFF2-40B4-BE49-F238E27FC236}">
                <a16:creationId xmlns:a16="http://schemas.microsoft.com/office/drawing/2014/main" id="{BAD9643D-B033-BAAE-A752-ADAA6322F6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0" y="2514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Trees</a:t>
            </a:r>
          </a:p>
        </p:txBody>
      </p:sp>
    </p:spTree>
    <p:extLst>
      <p:ext uri="{BB962C8B-B14F-4D97-AF65-F5344CB8AC3E}">
        <p14:creationId xmlns:p14="http://schemas.microsoft.com/office/powerpoint/2010/main" val="3222230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02401-7D7E-F634-B242-AA1D3EAD2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A5484C-023A-396E-AAFE-41A15EB3365A}"/>
              </a:ext>
            </a:extLst>
          </p:cNvPr>
          <p:cNvSpPr txBox="1"/>
          <p:nvPr/>
        </p:nvSpPr>
        <p:spPr>
          <a:xfrm>
            <a:off x="1858074" y="1676400"/>
            <a:ext cx="908545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dirty="0"/>
              <a:t>Trees are non-linear/hierarchical data structures</a:t>
            </a:r>
          </a:p>
          <a:p>
            <a:endParaRPr lang="en-US" dirty="0"/>
          </a:p>
          <a:p>
            <a:pPr marL="342900" indent="-342900">
              <a:buFont typeface="Wingdings" pitchFamily="2" charset="2"/>
              <a:buChar char="§"/>
            </a:pPr>
            <a:r>
              <a:rPr lang="en-US" dirty="0"/>
              <a:t>Trees have many things in common with their botanical cousins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/>
              <a:t>root, branches, and leaves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dirty="0"/>
          </a:p>
          <a:p>
            <a:pPr marL="342900" indent="-342900">
              <a:buFont typeface="Wingdings" pitchFamily="2" charset="2"/>
              <a:buChar char="§"/>
            </a:pPr>
            <a:r>
              <a:rPr lang="en-US" dirty="0"/>
              <a:t>Difference - a tree data structure has its root at the top and its leaves on the bottom.</a:t>
            </a:r>
          </a:p>
          <a:p>
            <a:endParaRPr lang="en-US" dirty="0"/>
          </a:p>
          <a:p>
            <a:pPr marL="342900" indent="-342900">
              <a:buFont typeface="Wingdings" pitchFamily="2" charset="2"/>
              <a:buChar char="§"/>
            </a:pPr>
            <a:r>
              <a:rPr lang="en-US" dirty="0"/>
              <a:t>Such a representation helps to represent hierarchical relationships. 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817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>
            <a:extLst>
              <a:ext uri="{FF2B5EF4-FFF2-40B4-BE49-F238E27FC236}">
                <a16:creationId xmlns:a16="http://schemas.microsoft.com/office/drawing/2014/main" id="{7CF15C85-0613-41FB-B075-BF9AFBA15EB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rgbClr val="548446"/>
                </a:solidFill>
                <a:latin typeface="Arial" panose="020B0604020202020204" pitchFamily="34" charset="0"/>
              </a:rPr>
              <a:t>© 2011 Pearson Addison-Wesley. All rights reserved</a:t>
            </a:r>
          </a:p>
        </p:txBody>
      </p:sp>
      <p:sp>
        <p:nvSpPr>
          <p:cNvPr id="12291" name="Slide Number Placeholder 4">
            <a:extLst>
              <a:ext uri="{FF2B5EF4-FFF2-40B4-BE49-F238E27FC236}">
                <a16:creationId xmlns:a16="http://schemas.microsoft.com/office/drawing/2014/main" id="{36A2E244-70E4-4442-8E1E-2A8C6FB76C1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rgbClr val="548446"/>
                </a:solidFill>
                <a:latin typeface="Arial" panose="020B0604020202020204" pitchFamily="34" charset="0"/>
              </a:rPr>
              <a:t>11 A-</a:t>
            </a:r>
            <a:fld id="{6DEEDC51-465E-4DD9-8FC8-8867BD615E37}" type="slidenum">
              <a:rPr lang="en-US" altLang="en-US" sz="1000">
                <a:solidFill>
                  <a:srgbClr val="548446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000">
              <a:solidFill>
                <a:srgbClr val="548446"/>
              </a:solidFill>
              <a:latin typeface="Arial" panose="020B0604020202020204" pitchFamily="34" charset="0"/>
            </a:endParaRPr>
          </a:p>
        </p:txBody>
      </p:sp>
      <p:sp>
        <p:nvSpPr>
          <p:cNvPr id="12292" name="Rectangle 2">
            <a:extLst>
              <a:ext uri="{FF2B5EF4-FFF2-40B4-BE49-F238E27FC236}">
                <a16:creationId xmlns:a16="http://schemas.microsoft.com/office/drawing/2014/main" id="{186BBD01-0C11-44BF-BE96-D7F56DDD9F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Properties</a:t>
            </a:r>
          </a:p>
        </p:txBody>
      </p:sp>
      <p:sp>
        <p:nvSpPr>
          <p:cNvPr id="12293" name="Rectangle 3">
            <a:extLst>
              <a:ext uri="{FF2B5EF4-FFF2-40B4-BE49-F238E27FC236}">
                <a16:creationId xmlns:a16="http://schemas.microsoft.com/office/drawing/2014/main" id="{59839C8C-F789-4689-81BF-91AD336BBA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1409700"/>
            <a:ext cx="10363200" cy="40386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Trees: </a:t>
            </a:r>
          </a:p>
          <a:p>
            <a:pPr marL="0" indent="0" eaLnBrk="1" hangingPunct="1">
              <a:buNone/>
            </a:pPr>
            <a:r>
              <a:rPr lang="en-US" altLang="en-US" sz="2800" dirty="0"/>
              <a:t>- The topmost node of the tree - </a:t>
            </a:r>
            <a:r>
              <a:rPr lang="en-US" altLang="en-US" sz="2800" b="1" dirty="0"/>
              <a:t>root.</a:t>
            </a:r>
            <a:endParaRPr lang="en-US" altLang="en-US" sz="2800" dirty="0"/>
          </a:p>
          <a:p>
            <a:pPr marL="0" indent="0" eaLnBrk="1" hangingPunct="1">
              <a:buNone/>
            </a:pPr>
            <a:endParaRPr lang="en-US" altLang="en-US" sz="2800" dirty="0"/>
          </a:p>
          <a:p>
            <a:pPr marL="0" indent="0" eaLnBrk="1" hangingPunct="1">
              <a:buNone/>
            </a:pPr>
            <a:r>
              <a:rPr lang="en-US" altLang="en-US" sz="2800" dirty="0"/>
              <a:t>- The elements that are directly under an element - </a:t>
            </a:r>
            <a:r>
              <a:rPr lang="en-US" altLang="en-US" sz="2800" b="1" dirty="0"/>
              <a:t>children</a:t>
            </a:r>
            <a:r>
              <a:rPr lang="en-US" altLang="en-US" sz="2800" dirty="0"/>
              <a:t>. </a:t>
            </a:r>
          </a:p>
          <a:p>
            <a:pPr marL="0" indent="0" eaLnBrk="1" hangingPunct="1">
              <a:buNone/>
            </a:pPr>
            <a:endParaRPr lang="en-US" altLang="en-US" sz="2800" dirty="0"/>
          </a:p>
          <a:p>
            <a:pPr marL="0" indent="0" eaLnBrk="1" hangingPunct="1">
              <a:buNone/>
            </a:pPr>
            <a:r>
              <a:rPr lang="en-US" altLang="en-US" sz="2800" dirty="0"/>
              <a:t>- The element directly above node - </a:t>
            </a:r>
            <a:r>
              <a:rPr lang="en-US" altLang="en-US" sz="2800" b="1" dirty="0"/>
              <a:t>parent</a:t>
            </a:r>
            <a:r>
              <a:rPr lang="en-US" altLang="en-US" sz="2800" dirty="0"/>
              <a:t>.</a:t>
            </a:r>
          </a:p>
          <a:p>
            <a:pPr marL="0" indent="0" eaLnBrk="1" hangingPunct="1">
              <a:buNone/>
            </a:pPr>
            <a:r>
              <a:rPr lang="en-US" altLang="en-US" sz="2800" dirty="0"/>
              <a:t> </a:t>
            </a:r>
          </a:p>
          <a:p>
            <a:pPr marL="0" indent="0" eaLnBrk="1" hangingPunct="1">
              <a:buNone/>
            </a:pPr>
            <a:r>
              <a:rPr lang="en-US" altLang="en-US" sz="2800" dirty="0"/>
              <a:t>- Elements with no children - </a:t>
            </a:r>
            <a:r>
              <a:rPr lang="en-US" altLang="en-US" sz="2800" b="1" dirty="0"/>
              <a:t>leaves</a:t>
            </a:r>
            <a:r>
              <a:rPr lang="en-US" altLang="en-US" sz="2800" dirty="0"/>
              <a:t>.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104136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351AD2-AC1D-81EB-7F9A-612A39DB49FD}"/>
              </a:ext>
            </a:extLst>
          </p:cNvPr>
          <p:cNvSpPr txBox="1"/>
          <p:nvPr/>
        </p:nvSpPr>
        <p:spPr>
          <a:xfrm>
            <a:off x="3426708" y="825034"/>
            <a:ext cx="515807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/>
              <a:t>Tree Components / Concepts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CC65F4-632D-C8AD-2283-FCA3F5F5B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620695"/>
            <a:ext cx="2154488" cy="236514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1CA9C57-0632-C21F-AACD-D1F05EDA7FAB}"/>
              </a:ext>
            </a:extLst>
          </p:cNvPr>
          <p:cNvSpPr/>
          <p:nvPr/>
        </p:nvSpPr>
        <p:spPr>
          <a:xfrm>
            <a:off x="2991379" y="2367762"/>
            <a:ext cx="935192" cy="2654573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Nodes</a:t>
            </a:r>
          </a:p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Root</a:t>
            </a:r>
          </a:p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Parent</a:t>
            </a:r>
          </a:p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Child</a:t>
            </a:r>
          </a:p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Leaf </a:t>
            </a:r>
          </a:p>
          <a:p>
            <a:pPr marL="342900" indent="-342900">
              <a:buFontTx/>
              <a:buChar char="-"/>
            </a:pP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buFontTx/>
              <a:buChar char="-"/>
            </a:pP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Edges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0593FCD-20D3-E12F-CC30-CD96FDA3C6E7}"/>
              </a:ext>
            </a:extLst>
          </p:cNvPr>
          <p:cNvCxnSpPr/>
          <p:nvPr/>
        </p:nvCxnSpPr>
        <p:spPr>
          <a:xfrm flipV="1">
            <a:off x="3694999" y="2784483"/>
            <a:ext cx="2967754" cy="1335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8611488-17CB-7F29-A911-8606BDB04018}"/>
              </a:ext>
            </a:extLst>
          </p:cNvPr>
          <p:cNvCxnSpPr>
            <a:cxnSpLocks/>
          </p:cNvCxnSpPr>
          <p:nvPr/>
        </p:nvCxnSpPr>
        <p:spPr>
          <a:xfrm>
            <a:off x="4001511" y="3170355"/>
            <a:ext cx="1574886" cy="2453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AF5D869-6A2B-C8C2-622E-C66E023BD723}"/>
              </a:ext>
            </a:extLst>
          </p:cNvPr>
          <p:cNvCxnSpPr>
            <a:cxnSpLocks/>
          </p:cNvCxnSpPr>
          <p:nvPr/>
        </p:nvCxnSpPr>
        <p:spPr>
          <a:xfrm flipV="1">
            <a:off x="4001511" y="2900750"/>
            <a:ext cx="2661242" cy="2696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DA02C1B-EBCB-0FD3-6097-CFF530523066}"/>
              </a:ext>
            </a:extLst>
          </p:cNvPr>
          <p:cNvCxnSpPr>
            <a:cxnSpLocks/>
          </p:cNvCxnSpPr>
          <p:nvPr/>
        </p:nvCxnSpPr>
        <p:spPr>
          <a:xfrm>
            <a:off x="3854843" y="3503905"/>
            <a:ext cx="2279904" cy="1226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4880A97-4D34-6792-FCF5-0198213760AD}"/>
              </a:ext>
            </a:extLst>
          </p:cNvPr>
          <p:cNvCxnSpPr>
            <a:cxnSpLocks/>
          </p:cNvCxnSpPr>
          <p:nvPr/>
        </p:nvCxnSpPr>
        <p:spPr>
          <a:xfrm>
            <a:off x="3854844" y="3503907"/>
            <a:ext cx="1782244" cy="8312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CAF0C7F-9A7D-F614-C025-7042D5744E0D}"/>
              </a:ext>
            </a:extLst>
          </p:cNvPr>
          <p:cNvCxnSpPr>
            <a:cxnSpLocks/>
          </p:cNvCxnSpPr>
          <p:nvPr/>
        </p:nvCxnSpPr>
        <p:spPr>
          <a:xfrm>
            <a:off x="3711431" y="3829269"/>
            <a:ext cx="1925657" cy="660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AE31404-619B-032E-8A1D-D475178390B0}"/>
              </a:ext>
            </a:extLst>
          </p:cNvPr>
          <p:cNvCxnSpPr>
            <a:cxnSpLocks/>
          </p:cNvCxnSpPr>
          <p:nvPr/>
        </p:nvCxnSpPr>
        <p:spPr>
          <a:xfrm flipV="1">
            <a:off x="3919554" y="3951922"/>
            <a:ext cx="2154505" cy="8703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ight Bracket 24">
            <a:extLst>
              <a:ext uri="{FF2B5EF4-FFF2-40B4-BE49-F238E27FC236}">
                <a16:creationId xmlns:a16="http://schemas.microsoft.com/office/drawing/2014/main" id="{3CFE8F2E-FD13-2129-81B1-7E69AFD3DDC3}"/>
              </a:ext>
            </a:extLst>
          </p:cNvPr>
          <p:cNvSpPr/>
          <p:nvPr/>
        </p:nvSpPr>
        <p:spPr>
          <a:xfrm>
            <a:off x="7919241" y="2685224"/>
            <a:ext cx="278977" cy="1865345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B6C4CC-CF3E-8C0B-1670-D5153B6A0A1F}"/>
              </a:ext>
            </a:extLst>
          </p:cNvPr>
          <p:cNvSpPr txBox="1"/>
          <p:nvPr/>
        </p:nvSpPr>
        <p:spPr>
          <a:xfrm>
            <a:off x="8592704" y="3518834"/>
            <a:ext cx="11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Height = 2</a:t>
            </a:r>
          </a:p>
        </p:txBody>
      </p:sp>
    </p:spTree>
    <p:extLst>
      <p:ext uri="{BB962C8B-B14F-4D97-AF65-F5344CB8AC3E}">
        <p14:creationId xmlns:p14="http://schemas.microsoft.com/office/powerpoint/2010/main" val="2313430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DEE97D-79B5-F5EE-3F39-0D5F56150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2308" y="2667000"/>
            <a:ext cx="2154488" cy="23651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3A8E0A6-8B8A-FC43-8CC8-1EB57BE9E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396" y="994611"/>
            <a:ext cx="2154488" cy="23651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B0FE93-1D11-39FD-25A7-EB1094C105C4}"/>
              </a:ext>
            </a:extLst>
          </p:cNvPr>
          <p:cNvSpPr txBox="1"/>
          <p:nvPr/>
        </p:nvSpPr>
        <p:spPr>
          <a:xfrm>
            <a:off x="1600200" y="1295400"/>
            <a:ext cx="14411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2283520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319CCA-F713-4F42-FE49-159E2321723E}"/>
              </a:ext>
            </a:extLst>
          </p:cNvPr>
          <p:cNvSpPr txBox="1"/>
          <p:nvPr/>
        </p:nvSpPr>
        <p:spPr>
          <a:xfrm>
            <a:off x="4990353" y="996838"/>
            <a:ext cx="17521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Binary Trees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411E53-D1BE-23BC-EC2E-5E35BE5CBD5F}"/>
              </a:ext>
            </a:extLst>
          </p:cNvPr>
          <p:cNvSpPr txBox="1"/>
          <p:nvPr/>
        </p:nvSpPr>
        <p:spPr>
          <a:xfrm>
            <a:off x="2377193" y="2005309"/>
            <a:ext cx="74376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type of tree where each node have at most two children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5D22EE6-AF97-7E5B-6A2B-1CA8983807F8}"/>
              </a:ext>
            </a:extLst>
          </p:cNvPr>
          <p:cNvSpPr/>
          <p:nvPr/>
        </p:nvSpPr>
        <p:spPr>
          <a:xfrm>
            <a:off x="7828565" y="3021417"/>
            <a:ext cx="248830" cy="2427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CA73F63-6472-BE44-480C-9A8F28E4C5DB}"/>
              </a:ext>
            </a:extLst>
          </p:cNvPr>
          <p:cNvSpPr/>
          <p:nvPr/>
        </p:nvSpPr>
        <p:spPr>
          <a:xfrm>
            <a:off x="7275272" y="3681929"/>
            <a:ext cx="248830" cy="2427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8F8B34C-1268-E28B-4CFD-A3D057B90B0C}"/>
              </a:ext>
            </a:extLst>
          </p:cNvPr>
          <p:cNvSpPr/>
          <p:nvPr/>
        </p:nvSpPr>
        <p:spPr>
          <a:xfrm>
            <a:off x="8418467" y="3681929"/>
            <a:ext cx="248830" cy="2427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5326A8E-5A28-CB56-156A-DFA141E6DA00}"/>
              </a:ext>
            </a:extLst>
          </p:cNvPr>
          <p:cNvSpPr/>
          <p:nvPr/>
        </p:nvSpPr>
        <p:spPr>
          <a:xfrm>
            <a:off x="7275272" y="4452695"/>
            <a:ext cx="248830" cy="2427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C6767-C7C7-C6CC-7C16-909A91E10A36}"/>
              </a:ext>
            </a:extLst>
          </p:cNvPr>
          <p:cNvSpPr/>
          <p:nvPr/>
        </p:nvSpPr>
        <p:spPr>
          <a:xfrm>
            <a:off x="7780013" y="4452695"/>
            <a:ext cx="248830" cy="2427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7923382-89A5-76DC-DCAD-F348F99EEB12}"/>
              </a:ext>
            </a:extLst>
          </p:cNvPr>
          <p:cNvSpPr/>
          <p:nvPr/>
        </p:nvSpPr>
        <p:spPr>
          <a:xfrm>
            <a:off x="6697703" y="4452695"/>
            <a:ext cx="248830" cy="2427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0C0651-E8E0-D1FF-4450-A5532B49F603}"/>
              </a:ext>
            </a:extLst>
          </p:cNvPr>
          <p:cNvCxnSpPr>
            <a:cxnSpLocks/>
            <a:stCxn id="10" idx="3"/>
            <a:endCxn id="11" idx="7"/>
          </p:cNvCxnSpPr>
          <p:nvPr/>
        </p:nvCxnSpPr>
        <p:spPr>
          <a:xfrm flipH="1">
            <a:off x="7487662" y="3228627"/>
            <a:ext cx="377344" cy="4888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17608B6-78BE-2538-63B9-6580EF279A47}"/>
              </a:ext>
            </a:extLst>
          </p:cNvPr>
          <p:cNvCxnSpPr>
            <a:cxnSpLocks/>
            <a:stCxn id="10" idx="5"/>
            <a:endCxn id="12" idx="1"/>
          </p:cNvCxnSpPr>
          <p:nvPr/>
        </p:nvCxnSpPr>
        <p:spPr>
          <a:xfrm>
            <a:off x="8040956" y="3228627"/>
            <a:ext cx="413953" cy="4888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75CB90-95BD-D644-CB32-047F1061E40A}"/>
              </a:ext>
            </a:extLst>
          </p:cNvPr>
          <p:cNvCxnSpPr>
            <a:cxnSpLocks/>
            <a:stCxn id="15" idx="7"/>
            <a:endCxn id="11" idx="3"/>
          </p:cNvCxnSpPr>
          <p:nvPr/>
        </p:nvCxnSpPr>
        <p:spPr>
          <a:xfrm flipV="1">
            <a:off x="6910093" y="3889139"/>
            <a:ext cx="401620" cy="5991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3E6D77E-EFEF-D6F4-6C96-64D12E4228C6}"/>
              </a:ext>
            </a:extLst>
          </p:cNvPr>
          <p:cNvCxnSpPr>
            <a:cxnSpLocks/>
            <a:stCxn id="13" idx="0"/>
            <a:endCxn id="11" idx="4"/>
          </p:cNvCxnSpPr>
          <p:nvPr/>
        </p:nvCxnSpPr>
        <p:spPr>
          <a:xfrm flipV="1">
            <a:off x="7399687" y="3924691"/>
            <a:ext cx="0" cy="5280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FFD135E-0E49-E8CF-DB7C-5E8705A509B3}"/>
              </a:ext>
            </a:extLst>
          </p:cNvPr>
          <p:cNvCxnSpPr>
            <a:cxnSpLocks/>
            <a:stCxn id="14" idx="0"/>
            <a:endCxn id="11" idx="5"/>
          </p:cNvCxnSpPr>
          <p:nvPr/>
        </p:nvCxnSpPr>
        <p:spPr>
          <a:xfrm flipH="1" flipV="1">
            <a:off x="7487663" y="3889139"/>
            <a:ext cx="416767" cy="5635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D40D170B-2150-D29D-8877-7C18BE5E0C1F}"/>
              </a:ext>
            </a:extLst>
          </p:cNvPr>
          <p:cNvSpPr/>
          <p:nvPr/>
        </p:nvSpPr>
        <p:spPr>
          <a:xfrm>
            <a:off x="3488263" y="3021128"/>
            <a:ext cx="248830" cy="2427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DAB064F-56C3-B425-2095-DB88938852EF}"/>
              </a:ext>
            </a:extLst>
          </p:cNvPr>
          <p:cNvSpPr/>
          <p:nvPr/>
        </p:nvSpPr>
        <p:spPr>
          <a:xfrm>
            <a:off x="2934970" y="3681640"/>
            <a:ext cx="248830" cy="2427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75DEA8F-81C6-F1D9-DF14-69710576B1A0}"/>
              </a:ext>
            </a:extLst>
          </p:cNvPr>
          <p:cNvSpPr/>
          <p:nvPr/>
        </p:nvSpPr>
        <p:spPr>
          <a:xfrm>
            <a:off x="4078165" y="3681640"/>
            <a:ext cx="248830" cy="2427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0A6E2F6-E3A1-4EEB-78B3-DCB2F85EB2CB}"/>
              </a:ext>
            </a:extLst>
          </p:cNvPr>
          <p:cNvSpPr/>
          <p:nvPr/>
        </p:nvSpPr>
        <p:spPr>
          <a:xfrm>
            <a:off x="3439711" y="4452406"/>
            <a:ext cx="248830" cy="2427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8574395-CBFD-3FBE-354B-3B442DF2CAAB}"/>
              </a:ext>
            </a:extLst>
          </p:cNvPr>
          <p:cNvSpPr/>
          <p:nvPr/>
        </p:nvSpPr>
        <p:spPr>
          <a:xfrm>
            <a:off x="2357401" y="4452406"/>
            <a:ext cx="248830" cy="2427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497D66D-5661-5F5C-DC93-3DE548E75F1D}"/>
              </a:ext>
            </a:extLst>
          </p:cNvPr>
          <p:cNvCxnSpPr>
            <a:cxnSpLocks/>
            <a:stCxn id="34" idx="3"/>
            <a:endCxn id="35" idx="7"/>
          </p:cNvCxnSpPr>
          <p:nvPr/>
        </p:nvCxnSpPr>
        <p:spPr>
          <a:xfrm flipH="1">
            <a:off x="3147359" y="3228338"/>
            <a:ext cx="377344" cy="4888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510F417-AC16-764C-2C85-CB1D786FA0BF}"/>
              </a:ext>
            </a:extLst>
          </p:cNvPr>
          <p:cNvCxnSpPr>
            <a:cxnSpLocks/>
            <a:stCxn id="34" idx="5"/>
            <a:endCxn id="36" idx="1"/>
          </p:cNvCxnSpPr>
          <p:nvPr/>
        </p:nvCxnSpPr>
        <p:spPr>
          <a:xfrm>
            <a:off x="3700653" y="3228338"/>
            <a:ext cx="413953" cy="4888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E62AB86-3C5A-8F88-0AB2-91232000F7A2}"/>
              </a:ext>
            </a:extLst>
          </p:cNvPr>
          <p:cNvCxnSpPr>
            <a:cxnSpLocks/>
            <a:stCxn id="39" idx="7"/>
            <a:endCxn id="35" idx="3"/>
          </p:cNvCxnSpPr>
          <p:nvPr/>
        </p:nvCxnSpPr>
        <p:spPr>
          <a:xfrm flipV="1">
            <a:off x="2569790" y="3888850"/>
            <a:ext cx="401620" cy="5991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D0AEA88-6EFB-D6BE-0ACC-ABCCC728365C}"/>
              </a:ext>
            </a:extLst>
          </p:cNvPr>
          <p:cNvCxnSpPr>
            <a:cxnSpLocks/>
            <a:stCxn id="38" idx="0"/>
            <a:endCxn id="35" idx="5"/>
          </p:cNvCxnSpPr>
          <p:nvPr/>
        </p:nvCxnSpPr>
        <p:spPr>
          <a:xfrm flipH="1" flipV="1">
            <a:off x="3147360" y="3888850"/>
            <a:ext cx="416767" cy="5635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E4EBA60-9248-5BA6-86BA-1A93B73061F8}"/>
              </a:ext>
            </a:extLst>
          </p:cNvPr>
          <p:cNvSpPr txBox="1"/>
          <p:nvPr/>
        </p:nvSpPr>
        <p:spPr>
          <a:xfrm>
            <a:off x="2537541" y="4867865"/>
            <a:ext cx="1804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binary tree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47AA305-F0AE-1AB7-CA00-AB7A6F8E3F30}"/>
              </a:ext>
            </a:extLst>
          </p:cNvPr>
          <p:cNvSpPr txBox="1"/>
          <p:nvPr/>
        </p:nvSpPr>
        <p:spPr>
          <a:xfrm>
            <a:off x="6435054" y="4868155"/>
            <a:ext cx="3284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tree (not a binary tree)</a:t>
            </a:r>
          </a:p>
        </p:txBody>
      </p:sp>
    </p:spTree>
    <p:extLst>
      <p:ext uri="{BB962C8B-B14F-4D97-AF65-F5344CB8AC3E}">
        <p14:creationId xmlns:p14="http://schemas.microsoft.com/office/powerpoint/2010/main" val="809487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>
            <a:extLst>
              <a:ext uri="{FF2B5EF4-FFF2-40B4-BE49-F238E27FC236}">
                <a16:creationId xmlns:a16="http://schemas.microsoft.com/office/drawing/2014/main" id="{02CC5A0C-BB73-4630-AB74-25336CFE84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rgbClr val="548446"/>
                </a:solidFill>
                <a:latin typeface="Arial" panose="020B0604020202020204" pitchFamily="34" charset="0"/>
              </a:rPr>
              <a:t>© 2011 Pearson Addison-Wesley. All rights reserved</a:t>
            </a:r>
          </a:p>
        </p:txBody>
      </p:sp>
      <p:sp>
        <p:nvSpPr>
          <p:cNvPr id="14339" name="Slide Number Placeholder 4">
            <a:extLst>
              <a:ext uri="{FF2B5EF4-FFF2-40B4-BE49-F238E27FC236}">
                <a16:creationId xmlns:a16="http://schemas.microsoft.com/office/drawing/2014/main" id="{A1CBDF20-E48B-4BC4-BA28-5A4B952900A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rgbClr val="548446"/>
                </a:solidFill>
                <a:latin typeface="Arial" panose="020B0604020202020204" pitchFamily="34" charset="0"/>
              </a:rPr>
              <a:t>11 A-</a:t>
            </a:r>
            <a:fld id="{B7B72A47-6C21-4AE1-887D-70E02A2764C5}" type="slidenum">
              <a:rPr lang="en-US" altLang="en-US" sz="1000">
                <a:solidFill>
                  <a:srgbClr val="548446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000">
              <a:solidFill>
                <a:srgbClr val="548446"/>
              </a:solidFill>
              <a:latin typeface="Arial" panose="020B0604020202020204" pitchFamily="34" charset="0"/>
            </a:endParaRPr>
          </a:p>
        </p:txBody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9C8676E3-2337-4C37-ADAF-B2D9ED5F5C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Examples</a:t>
            </a:r>
          </a:p>
        </p:txBody>
      </p:sp>
      <p:pic>
        <p:nvPicPr>
          <p:cNvPr id="14341" name="Picture 4">
            <a:extLst>
              <a:ext uri="{FF2B5EF4-FFF2-40B4-BE49-F238E27FC236}">
                <a16:creationId xmlns:a16="http://schemas.microsoft.com/office/drawing/2014/main" id="{0B22DBD8-E4B8-434B-9DAE-22FF7050A9E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95601" y="1676400"/>
            <a:ext cx="7021513" cy="3429000"/>
          </a:xfrm>
          <a:noFill/>
        </p:spPr>
      </p:pic>
      <p:sp>
        <p:nvSpPr>
          <p:cNvPr id="20486" name="Text Box 6">
            <a:extLst>
              <a:ext uri="{FF2B5EF4-FFF2-40B4-BE49-F238E27FC236}">
                <a16:creationId xmlns:a16="http://schemas.microsoft.com/office/drawing/2014/main" id="{F3FB4554-18E7-41FA-8575-2710AB021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410200"/>
            <a:ext cx="7696200" cy="810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ts val="2800"/>
              </a:lnSpc>
              <a:defRPr/>
            </a:pPr>
            <a:r>
              <a:rPr lang="en-US" sz="1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Figure 11-6</a:t>
            </a:r>
          </a:p>
          <a:p>
            <a:pPr>
              <a:lnSpc>
                <a:spcPts val="2800"/>
              </a:lnSpc>
              <a:defRPr/>
            </a:pPr>
            <a:r>
              <a:rPr lang="en-US" dirty="0">
                <a:latin typeface="Arial" charset="0"/>
              </a:rPr>
              <a:t>Binary trees with the same nodes but different heights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4">
            <a:extLst>
              <a:ext uri="{FF2B5EF4-FFF2-40B4-BE49-F238E27FC236}">
                <a16:creationId xmlns:a16="http://schemas.microsoft.com/office/drawing/2014/main" id="{B9D867AA-5A18-4C29-8C30-D5D89C156CC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dirty="0">
                <a:solidFill>
                  <a:srgbClr val="548446"/>
                </a:solidFill>
                <a:latin typeface="Arial" panose="020B0604020202020204" pitchFamily="34" charset="0"/>
              </a:rPr>
              <a:t>© 2011 Pearson Addison-Wesley. All rights reserved</a:t>
            </a:r>
          </a:p>
        </p:txBody>
      </p:sp>
      <p:sp>
        <p:nvSpPr>
          <p:cNvPr id="16387" name="Slide Number Placeholder 5">
            <a:extLst>
              <a:ext uri="{FF2B5EF4-FFF2-40B4-BE49-F238E27FC236}">
                <a16:creationId xmlns:a16="http://schemas.microsoft.com/office/drawing/2014/main" id="{838B7A32-A814-4E8B-859A-0824CC40BDF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rgbClr val="548446"/>
                </a:solidFill>
                <a:latin typeface="Arial" panose="020B0604020202020204" pitchFamily="34" charset="0"/>
              </a:rPr>
              <a:t>11 A-</a:t>
            </a:r>
            <a:fld id="{A905F39F-DF58-404B-B058-8D569F063686}" type="slidenum">
              <a:rPr lang="en-US" altLang="en-US" sz="1000">
                <a:solidFill>
                  <a:srgbClr val="548446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000">
              <a:solidFill>
                <a:srgbClr val="548446"/>
              </a:solidFill>
              <a:latin typeface="Arial" panose="020B0604020202020204" pitchFamily="34" charset="0"/>
            </a:endParaRPr>
          </a:p>
        </p:txBody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B0D5FD24-4954-448A-88C1-69BDB68ED9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Terminology</a:t>
            </a:r>
          </a:p>
        </p:txBody>
      </p:sp>
      <p:sp>
        <p:nvSpPr>
          <p:cNvPr id="16389" name="Rectangle 3">
            <a:extLst>
              <a:ext uri="{FF2B5EF4-FFF2-40B4-BE49-F238E27FC236}">
                <a16:creationId xmlns:a16="http://schemas.microsoft.com/office/drawing/2014/main" id="{CDDBCD94-AB91-4FD3-8276-5E89828248D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514600" y="1524000"/>
            <a:ext cx="7772400" cy="19431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Full, complete, and balanced binary trees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 dirty="0">
                <a:solidFill>
                  <a:srgbClr val="FF0000"/>
                </a:solidFill>
              </a:rPr>
              <a:t>A full binary tree of height </a:t>
            </a:r>
            <a:r>
              <a:rPr lang="en-US" altLang="en-US" b="1" i="1" dirty="0">
                <a:solidFill>
                  <a:srgbClr val="FF0000"/>
                </a:solidFill>
              </a:rPr>
              <a:t>h</a:t>
            </a:r>
            <a:r>
              <a:rPr lang="en-US" altLang="en-US" b="1" dirty="0">
                <a:solidFill>
                  <a:srgbClr val="FF0000"/>
                </a:solidFill>
              </a:rPr>
              <a:t> is </a:t>
            </a:r>
            <a:r>
              <a:rPr lang="en-US" altLang="en-US" dirty="0"/>
              <a:t>a binary tree in which every node has </a:t>
            </a:r>
            <a:r>
              <a:rPr lang="en-US" altLang="en-US" dirty="0">
                <a:highlight>
                  <a:srgbClr val="FFFF00"/>
                </a:highlight>
              </a:rPr>
              <a:t>0 or 2 </a:t>
            </a:r>
            <a:r>
              <a:rPr lang="en-US" altLang="en-US" dirty="0"/>
              <a:t>children each.</a:t>
            </a:r>
            <a:endParaRPr lang="en-US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16390" name="Picture 5">
            <a:extLst>
              <a:ext uri="{FF2B5EF4-FFF2-40B4-BE49-F238E27FC236}">
                <a16:creationId xmlns:a16="http://schemas.microsoft.com/office/drawing/2014/main" id="{FA0894C5-1A7C-4283-A0A1-4FFEB47C435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38601" y="3657600"/>
            <a:ext cx="1857375" cy="2514600"/>
          </a:xfrm>
          <a:noFill/>
        </p:spPr>
      </p:pic>
      <p:sp>
        <p:nvSpPr>
          <p:cNvPr id="21510" name="Text Box 6">
            <a:extLst>
              <a:ext uri="{FF2B5EF4-FFF2-40B4-BE49-F238E27FC236}">
                <a16:creationId xmlns:a16="http://schemas.microsoft.com/office/drawing/2014/main" id="{158BE3DE-6711-4D4D-8E65-448476FB71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810000"/>
            <a:ext cx="3200400" cy="767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ts val="2800"/>
              </a:lnSpc>
              <a:defRPr/>
            </a:pPr>
            <a:r>
              <a:rPr 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Figure 11-7</a:t>
            </a:r>
          </a:p>
          <a:p>
            <a:pPr>
              <a:lnSpc>
                <a:spcPts val="2800"/>
              </a:lnSpc>
              <a:defRPr/>
            </a:pPr>
            <a:r>
              <a:rPr lang="en-US" sz="1600" dirty="0">
                <a:latin typeface="Arial" charset="0"/>
              </a:rPr>
              <a:t>A full binary tree of height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4">
            <a:extLst>
              <a:ext uri="{FF2B5EF4-FFF2-40B4-BE49-F238E27FC236}">
                <a16:creationId xmlns:a16="http://schemas.microsoft.com/office/drawing/2014/main" id="{17C54678-1537-4888-BFE2-1D5EC80AD33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rgbClr val="548446"/>
                </a:solidFill>
                <a:latin typeface="Arial" panose="020B0604020202020204" pitchFamily="34" charset="0"/>
              </a:rPr>
              <a:t>© 2011 Pearson Addison-Wesley. All rights reserved</a:t>
            </a:r>
          </a:p>
        </p:txBody>
      </p:sp>
      <p:sp>
        <p:nvSpPr>
          <p:cNvPr id="18435" name="Slide Number Placeholder 5">
            <a:extLst>
              <a:ext uri="{FF2B5EF4-FFF2-40B4-BE49-F238E27FC236}">
                <a16:creationId xmlns:a16="http://schemas.microsoft.com/office/drawing/2014/main" id="{0C83D79F-1B84-4E37-ADCF-246C8E3B511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rgbClr val="548446"/>
                </a:solidFill>
                <a:latin typeface="Arial" panose="020B0604020202020204" pitchFamily="34" charset="0"/>
              </a:rPr>
              <a:t>11 A-</a:t>
            </a:r>
            <a:fld id="{B8CFBA83-B10A-4417-880F-F2E1C934F891}" type="slidenum">
              <a:rPr lang="en-US" altLang="en-US" sz="1000">
                <a:solidFill>
                  <a:srgbClr val="548446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000">
              <a:solidFill>
                <a:srgbClr val="548446"/>
              </a:solidFill>
              <a:latin typeface="Arial" panose="020B0604020202020204" pitchFamily="34" charset="0"/>
            </a:endParaRPr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9AFC990F-29B0-41F7-992E-5229E3A361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85913" y="53975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Terminology</a:t>
            </a:r>
          </a:p>
        </p:txBody>
      </p:sp>
      <p:sp>
        <p:nvSpPr>
          <p:cNvPr id="18437" name="Rectangle 3">
            <a:extLst>
              <a:ext uri="{FF2B5EF4-FFF2-40B4-BE49-F238E27FC236}">
                <a16:creationId xmlns:a16="http://schemas.microsoft.com/office/drawing/2014/main" id="{8133B0CA-4096-47A0-918D-FF7C4F3AD63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09800" y="1028700"/>
            <a:ext cx="8077200" cy="19431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Complete binary trees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b="1" dirty="0">
                <a:solidFill>
                  <a:srgbClr val="FF0000"/>
                </a:solidFill>
              </a:rPr>
              <a:t>A complete binary tree is a binary tree in which every level, except the last, is completely filled, and all nodes are as far left as possible.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A binary tree T of height h is complete if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dirty="0"/>
              <a:t>All nodes at level h – 1 and above have two children each, and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dirty="0"/>
              <a:t>When a node at level h has children, all nodes to its left at the same level have two children each, and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dirty="0"/>
              <a:t>When a node at level h has one child, it is a left child</a:t>
            </a:r>
          </a:p>
        </p:txBody>
      </p:sp>
      <p:pic>
        <p:nvPicPr>
          <p:cNvPr id="18438" name="Picture 6">
            <a:extLst>
              <a:ext uri="{FF2B5EF4-FFF2-40B4-BE49-F238E27FC236}">
                <a16:creationId xmlns:a16="http://schemas.microsoft.com/office/drawing/2014/main" id="{7F34F5E9-E6E7-4C3C-B28F-549C62FD681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14601" y="3657600"/>
            <a:ext cx="4321175" cy="2667000"/>
          </a:xfrm>
          <a:noFill/>
        </p:spPr>
      </p:pic>
      <p:sp>
        <p:nvSpPr>
          <p:cNvPr id="24583" name="Text Box 7">
            <a:extLst>
              <a:ext uri="{FF2B5EF4-FFF2-40B4-BE49-F238E27FC236}">
                <a16:creationId xmlns:a16="http://schemas.microsoft.com/office/drawing/2014/main" id="{45752DEF-0AEC-4D53-A28B-0A35B519A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3810000"/>
            <a:ext cx="2514600" cy="767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ts val="2800"/>
              </a:lnSpc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Figure 11-8</a:t>
            </a:r>
          </a:p>
          <a:p>
            <a:pPr>
              <a:lnSpc>
                <a:spcPts val="2800"/>
              </a:lnSpc>
              <a:defRPr/>
            </a:pPr>
            <a:r>
              <a:rPr lang="en-US" sz="1600">
                <a:latin typeface="Arial" charset="0"/>
              </a:rPr>
              <a:t>A complete binary tree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7C5F1678-3776-4A12-86AA-72F58A6D80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2514600"/>
            <a:ext cx="7772400" cy="1143000"/>
          </a:xfrm>
        </p:spPr>
        <p:txBody>
          <a:bodyPr/>
          <a:lstStyle/>
          <a:p>
            <a:r>
              <a:rPr lang="en-US" altLang="en-US" dirty="0"/>
              <a:t>More Examples</a:t>
            </a:r>
          </a:p>
        </p:txBody>
      </p:sp>
      <p:sp>
        <p:nvSpPr>
          <p:cNvPr id="21507" name="Footer Placeholder 4">
            <a:extLst>
              <a:ext uri="{FF2B5EF4-FFF2-40B4-BE49-F238E27FC236}">
                <a16:creationId xmlns:a16="http://schemas.microsoft.com/office/drawing/2014/main" id="{1A1E1823-96E6-48BB-A075-DC39F840CF8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000">
                <a:solidFill>
                  <a:srgbClr val="548446"/>
                </a:solidFill>
                <a:latin typeface="Arial" panose="020B0604020202020204" pitchFamily="34" charset="0"/>
              </a:rPr>
              <a:t>© 2011 Pearson Addison-Wesley. All rights reserved</a:t>
            </a:r>
          </a:p>
        </p:txBody>
      </p:sp>
      <p:sp>
        <p:nvSpPr>
          <p:cNvPr id="21508" name="Slide Number Placeholder 5">
            <a:extLst>
              <a:ext uri="{FF2B5EF4-FFF2-40B4-BE49-F238E27FC236}">
                <a16:creationId xmlns:a16="http://schemas.microsoft.com/office/drawing/2014/main" id="{7412982D-3209-478C-8B57-A8E445E66DA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000">
                <a:solidFill>
                  <a:srgbClr val="548446"/>
                </a:solidFill>
                <a:latin typeface="Arial" panose="020B0604020202020204" pitchFamily="34" charset="0"/>
              </a:rPr>
              <a:t>11 A-</a:t>
            </a:r>
            <a:fld id="{0CAFD2C7-7254-4C9F-B2CC-F3211AE26783}" type="slidenum">
              <a:rPr lang="en-US" altLang="en-US" sz="1000">
                <a:solidFill>
                  <a:srgbClr val="548446"/>
                </a:solidFill>
                <a:latin typeface="Arial" panose="020B0604020202020204" pitchFamily="34" charset="0"/>
              </a:rPr>
              <a:pPr/>
              <a:t>10</a:t>
            </a:fld>
            <a:endParaRPr lang="en-US" altLang="en-US" sz="1000">
              <a:solidFill>
                <a:srgbClr val="548446"/>
              </a:solidFill>
              <a:latin typeface="Arial" panose="020B0604020202020204" pitchFamily="34" charset="0"/>
            </a:endParaRPr>
          </a:p>
        </p:txBody>
      </p:sp>
      <p:pic>
        <p:nvPicPr>
          <p:cNvPr id="104450" name="Picture 2" descr="Image result for full binary tree">
            <a:extLst>
              <a:ext uri="{FF2B5EF4-FFF2-40B4-BE49-F238E27FC236}">
                <a16:creationId xmlns:a16="http://schemas.microsoft.com/office/drawing/2014/main" id="{673BDF57-9A3E-4306-AD3A-77DCFD87DB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457200"/>
            <a:ext cx="6705600" cy="550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0073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3">
            <a:extLst>
              <a:ext uri="{FF2B5EF4-FFF2-40B4-BE49-F238E27FC236}">
                <a16:creationId xmlns:a16="http://schemas.microsoft.com/office/drawing/2014/main" id="{F849659A-FA36-4C2A-B7D1-FFDC5F3DB35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rgbClr val="548446"/>
                </a:solidFill>
                <a:latin typeface="Arial" panose="020B0604020202020204" pitchFamily="34" charset="0"/>
              </a:rPr>
              <a:t>© 2011 Pearson Addison-Wesley. All rights reserved</a:t>
            </a:r>
          </a:p>
        </p:txBody>
      </p:sp>
      <p:sp>
        <p:nvSpPr>
          <p:cNvPr id="22531" name="Slide Number Placeholder 4">
            <a:extLst>
              <a:ext uri="{FF2B5EF4-FFF2-40B4-BE49-F238E27FC236}">
                <a16:creationId xmlns:a16="http://schemas.microsoft.com/office/drawing/2014/main" id="{5A173C0F-5296-4C1D-825D-A2FAA204C5F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rgbClr val="548446"/>
                </a:solidFill>
                <a:latin typeface="Arial" panose="020B0604020202020204" pitchFamily="34" charset="0"/>
              </a:rPr>
              <a:t>11 A-</a:t>
            </a:r>
            <a:fld id="{802FC62D-CC27-4D1F-ADAD-906C843097ED}" type="slidenum">
              <a:rPr lang="en-US" altLang="en-US" sz="1000">
                <a:solidFill>
                  <a:srgbClr val="548446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000">
              <a:solidFill>
                <a:srgbClr val="548446"/>
              </a:solidFill>
              <a:latin typeface="Arial" panose="020B0604020202020204" pitchFamily="34" charset="0"/>
            </a:endParaRPr>
          </a:p>
        </p:txBody>
      </p:sp>
      <p:sp>
        <p:nvSpPr>
          <p:cNvPr id="22532" name="Rectangle 1026">
            <a:extLst>
              <a:ext uri="{FF2B5EF4-FFF2-40B4-BE49-F238E27FC236}">
                <a16:creationId xmlns:a16="http://schemas.microsoft.com/office/drawing/2014/main" id="{E088AE92-FB22-48DB-8B3D-E51446D884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Terminology</a:t>
            </a:r>
          </a:p>
        </p:txBody>
      </p:sp>
      <p:sp>
        <p:nvSpPr>
          <p:cNvPr id="22533" name="Rectangle 1027">
            <a:extLst>
              <a:ext uri="{FF2B5EF4-FFF2-40B4-BE49-F238E27FC236}">
                <a16:creationId xmlns:a16="http://schemas.microsoft.com/office/drawing/2014/main" id="{9EA15F26-EAA1-415A-8B0D-A72C1D5113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8638" y="1371600"/>
            <a:ext cx="4678362" cy="2616200"/>
          </a:xfrm>
        </p:spPr>
        <p:txBody>
          <a:bodyPr/>
          <a:lstStyle/>
          <a:p>
            <a:pPr eaLnBrk="1" hangingPunct="1"/>
            <a:r>
              <a:rPr lang="en-US" altLang="en-US" sz="2800"/>
              <a:t>Balanced binary trees</a:t>
            </a:r>
          </a:p>
          <a:p>
            <a:pPr lvl="1" eaLnBrk="1" hangingPunct="1"/>
            <a:r>
              <a:rPr lang="en-US" altLang="en-US" sz="2400"/>
              <a:t>A binary tree is balanced if the height of any node’s right subtree differs from the height of the node’s left subtree by no more than 1</a:t>
            </a:r>
          </a:p>
        </p:txBody>
      </p:sp>
      <p:pic>
        <p:nvPicPr>
          <p:cNvPr id="22534" name="Picture 7" descr="Image result for balanced binary tree">
            <a:extLst>
              <a:ext uri="{FF2B5EF4-FFF2-40B4-BE49-F238E27FC236}">
                <a16:creationId xmlns:a16="http://schemas.microsoft.com/office/drawing/2014/main" id="{F42068A2-D58C-4FB2-B98F-AA73A320C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936" y="2379024"/>
            <a:ext cx="4291013" cy="236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92BBB0-34E1-462C-98B7-5A697CF7ACD4}"/>
              </a:ext>
            </a:extLst>
          </p:cNvPr>
          <p:cNvSpPr txBox="1"/>
          <p:nvPr/>
        </p:nvSpPr>
        <p:spPr>
          <a:xfrm>
            <a:off x="1981200" y="4495800"/>
            <a:ext cx="8001000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Full binary trees are complete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Complete binary trees are balanced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109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3">
            <a:extLst>
              <a:ext uri="{FF2B5EF4-FFF2-40B4-BE49-F238E27FC236}">
                <a16:creationId xmlns:a16="http://schemas.microsoft.com/office/drawing/2014/main" id="{7AFE5036-46AB-44B6-8775-1D13A12FE1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rgbClr val="548446"/>
                </a:solidFill>
                <a:latin typeface="Arial" panose="020B0604020202020204" pitchFamily="34" charset="0"/>
              </a:rPr>
              <a:t>© 2011 Pearson Addison-Wesley. All rights reserved</a:t>
            </a:r>
          </a:p>
        </p:txBody>
      </p:sp>
      <p:sp>
        <p:nvSpPr>
          <p:cNvPr id="32771" name="Slide Number Placeholder 4">
            <a:extLst>
              <a:ext uri="{FF2B5EF4-FFF2-40B4-BE49-F238E27FC236}">
                <a16:creationId xmlns:a16="http://schemas.microsoft.com/office/drawing/2014/main" id="{CB68D818-60EA-4142-B76B-F762CB32185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rgbClr val="548446"/>
                </a:solidFill>
                <a:latin typeface="Arial" panose="020B0604020202020204" pitchFamily="34" charset="0"/>
              </a:rPr>
              <a:t>11 A-</a:t>
            </a:r>
            <a:fld id="{E1F93607-2702-4E88-942E-28AFED39FE58}" type="slidenum">
              <a:rPr lang="en-US" altLang="en-US" sz="1000">
                <a:solidFill>
                  <a:srgbClr val="548446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000">
              <a:solidFill>
                <a:srgbClr val="548446"/>
              </a:solidFill>
              <a:latin typeface="Arial" panose="020B0604020202020204" pitchFamily="34" charset="0"/>
            </a:endParaRPr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3BF9BEA9-80DF-4542-8423-39594475D0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Terminology</a:t>
            </a: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05A96D45-0715-4533-BA10-063141948B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Summary of tree terminology (Continued)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Full binary tree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A binary tree of height h with no missing nodes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All leaves are at level h and all other nodes each have two children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Complete binary tree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A binary tree of height h that is full to level h – 1 and has level h filled in from left to right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Balanced binary tree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A binary tree in which the left and right subtrees of any node have heights that differ by at most 1</a:t>
            </a:r>
          </a:p>
        </p:txBody>
      </p:sp>
    </p:spTree>
    <p:extLst>
      <p:ext uri="{BB962C8B-B14F-4D97-AF65-F5344CB8AC3E}">
        <p14:creationId xmlns:p14="http://schemas.microsoft.com/office/powerpoint/2010/main" val="3365035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B41DE-1245-C0FA-73FC-619F96A27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>
            <a:extLst>
              <a:ext uri="{FF2B5EF4-FFF2-40B4-BE49-F238E27FC236}">
                <a16:creationId xmlns:a16="http://schemas.microsoft.com/office/drawing/2014/main" id="{599D17C3-F9FB-6D34-C1E7-C9D85D4BE8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00200" y="914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Tree Representation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0D0F39-712B-2D7B-0464-9E0C59027EF0}"/>
              </a:ext>
            </a:extLst>
          </p:cNvPr>
          <p:cNvSpPr txBox="1"/>
          <p:nvPr/>
        </p:nvSpPr>
        <p:spPr>
          <a:xfrm>
            <a:off x="3068110" y="2644170"/>
            <a:ext cx="611257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Array Based</a:t>
            </a:r>
          </a:p>
          <a:p>
            <a:pPr marL="457200" indent="-457200">
              <a:buAutoNum type="arabicPeriod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Nodes and References Based</a:t>
            </a:r>
          </a:p>
        </p:txBody>
      </p:sp>
    </p:spTree>
    <p:extLst>
      <p:ext uri="{BB962C8B-B14F-4D97-AF65-F5344CB8AC3E}">
        <p14:creationId xmlns:p14="http://schemas.microsoft.com/office/powerpoint/2010/main" val="4224555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351AD2-AC1D-81EB-7F9A-612A39DB49FD}"/>
              </a:ext>
            </a:extLst>
          </p:cNvPr>
          <p:cNvSpPr txBox="1"/>
          <p:nvPr/>
        </p:nvSpPr>
        <p:spPr>
          <a:xfrm>
            <a:off x="880986" y="503381"/>
            <a:ext cx="77758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1. Binary Tree – Array based Implementation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0F361B4-E394-2D08-B52C-DFC53B2928F5}"/>
              </a:ext>
            </a:extLst>
          </p:cNvPr>
          <p:cNvGraphicFramePr>
            <a:graphicFrameLocks noGrp="1"/>
          </p:cNvGraphicFramePr>
          <p:nvPr/>
        </p:nvGraphicFramePr>
        <p:xfrm>
          <a:off x="2220624" y="4768624"/>
          <a:ext cx="8128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85652716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34344682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41693267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08250569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85328864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978535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8202539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88049148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78318638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056077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53020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4715A0B-C809-7B73-8CE4-FF54952B1FD9}"/>
              </a:ext>
            </a:extLst>
          </p:cNvPr>
          <p:cNvSpPr txBox="1"/>
          <p:nvPr/>
        </p:nvSpPr>
        <p:spPr>
          <a:xfrm>
            <a:off x="8656833" y="3818981"/>
            <a:ext cx="1425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binary tree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7BDE5C-114C-54AB-5690-7B1DF0398D19}"/>
              </a:ext>
            </a:extLst>
          </p:cNvPr>
          <p:cNvSpPr txBox="1"/>
          <p:nvPr/>
        </p:nvSpPr>
        <p:spPr>
          <a:xfrm>
            <a:off x="1456566" y="4770132"/>
            <a:ext cx="48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1CB884-9015-F0A5-6848-0E96C15EA07D}"/>
              </a:ext>
            </a:extLst>
          </p:cNvPr>
          <p:cNvSpPr txBox="1"/>
          <p:nvPr/>
        </p:nvSpPr>
        <p:spPr>
          <a:xfrm>
            <a:off x="1456566" y="5269493"/>
            <a:ext cx="753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index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C3D7FD-AFFF-5590-105A-EAD0C35D74C9}"/>
              </a:ext>
            </a:extLst>
          </p:cNvPr>
          <p:cNvSpPr txBox="1"/>
          <p:nvPr/>
        </p:nvSpPr>
        <p:spPr>
          <a:xfrm>
            <a:off x="1836892" y="1796432"/>
            <a:ext cx="483728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Binary tree is stored in an array</a:t>
            </a:r>
          </a:p>
          <a:p>
            <a:pPr marL="285750" indent="-285750">
              <a:buFontTx/>
              <a:buChar char="-"/>
            </a:pPr>
            <a:r>
              <a:rPr lang="en-US" dirty="0"/>
              <a:t>Each element of the array represents a node</a:t>
            </a:r>
          </a:p>
          <a:p>
            <a:pPr marL="285750" indent="-285750">
              <a:buFontTx/>
              <a:buChar char="-"/>
            </a:pPr>
            <a:r>
              <a:rPr lang="en-US" dirty="0"/>
              <a:t>For any node </a:t>
            </a:r>
            <a:r>
              <a:rPr lang="en-US" dirty="0" err="1"/>
              <a:t>i</a:t>
            </a:r>
            <a:r>
              <a:rPr lang="en-US" dirty="0"/>
              <a:t>,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Left child is at index 2*i+1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Right child is at index 2*i+2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It’s parent is at index (i-1)/2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A3FE55-F451-DC63-C1FA-A6F2C46BD768}"/>
              </a:ext>
            </a:extLst>
          </p:cNvPr>
          <p:cNvSpPr txBox="1"/>
          <p:nvPr/>
        </p:nvSpPr>
        <p:spPr>
          <a:xfrm>
            <a:off x="2438400" y="52826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7F90F3-4BE4-E70A-6B58-7EB615367F9E}"/>
              </a:ext>
            </a:extLst>
          </p:cNvPr>
          <p:cNvSpPr txBox="1"/>
          <p:nvPr/>
        </p:nvSpPr>
        <p:spPr>
          <a:xfrm>
            <a:off x="3276600" y="52694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CE4489-DD2A-CA11-AFC3-E5E29D96AC36}"/>
              </a:ext>
            </a:extLst>
          </p:cNvPr>
          <p:cNvSpPr txBox="1"/>
          <p:nvPr/>
        </p:nvSpPr>
        <p:spPr>
          <a:xfrm>
            <a:off x="4085456" y="52826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351C4F-6A9E-3042-E121-86839BF3CE48}"/>
              </a:ext>
            </a:extLst>
          </p:cNvPr>
          <p:cNvSpPr txBox="1"/>
          <p:nvPr/>
        </p:nvSpPr>
        <p:spPr>
          <a:xfrm>
            <a:off x="4923656" y="52694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49914A-A8B8-702F-C8EA-5538476F39D5}"/>
              </a:ext>
            </a:extLst>
          </p:cNvPr>
          <p:cNvSpPr txBox="1"/>
          <p:nvPr/>
        </p:nvSpPr>
        <p:spPr>
          <a:xfrm>
            <a:off x="5718473" y="52826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8EC6E6-D0E4-6128-F70C-9BE1CABD10C9}"/>
              </a:ext>
            </a:extLst>
          </p:cNvPr>
          <p:cNvSpPr txBox="1"/>
          <p:nvPr/>
        </p:nvSpPr>
        <p:spPr>
          <a:xfrm>
            <a:off x="6556673" y="52578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B802DC-F3BE-E311-E7E8-A9292CDAE709}"/>
              </a:ext>
            </a:extLst>
          </p:cNvPr>
          <p:cNvSpPr txBox="1"/>
          <p:nvPr/>
        </p:nvSpPr>
        <p:spPr>
          <a:xfrm>
            <a:off x="7351490" y="52578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C3F069C-4A0A-2AAC-A3CD-9546D0C6AF15}"/>
              </a:ext>
            </a:extLst>
          </p:cNvPr>
          <p:cNvSpPr/>
          <p:nvPr/>
        </p:nvSpPr>
        <p:spPr>
          <a:xfrm>
            <a:off x="9151896" y="1332751"/>
            <a:ext cx="435586" cy="42840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1ED964F-2C7F-F478-8008-016137CE9B12}"/>
              </a:ext>
            </a:extLst>
          </p:cNvPr>
          <p:cNvSpPr/>
          <p:nvPr/>
        </p:nvSpPr>
        <p:spPr>
          <a:xfrm>
            <a:off x="8258176" y="2239911"/>
            <a:ext cx="487769" cy="4019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DF8C513-E1CB-BDC6-BA11-4C900F1965F8}"/>
              </a:ext>
            </a:extLst>
          </p:cNvPr>
          <p:cNvSpPr/>
          <p:nvPr/>
        </p:nvSpPr>
        <p:spPr>
          <a:xfrm>
            <a:off x="9938771" y="2239911"/>
            <a:ext cx="487769" cy="4708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D0FEE5B-4A90-FED8-2C7D-4BB58288AAB3}"/>
              </a:ext>
            </a:extLst>
          </p:cNvPr>
          <p:cNvSpPr/>
          <p:nvPr/>
        </p:nvSpPr>
        <p:spPr>
          <a:xfrm>
            <a:off x="8730536" y="3317295"/>
            <a:ext cx="418234" cy="4317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D1D410C-DBAF-A814-F9C1-C8BCDE099589}"/>
              </a:ext>
            </a:extLst>
          </p:cNvPr>
          <p:cNvSpPr/>
          <p:nvPr/>
        </p:nvSpPr>
        <p:spPr>
          <a:xfrm>
            <a:off x="7748186" y="3300295"/>
            <a:ext cx="440293" cy="4317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2F62303-2513-9DCA-0902-C402A24A4559}"/>
              </a:ext>
            </a:extLst>
          </p:cNvPr>
          <p:cNvCxnSpPr>
            <a:cxnSpLocks/>
            <a:stCxn id="16" idx="3"/>
            <a:endCxn id="27" idx="0"/>
          </p:cNvCxnSpPr>
          <p:nvPr/>
        </p:nvCxnSpPr>
        <p:spPr>
          <a:xfrm flipH="1">
            <a:off x="8502061" y="1698415"/>
            <a:ext cx="713625" cy="5414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0CB51BB-75AC-5977-0E75-B05F9FDFF2E2}"/>
              </a:ext>
            </a:extLst>
          </p:cNvPr>
          <p:cNvCxnSpPr>
            <a:cxnSpLocks/>
            <a:stCxn id="16" idx="5"/>
            <a:endCxn id="28" idx="0"/>
          </p:cNvCxnSpPr>
          <p:nvPr/>
        </p:nvCxnSpPr>
        <p:spPr>
          <a:xfrm>
            <a:off x="9523692" y="1698415"/>
            <a:ext cx="658964" cy="5414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ADC5BFB-BAC1-49F0-D714-432A6D67608F}"/>
              </a:ext>
            </a:extLst>
          </p:cNvPr>
          <p:cNvCxnSpPr>
            <a:cxnSpLocks/>
            <a:stCxn id="30" idx="0"/>
            <a:endCxn id="27" idx="3"/>
          </p:cNvCxnSpPr>
          <p:nvPr/>
        </p:nvCxnSpPr>
        <p:spPr>
          <a:xfrm flipV="1">
            <a:off x="7968333" y="2582975"/>
            <a:ext cx="361275" cy="717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2FD8C04-F146-76A3-F7A4-6B954AE51663}"/>
              </a:ext>
            </a:extLst>
          </p:cNvPr>
          <p:cNvCxnSpPr>
            <a:cxnSpLocks/>
            <a:stCxn id="29" idx="0"/>
            <a:endCxn id="27" idx="5"/>
          </p:cNvCxnSpPr>
          <p:nvPr/>
        </p:nvCxnSpPr>
        <p:spPr>
          <a:xfrm flipH="1" flipV="1">
            <a:off x="8674513" y="2582975"/>
            <a:ext cx="265140" cy="73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689CE742-D849-A18D-1015-4F3345306793}"/>
              </a:ext>
            </a:extLst>
          </p:cNvPr>
          <p:cNvSpPr/>
          <p:nvPr/>
        </p:nvSpPr>
        <p:spPr>
          <a:xfrm>
            <a:off x="9584990" y="3317296"/>
            <a:ext cx="435586" cy="4317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7A39859-E671-A1AD-6F96-A44CCC24C0B7}"/>
              </a:ext>
            </a:extLst>
          </p:cNvPr>
          <p:cNvCxnSpPr>
            <a:cxnSpLocks/>
            <a:stCxn id="37" idx="0"/>
            <a:endCxn id="28" idx="3"/>
          </p:cNvCxnSpPr>
          <p:nvPr/>
        </p:nvCxnSpPr>
        <p:spPr>
          <a:xfrm flipV="1">
            <a:off x="9802783" y="2641836"/>
            <a:ext cx="207420" cy="675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0A4AC649-1A86-0918-4D92-224FD4AC1D6E}"/>
              </a:ext>
            </a:extLst>
          </p:cNvPr>
          <p:cNvSpPr/>
          <p:nvPr/>
        </p:nvSpPr>
        <p:spPr>
          <a:xfrm>
            <a:off x="10578814" y="3300296"/>
            <a:ext cx="418234" cy="4317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6994F58-A592-0E0E-477F-757C4423C24C}"/>
              </a:ext>
            </a:extLst>
          </p:cNvPr>
          <p:cNvCxnSpPr>
            <a:cxnSpLocks/>
            <a:stCxn id="39" idx="0"/>
            <a:endCxn id="28" idx="5"/>
          </p:cNvCxnSpPr>
          <p:nvPr/>
        </p:nvCxnSpPr>
        <p:spPr>
          <a:xfrm flipH="1" flipV="1">
            <a:off x="10355108" y="2641836"/>
            <a:ext cx="432823" cy="658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076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137B2-98CF-A0F8-EB78-35AE0CD58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D203278-4607-6408-6B27-3648999B81B3}"/>
              </a:ext>
            </a:extLst>
          </p:cNvPr>
          <p:cNvSpPr txBox="1"/>
          <p:nvPr/>
        </p:nvSpPr>
        <p:spPr>
          <a:xfrm>
            <a:off x="648091" y="422929"/>
            <a:ext cx="73654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Binary Tree – Array based Implementation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CFB9D6E-C686-0AD3-8BAC-7008E30BC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198757"/>
              </p:ext>
            </p:extLst>
          </p:nvPr>
        </p:nvGraphicFramePr>
        <p:xfrm>
          <a:off x="3276600" y="1371600"/>
          <a:ext cx="4876931" cy="3931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76931">
                  <a:extLst>
                    <a:ext uri="{9D8B030D-6E8A-4147-A177-3AD203B41FA5}">
                      <a16:colId xmlns:a16="http://schemas.microsoft.com/office/drawing/2014/main" val="1041763769"/>
                    </a:ext>
                  </a:extLst>
                </a:gridCol>
              </a:tblGrid>
              <a:tr h="344022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/>
                        <a:t>ArrayBinaryTree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600910"/>
                  </a:ext>
                </a:extLst>
              </a:tr>
              <a:tr h="38096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 </a:t>
                      </a:r>
                      <a:r>
                        <a:rPr lang="en-US" sz="2400" dirty="0" err="1"/>
                        <a:t>arr</a:t>
                      </a:r>
                      <a:r>
                        <a:rPr lang="en-US" sz="2400" dirty="0"/>
                        <a:t> : 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990156"/>
                  </a:ext>
                </a:extLst>
              </a:tr>
              <a:tr h="252261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+ __</a:t>
                      </a:r>
                      <a:r>
                        <a:rPr lang="en-US" sz="2400" dirty="0" err="1"/>
                        <a:t>init</a:t>
                      </a:r>
                      <a:r>
                        <a:rPr lang="en-US" sz="2400" dirty="0"/>
                        <a:t>__(size : int)</a:t>
                      </a:r>
                    </a:p>
                    <a:p>
                      <a:pPr algn="ctr"/>
                      <a:r>
                        <a:rPr lang="en-US" sz="2400" dirty="0"/>
                        <a:t>+ </a:t>
                      </a:r>
                      <a:r>
                        <a:rPr lang="en-US" sz="2400" dirty="0" err="1"/>
                        <a:t>set_root</a:t>
                      </a:r>
                      <a:r>
                        <a:rPr lang="en-US" sz="2400" dirty="0"/>
                        <a:t>(value : Object)</a:t>
                      </a:r>
                    </a:p>
                    <a:p>
                      <a:pPr algn="ctr"/>
                      <a:r>
                        <a:rPr lang="en-US" sz="2400" dirty="0"/>
                        <a:t>+ </a:t>
                      </a:r>
                      <a:r>
                        <a:rPr lang="en-US" sz="2400" dirty="0" err="1"/>
                        <a:t>set_left</a:t>
                      </a:r>
                      <a:r>
                        <a:rPr lang="en-US" sz="2400" dirty="0"/>
                        <a:t>(</a:t>
                      </a:r>
                      <a:r>
                        <a:rPr lang="en-US" sz="2400" dirty="0" err="1"/>
                        <a:t>i</a:t>
                      </a:r>
                      <a:r>
                        <a:rPr lang="en-US" sz="2400" dirty="0"/>
                        <a:t> : int, value : Object)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+ </a:t>
                      </a:r>
                      <a:r>
                        <a:rPr lang="en-US" sz="2400" dirty="0" err="1"/>
                        <a:t>set_right</a:t>
                      </a:r>
                      <a:r>
                        <a:rPr lang="en-US" sz="2400" dirty="0"/>
                        <a:t>(</a:t>
                      </a:r>
                      <a:r>
                        <a:rPr lang="en-US" sz="2400" dirty="0" err="1"/>
                        <a:t>i</a:t>
                      </a:r>
                      <a:r>
                        <a:rPr lang="en-US" sz="2400" dirty="0"/>
                        <a:t> : int, value : Object)</a:t>
                      </a:r>
                    </a:p>
                    <a:p>
                      <a:pPr algn="ctr"/>
                      <a:r>
                        <a:rPr lang="en-US" sz="2400" dirty="0"/>
                        <a:t>+ </a:t>
                      </a:r>
                      <a:r>
                        <a:rPr lang="en-US" sz="2400" dirty="0" err="1"/>
                        <a:t>get_left</a:t>
                      </a:r>
                      <a:r>
                        <a:rPr lang="en-US" sz="2400" dirty="0"/>
                        <a:t>(</a:t>
                      </a:r>
                      <a:r>
                        <a:rPr lang="en-US" sz="2400" dirty="0" err="1"/>
                        <a:t>i</a:t>
                      </a:r>
                      <a:r>
                        <a:rPr lang="en-US" sz="2400" dirty="0"/>
                        <a:t> : int)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+ </a:t>
                      </a:r>
                      <a:r>
                        <a:rPr lang="en-US" sz="2400" dirty="0" err="1"/>
                        <a:t>get_right</a:t>
                      </a:r>
                      <a:r>
                        <a:rPr lang="en-US" sz="2400" dirty="0"/>
                        <a:t>(</a:t>
                      </a:r>
                      <a:r>
                        <a:rPr lang="en-US" sz="2400" dirty="0" err="1"/>
                        <a:t>i</a:t>
                      </a:r>
                      <a:r>
                        <a:rPr lang="en-US" sz="2400" dirty="0"/>
                        <a:t> : int)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+ </a:t>
                      </a:r>
                      <a:r>
                        <a:rPr lang="en-US" sz="2400" dirty="0" err="1"/>
                        <a:t>get_parent</a:t>
                      </a:r>
                      <a:r>
                        <a:rPr lang="en-US" sz="2400" dirty="0"/>
                        <a:t>(</a:t>
                      </a:r>
                      <a:r>
                        <a:rPr lang="en-US" sz="2400" dirty="0" err="1"/>
                        <a:t>i</a:t>
                      </a:r>
                      <a:r>
                        <a:rPr lang="en-US" sz="2400" dirty="0"/>
                        <a:t> : int)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+ </a:t>
                      </a:r>
                      <a:r>
                        <a:rPr lang="en-US" sz="2400" dirty="0" err="1"/>
                        <a:t>print_tree</a:t>
                      </a:r>
                      <a:r>
                        <a:rPr lang="en-US" sz="240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764229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94134F7-0225-C279-8A5F-2AFFC959FC45}"/>
              </a:ext>
            </a:extLst>
          </p:cNvPr>
          <p:cNvSpPr txBox="1"/>
          <p:nvPr/>
        </p:nvSpPr>
        <p:spPr>
          <a:xfrm>
            <a:off x="4398999" y="5436583"/>
            <a:ext cx="2632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UML Class Diagram</a:t>
            </a:r>
          </a:p>
        </p:txBody>
      </p:sp>
    </p:spTree>
    <p:extLst>
      <p:ext uri="{BB962C8B-B14F-4D97-AF65-F5344CB8AC3E}">
        <p14:creationId xmlns:p14="http://schemas.microsoft.com/office/powerpoint/2010/main" val="2574086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B41B263-64A6-1054-5A8F-5B192F038F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© 2011 Pearson Addison-Wesley. All rights reserved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3C0E1C-2E23-D352-224D-5AC0889D46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11 A-</a:t>
            </a:r>
            <a:fld id="{D1F07210-D085-4776-BAB3-2205DA07CFFA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17EBFE-0417-3C98-7696-CB8C73A7E407}"/>
              </a:ext>
            </a:extLst>
          </p:cNvPr>
          <p:cNvSpPr txBox="1"/>
          <p:nvPr/>
        </p:nvSpPr>
        <p:spPr>
          <a:xfrm>
            <a:off x="1727200" y="2133600"/>
            <a:ext cx="94742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ArrayBinaryTree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def __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__(self, size):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self.arr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[None] * size  # Initialization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def 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set_root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(self, value):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self.arr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[0] = 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16AE36-93B1-D826-BB37-B5078B550CC0}"/>
              </a:ext>
            </a:extLst>
          </p:cNvPr>
          <p:cNvSpPr txBox="1"/>
          <p:nvPr/>
        </p:nvSpPr>
        <p:spPr>
          <a:xfrm>
            <a:off x="914400" y="879484"/>
            <a:ext cx="73654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Binary Tree – Array based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328870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F3E08-EF7E-7A2A-6EE6-796987204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488CFB-EA4A-FE39-48F9-D11D25ECCC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© 2011 Pearson Addison-Wesley. All rights reserved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3198EF-C9DD-85C6-A716-BB448F5F90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11 A-</a:t>
            </a:r>
            <a:fld id="{D1F07210-D085-4776-BAB3-2205DA07CFFA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247BD4-C9EC-85F8-7B66-7EADD5729FF4}"/>
              </a:ext>
            </a:extLst>
          </p:cNvPr>
          <p:cNvSpPr txBox="1"/>
          <p:nvPr/>
        </p:nvSpPr>
        <p:spPr>
          <a:xfrm>
            <a:off x="685800" y="475551"/>
            <a:ext cx="85731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Binary Tree – Array based Implementation (cont.)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F45A01-565B-A406-C913-E71C50F3547B}"/>
              </a:ext>
            </a:extLst>
          </p:cNvPr>
          <p:cNvSpPr txBox="1"/>
          <p:nvPr/>
        </p:nvSpPr>
        <p:spPr>
          <a:xfrm>
            <a:off x="2565400" y="1327436"/>
            <a:ext cx="784761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set_left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(self, 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value):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left = 2 * 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+ 1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if left &lt; 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self.arr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self.arr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[left] = value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else: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print(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f"Index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is out of bounds.")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set_right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(self, 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value):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right = 2 * 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+ 2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if right &lt; 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self.arr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self.arr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[right] = value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else: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print(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f"Index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is out of bounds.")</a:t>
            </a:r>
          </a:p>
        </p:txBody>
      </p:sp>
    </p:spTree>
    <p:extLst>
      <p:ext uri="{BB962C8B-B14F-4D97-AF65-F5344CB8AC3E}">
        <p14:creationId xmlns:p14="http://schemas.microsoft.com/office/powerpoint/2010/main" val="443153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5612B-F722-55EA-7734-0D87A6AD6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DF76D6-FAD9-3C6D-F1D5-81B63461F7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© 2011 Pearson Addison-Wesley. All rights reserved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C49861-A868-D496-D462-891C70ED86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11 A-</a:t>
            </a:r>
            <a:fld id="{D1F07210-D085-4776-BAB3-2205DA07CFFA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E952FC-4D4A-401B-D8DD-73DD75EC8917}"/>
              </a:ext>
            </a:extLst>
          </p:cNvPr>
          <p:cNvSpPr txBox="1"/>
          <p:nvPr/>
        </p:nvSpPr>
        <p:spPr>
          <a:xfrm>
            <a:off x="685800" y="475551"/>
            <a:ext cx="85731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Binary Tree – Array based Implementation (cont.)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5EFA23-BC1A-301A-E114-3E714DEBA859}"/>
              </a:ext>
            </a:extLst>
          </p:cNvPr>
          <p:cNvSpPr txBox="1"/>
          <p:nvPr/>
        </p:nvSpPr>
        <p:spPr>
          <a:xfrm>
            <a:off x="2438400" y="1662031"/>
            <a:ext cx="6097978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get_left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(self, 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left = 2 * 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+ 1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if left &lt; 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self.arr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return 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self.arr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[left]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return None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get_right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(self, 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right = 2 * 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+ 2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if right &lt; 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self.arr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return 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self.arr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[right]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return None</a:t>
            </a:r>
          </a:p>
        </p:txBody>
      </p:sp>
    </p:spTree>
    <p:extLst>
      <p:ext uri="{BB962C8B-B14F-4D97-AF65-F5344CB8AC3E}">
        <p14:creationId xmlns:p14="http://schemas.microsoft.com/office/powerpoint/2010/main" val="26129234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3EE58-5AB3-9A37-F6D1-54E92BB2D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B947ADD-2559-3D2A-0AC3-C453A792E0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© 2011 Pearson Addison-Wesley. All rights reserved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203C1C-B308-0E64-0CB6-F91755796A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11 A-</a:t>
            </a:r>
            <a:fld id="{D1F07210-D085-4776-BAB3-2205DA07CFFA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7E92C2-DC2A-E085-45F2-7B15CE56FBE5}"/>
              </a:ext>
            </a:extLst>
          </p:cNvPr>
          <p:cNvSpPr txBox="1"/>
          <p:nvPr/>
        </p:nvSpPr>
        <p:spPr>
          <a:xfrm>
            <a:off x="685800" y="475551"/>
            <a:ext cx="85731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Binary Tree – Array based Implementation (cont.)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F12283-A515-B86A-3FAC-4B781140B424}"/>
              </a:ext>
            </a:extLst>
          </p:cNvPr>
          <p:cNvSpPr txBox="1"/>
          <p:nvPr/>
        </p:nvSpPr>
        <p:spPr>
          <a:xfrm>
            <a:off x="1828800" y="1752600"/>
            <a:ext cx="9906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get_parent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(self, 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if 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== 0: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return None  # Root node has no parent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parent = (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- 1) // 2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return 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self.arr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[parent] if parent &gt;= 0 else None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print_tree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(self):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print(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self.arr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810354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09B4D-ECBB-80EB-6387-B37B665F0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9F5108-5436-DB27-949F-A7B9977106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© 2011 Pearson Addison-Wesley. All rights reserved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93BD71-391E-C70E-3854-22442D9955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11 A-</a:t>
            </a:r>
            <a:fld id="{D1F07210-D085-4776-BAB3-2205DA07CFFA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561682-133E-6191-5896-953CAE58D07A}"/>
              </a:ext>
            </a:extLst>
          </p:cNvPr>
          <p:cNvSpPr txBox="1"/>
          <p:nvPr/>
        </p:nvSpPr>
        <p:spPr>
          <a:xfrm>
            <a:off x="685800" y="475551"/>
            <a:ext cx="85731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Binary Tree – Array based Implementation (cont.)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BEE965-CCE3-C3FC-ED6F-F3C823C2AFD8}"/>
              </a:ext>
            </a:extLst>
          </p:cNvPr>
          <p:cNvSpPr txBox="1"/>
          <p:nvPr/>
        </p:nvSpPr>
        <p:spPr>
          <a:xfrm>
            <a:off x="1981200" y="1331394"/>
            <a:ext cx="863501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 Example usage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btree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ArrayBinaryTree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(7)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btree.set_root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('a')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btree.set_left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(0, 'b')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btree.set_right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(0, 'c')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btree.set_left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(1, 'd')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btree.set_right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(1, 'e')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btree.set_left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(2, 'f')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btree.set_right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(2, 'g')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btree.print_tree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btree.get_parent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(4)) # Get parent of 'e'</a:t>
            </a:r>
            <a:b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US" sz="2200" dirty="0" err="1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btree.get_parent</a:t>
            </a:r>
            <a:r>
              <a:rPr lang="en-US" sz="2200" dirty="0">
                <a:solidFill>
                  <a:srgbClr val="703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(5))  # Get parent of 'f'</a:t>
            </a:r>
          </a:p>
        </p:txBody>
      </p:sp>
    </p:spTree>
    <p:extLst>
      <p:ext uri="{BB962C8B-B14F-4D97-AF65-F5344CB8AC3E}">
        <p14:creationId xmlns:p14="http://schemas.microsoft.com/office/powerpoint/2010/main" val="19471668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03B744-6107-1BC4-3DCC-3F568C291B07}"/>
              </a:ext>
            </a:extLst>
          </p:cNvPr>
          <p:cNvSpPr txBox="1"/>
          <p:nvPr/>
        </p:nvSpPr>
        <p:spPr>
          <a:xfrm>
            <a:off x="1295400" y="1143000"/>
            <a:ext cx="746661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Pros and Cons of Array-based implementation</a:t>
            </a:r>
          </a:p>
          <a:p>
            <a:endParaRPr lang="en-US" dirty="0"/>
          </a:p>
          <a:p>
            <a:r>
              <a:rPr lang="en-US" dirty="0"/>
              <a:t>	+ memory efficient and simple implementation</a:t>
            </a:r>
          </a:p>
          <a:p>
            <a:r>
              <a:rPr lang="en-US" dirty="0"/>
              <a:t>	+ uses a contiguous block of memory</a:t>
            </a:r>
          </a:p>
          <a:p>
            <a:endParaRPr lang="en-US" dirty="0"/>
          </a:p>
          <a:p>
            <a:r>
              <a:rPr lang="en-US" dirty="0"/>
              <a:t>	- Works well only for complete binary trees</a:t>
            </a:r>
          </a:p>
          <a:p>
            <a:r>
              <a:rPr lang="en-US" dirty="0"/>
              <a:t>	- insertion, deletion, and traversal is less efficient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2468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351AD2-AC1D-81EB-7F9A-612A39DB49FD}"/>
              </a:ext>
            </a:extLst>
          </p:cNvPr>
          <p:cNvSpPr txBox="1"/>
          <p:nvPr/>
        </p:nvSpPr>
        <p:spPr>
          <a:xfrm>
            <a:off x="990600" y="907759"/>
            <a:ext cx="79940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Binary Tree – Class based implementation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F51EA6-569A-59AF-F981-8A2863BA4B97}"/>
              </a:ext>
            </a:extLst>
          </p:cNvPr>
          <p:cNvSpPr txBox="1"/>
          <p:nvPr/>
        </p:nvSpPr>
        <p:spPr>
          <a:xfrm>
            <a:off x="1223159" y="1950180"/>
            <a:ext cx="46368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Tree nodes are represented based on objects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0132FB-93E3-5ACA-2F2F-ABE9E085666B}"/>
              </a:ext>
            </a:extLst>
          </p:cNvPr>
          <p:cNvSpPr txBox="1"/>
          <p:nvPr/>
        </p:nvSpPr>
        <p:spPr>
          <a:xfrm>
            <a:off x="3064857" y="2927028"/>
            <a:ext cx="7592353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en-US" sz="22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TreeNode</a:t>
            </a:r>
            <a:r>
              <a:rPr lang="en-US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en-US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def __</a:t>
            </a:r>
            <a:r>
              <a:rPr lang="en-US" sz="22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US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__(self, value, left, right):</a:t>
            </a:r>
            <a:br>
              <a:rPr lang="en-US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22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self.value</a:t>
            </a:r>
            <a:r>
              <a:rPr lang="en-US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value</a:t>
            </a:r>
            <a:br>
              <a:rPr lang="en-US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22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self.left</a:t>
            </a:r>
            <a:r>
              <a:rPr lang="en-US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left</a:t>
            </a:r>
            <a:br>
              <a:rPr lang="en-US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22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self.right</a:t>
            </a:r>
            <a:r>
              <a:rPr lang="en-US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right</a:t>
            </a:r>
          </a:p>
        </p:txBody>
      </p:sp>
    </p:spTree>
    <p:extLst>
      <p:ext uri="{BB962C8B-B14F-4D97-AF65-F5344CB8AC3E}">
        <p14:creationId xmlns:p14="http://schemas.microsoft.com/office/powerpoint/2010/main" val="37064177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351AD2-AC1D-81EB-7F9A-612A39DB49FD}"/>
              </a:ext>
            </a:extLst>
          </p:cNvPr>
          <p:cNvSpPr txBox="1"/>
          <p:nvPr/>
        </p:nvSpPr>
        <p:spPr>
          <a:xfrm>
            <a:off x="5273576" y="852690"/>
            <a:ext cx="3948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Binary Tree – Implementation Example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A170889-CF19-50EB-D58F-4D4D0F9A57AD}"/>
              </a:ext>
            </a:extLst>
          </p:cNvPr>
          <p:cNvSpPr/>
          <p:nvPr/>
        </p:nvSpPr>
        <p:spPr>
          <a:xfrm>
            <a:off x="4429732" y="2331225"/>
            <a:ext cx="457200" cy="4463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9422BE9-6DA4-57E3-E9F8-D2C732D4B7E3}"/>
              </a:ext>
            </a:extLst>
          </p:cNvPr>
          <p:cNvSpPr/>
          <p:nvPr/>
        </p:nvSpPr>
        <p:spPr>
          <a:xfrm>
            <a:off x="3791910" y="3364158"/>
            <a:ext cx="457200" cy="4463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1307067-503F-B09D-98BB-AC113B5670F3}"/>
              </a:ext>
            </a:extLst>
          </p:cNvPr>
          <p:cNvSpPr/>
          <p:nvPr/>
        </p:nvSpPr>
        <p:spPr>
          <a:xfrm>
            <a:off x="5044976" y="3319003"/>
            <a:ext cx="457200" cy="4463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E8C54EA-25E4-1F2E-5DEF-A9637E6E1EA9}"/>
              </a:ext>
            </a:extLst>
          </p:cNvPr>
          <p:cNvSpPr/>
          <p:nvPr/>
        </p:nvSpPr>
        <p:spPr>
          <a:xfrm>
            <a:off x="2973466" y="4509980"/>
            <a:ext cx="457200" cy="4463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955F197-7412-D4C3-5CD2-5E0B956F856F}"/>
              </a:ext>
            </a:extLst>
          </p:cNvPr>
          <p:cNvSpPr/>
          <p:nvPr/>
        </p:nvSpPr>
        <p:spPr>
          <a:xfrm>
            <a:off x="4655510" y="4498691"/>
            <a:ext cx="457200" cy="4463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16E7A08-4BFE-AB63-2DEB-9FD5541582F0}"/>
              </a:ext>
            </a:extLst>
          </p:cNvPr>
          <p:cNvCxnSpPr>
            <a:stCxn id="3" idx="3"/>
            <a:endCxn id="4" idx="0"/>
          </p:cNvCxnSpPr>
          <p:nvPr/>
        </p:nvCxnSpPr>
        <p:spPr>
          <a:xfrm flipH="1">
            <a:off x="4020510" y="2712178"/>
            <a:ext cx="476177" cy="6519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5F6087-079C-CC90-82FA-E66B1112EC44}"/>
              </a:ext>
            </a:extLst>
          </p:cNvPr>
          <p:cNvCxnSpPr>
            <a:cxnSpLocks/>
            <a:stCxn id="3" idx="5"/>
            <a:endCxn id="5" idx="0"/>
          </p:cNvCxnSpPr>
          <p:nvPr/>
        </p:nvCxnSpPr>
        <p:spPr>
          <a:xfrm>
            <a:off x="4819977" y="2712178"/>
            <a:ext cx="453599" cy="606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D3A9823-7CA1-8751-4E59-211778094EA6}"/>
              </a:ext>
            </a:extLst>
          </p:cNvPr>
          <p:cNvCxnSpPr>
            <a:cxnSpLocks/>
            <a:stCxn id="6" idx="0"/>
            <a:endCxn id="4" idx="3"/>
          </p:cNvCxnSpPr>
          <p:nvPr/>
        </p:nvCxnSpPr>
        <p:spPr>
          <a:xfrm flipV="1">
            <a:off x="3202066" y="3745111"/>
            <a:ext cx="656799" cy="764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3DBF78-3D86-FB9B-3083-58B46792B3A8}"/>
              </a:ext>
            </a:extLst>
          </p:cNvPr>
          <p:cNvCxnSpPr>
            <a:cxnSpLocks/>
            <a:stCxn id="7" idx="0"/>
            <a:endCxn id="4" idx="5"/>
          </p:cNvCxnSpPr>
          <p:nvPr/>
        </p:nvCxnSpPr>
        <p:spPr>
          <a:xfrm flipH="1" flipV="1">
            <a:off x="4182155" y="3745111"/>
            <a:ext cx="701955" cy="7535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8D23B2-73C7-DDE4-3684-10EA5CB7FC79}"/>
              </a:ext>
            </a:extLst>
          </p:cNvPr>
          <p:cNvSpPr txBox="1"/>
          <p:nvPr/>
        </p:nvSpPr>
        <p:spPr>
          <a:xfrm>
            <a:off x="1209981" y="2315490"/>
            <a:ext cx="80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77FD97-6637-D94A-3AD2-AA745E096674}"/>
              </a:ext>
            </a:extLst>
          </p:cNvPr>
          <p:cNvSpPr txBox="1"/>
          <p:nvPr/>
        </p:nvSpPr>
        <p:spPr>
          <a:xfrm>
            <a:off x="1242639" y="3375779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child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F681D4-CB0A-B31F-090F-FE6C9B57DB53}"/>
              </a:ext>
            </a:extLst>
          </p:cNvPr>
          <p:cNvSpPr txBox="1"/>
          <p:nvPr/>
        </p:nvSpPr>
        <p:spPr>
          <a:xfrm>
            <a:off x="1220868" y="4605865"/>
            <a:ext cx="1170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grandchild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468165F-0064-64E0-5182-D3F767C07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613" y="1770730"/>
            <a:ext cx="5401526" cy="356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784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12" grpId="0"/>
      <p:bldP spid="13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351AD2-AC1D-81EB-7F9A-612A39DB49FD}"/>
              </a:ext>
            </a:extLst>
          </p:cNvPr>
          <p:cNvSpPr txBox="1"/>
          <p:nvPr/>
        </p:nvSpPr>
        <p:spPr>
          <a:xfrm>
            <a:off x="4233396" y="650095"/>
            <a:ext cx="4016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Binary Tree - Traversal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EE286A-D957-61AB-B97F-9D4E35665077}"/>
              </a:ext>
            </a:extLst>
          </p:cNvPr>
          <p:cNvSpPr txBox="1"/>
          <p:nvPr/>
        </p:nvSpPr>
        <p:spPr>
          <a:xfrm>
            <a:off x="1099686" y="1734699"/>
            <a:ext cx="27319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Preorder Traversal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1D6C1FE-FB59-2884-283F-3096AF26593B}"/>
              </a:ext>
            </a:extLst>
          </p:cNvPr>
          <p:cNvSpPr/>
          <p:nvPr/>
        </p:nvSpPr>
        <p:spPr>
          <a:xfrm>
            <a:off x="8092035" y="1836892"/>
            <a:ext cx="971045" cy="9467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Root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9D6C6AD-FA3F-0D65-F2D3-C4FA1674825C}"/>
              </a:ext>
            </a:extLst>
          </p:cNvPr>
          <p:cNvSpPr/>
          <p:nvPr/>
        </p:nvSpPr>
        <p:spPr>
          <a:xfrm>
            <a:off x="6415635" y="3607699"/>
            <a:ext cx="971045" cy="9467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Left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7F19617-4168-7FF6-9FC1-E8C7A2672ED6}"/>
              </a:ext>
            </a:extLst>
          </p:cNvPr>
          <p:cNvSpPr/>
          <p:nvPr/>
        </p:nvSpPr>
        <p:spPr>
          <a:xfrm>
            <a:off x="9610640" y="3607699"/>
            <a:ext cx="971045" cy="9467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Right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FD16F6-9F0C-B417-EB0A-CC6F31C43E10}"/>
              </a:ext>
            </a:extLst>
          </p:cNvPr>
          <p:cNvSpPr txBox="1"/>
          <p:nvPr/>
        </p:nvSpPr>
        <p:spPr>
          <a:xfrm>
            <a:off x="6901157" y="5204622"/>
            <a:ext cx="3236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Root</a:t>
            </a:r>
            <a:r>
              <a:rPr lang="en-US" sz="2400" dirty="0"/>
              <a:t> ---&gt; Left ---&gt; Right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3670E-E9F7-2214-C5F2-06722726891D}"/>
              </a:ext>
            </a:extLst>
          </p:cNvPr>
          <p:cNvCxnSpPr>
            <a:stCxn id="4" idx="3"/>
            <a:endCxn id="5" idx="7"/>
          </p:cNvCxnSpPr>
          <p:nvPr/>
        </p:nvCxnSpPr>
        <p:spPr>
          <a:xfrm flipH="1">
            <a:off x="7244474" y="2645009"/>
            <a:ext cx="989767" cy="11013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AA32F2-AB2B-7FE3-95C0-A7722F442AFB}"/>
              </a:ext>
            </a:extLst>
          </p:cNvPr>
          <p:cNvCxnSpPr>
            <a:cxnSpLocks/>
            <a:stCxn id="4" idx="5"/>
            <a:endCxn id="6" idx="1"/>
          </p:cNvCxnSpPr>
          <p:nvPr/>
        </p:nvCxnSpPr>
        <p:spPr>
          <a:xfrm>
            <a:off x="8920874" y="2645009"/>
            <a:ext cx="831972" cy="11013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6E65097-6730-E5CC-6315-FF5FEA6C0A13}"/>
              </a:ext>
            </a:extLst>
          </p:cNvPr>
          <p:cNvSpPr txBox="1"/>
          <p:nvPr/>
        </p:nvSpPr>
        <p:spPr>
          <a:xfrm>
            <a:off x="1350539" y="2499703"/>
            <a:ext cx="442582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200" dirty="0"/>
              <a:t>Visit the current node (root)</a:t>
            </a:r>
          </a:p>
          <a:p>
            <a:pPr marL="285750" indent="-285750">
              <a:buFontTx/>
              <a:buChar char="-"/>
            </a:pPr>
            <a:r>
              <a:rPr lang="en-US" sz="2200" dirty="0"/>
              <a:t>Visit the left subtree recursively</a:t>
            </a:r>
          </a:p>
          <a:p>
            <a:pPr marL="285750" indent="-285750">
              <a:buFontTx/>
              <a:buChar char="-"/>
            </a:pPr>
            <a:r>
              <a:rPr lang="en-US" sz="2200" dirty="0"/>
              <a:t>Visit the right subtree recursively</a:t>
            </a:r>
          </a:p>
        </p:txBody>
      </p:sp>
    </p:spTree>
    <p:extLst>
      <p:ext uri="{BB962C8B-B14F-4D97-AF65-F5344CB8AC3E}">
        <p14:creationId xmlns:p14="http://schemas.microsoft.com/office/powerpoint/2010/main" val="1336090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351AD2-AC1D-81EB-7F9A-612A39DB49FD}"/>
              </a:ext>
            </a:extLst>
          </p:cNvPr>
          <p:cNvSpPr txBox="1"/>
          <p:nvPr/>
        </p:nvSpPr>
        <p:spPr>
          <a:xfrm>
            <a:off x="4233396" y="650095"/>
            <a:ext cx="4016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Binary Tree - Traversal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EE286A-D957-61AB-B97F-9D4E35665077}"/>
              </a:ext>
            </a:extLst>
          </p:cNvPr>
          <p:cNvSpPr txBox="1"/>
          <p:nvPr/>
        </p:nvSpPr>
        <p:spPr>
          <a:xfrm>
            <a:off x="1099686" y="1734699"/>
            <a:ext cx="2534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Inorder</a:t>
            </a:r>
            <a:r>
              <a:rPr lang="en-US" sz="2400" b="1" dirty="0"/>
              <a:t> Traversal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FD16F6-9F0C-B417-EB0A-CC6F31C43E10}"/>
              </a:ext>
            </a:extLst>
          </p:cNvPr>
          <p:cNvSpPr txBox="1"/>
          <p:nvPr/>
        </p:nvSpPr>
        <p:spPr>
          <a:xfrm>
            <a:off x="6860020" y="5156489"/>
            <a:ext cx="3236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Left ---&gt; </a:t>
            </a:r>
            <a:r>
              <a:rPr lang="en-US" sz="2400" b="1" dirty="0"/>
              <a:t>Root</a:t>
            </a:r>
            <a:r>
              <a:rPr lang="en-US" sz="2400" dirty="0"/>
              <a:t> ---&gt; Right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E65097-6730-E5CC-6315-FF5FEA6C0A13}"/>
              </a:ext>
            </a:extLst>
          </p:cNvPr>
          <p:cNvSpPr txBox="1"/>
          <p:nvPr/>
        </p:nvSpPr>
        <p:spPr>
          <a:xfrm>
            <a:off x="1350539" y="2499703"/>
            <a:ext cx="442582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200" dirty="0"/>
              <a:t>Visit the left subtree recursively</a:t>
            </a:r>
          </a:p>
          <a:p>
            <a:pPr marL="285750" indent="-285750">
              <a:buFontTx/>
              <a:buChar char="-"/>
            </a:pPr>
            <a:r>
              <a:rPr lang="en-US" sz="2200" dirty="0"/>
              <a:t>Visit the current node (root)</a:t>
            </a:r>
          </a:p>
          <a:p>
            <a:pPr marL="285750" indent="-285750">
              <a:buFontTx/>
              <a:buChar char="-"/>
            </a:pPr>
            <a:r>
              <a:rPr lang="en-US" sz="2200" dirty="0"/>
              <a:t>Visit the right subtree recursively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EBBDA6E-FD39-8818-6DB0-A1AF19BEF11E}"/>
              </a:ext>
            </a:extLst>
          </p:cNvPr>
          <p:cNvSpPr/>
          <p:nvPr/>
        </p:nvSpPr>
        <p:spPr>
          <a:xfrm>
            <a:off x="8092035" y="1836892"/>
            <a:ext cx="971045" cy="9467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Root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13FFCF7-494A-97F6-ED57-72BC4DAF9673}"/>
              </a:ext>
            </a:extLst>
          </p:cNvPr>
          <p:cNvSpPr/>
          <p:nvPr/>
        </p:nvSpPr>
        <p:spPr>
          <a:xfrm>
            <a:off x="6415635" y="3607699"/>
            <a:ext cx="971045" cy="9467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Left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5C9A7B2-1F93-076F-569C-5A7C9732B981}"/>
              </a:ext>
            </a:extLst>
          </p:cNvPr>
          <p:cNvSpPr/>
          <p:nvPr/>
        </p:nvSpPr>
        <p:spPr>
          <a:xfrm>
            <a:off x="9610640" y="3607699"/>
            <a:ext cx="971045" cy="9467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Right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F70DBD8-D084-B012-6091-CC2EDE7F50F6}"/>
              </a:ext>
            </a:extLst>
          </p:cNvPr>
          <p:cNvCxnSpPr>
            <a:stCxn id="8" idx="3"/>
            <a:endCxn id="11" idx="7"/>
          </p:cNvCxnSpPr>
          <p:nvPr/>
        </p:nvCxnSpPr>
        <p:spPr>
          <a:xfrm flipH="1">
            <a:off x="7244474" y="2645009"/>
            <a:ext cx="989767" cy="11013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3BBF6D3-B252-A8A7-C4F7-5A1FA640C1A8}"/>
              </a:ext>
            </a:extLst>
          </p:cNvPr>
          <p:cNvCxnSpPr>
            <a:cxnSpLocks/>
            <a:stCxn id="8" idx="5"/>
            <a:endCxn id="12" idx="1"/>
          </p:cNvCxnSpPr>
          <p:nvPr/>
        </p:nvCxnSpPr>
        <p:spPr>
          <a:xfrm>
            <a:off x="8920874" y="2645009"/>
            <a:ext cx="831972" cy="11013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3610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351AD2-AC1D-81EB-7F9A-612A39DB49FD}"/>
              </a:ext>
            </a:extLst>
          </p:cNvPr>
          <p:cNvSpPr txBox="1"/>
          <p:nvPr/>
        </p:nvSpPr>
        <p:spPr>
          <a:xfrm>
            <a:off x="4233396" y="650095"/>
            <a:ext cx="4016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Binary Tree - Traversal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EE286A-D957-61AB-B97F-9D4E35665077}"/>
              </a:ext>
            </a:extLst>
          </p:cNvPr>
          <p:cNvSpPr txBox="1"/>
          <p:nvPr/>
        </p:nvSpPr>
        <p:spPr>
          <a:xfrm>
            <a:off x="1099686" y="1734699"/>
            <a:ext cx="2882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Postorder</a:t>
            </a:r>
            <a:r>
              <a:rPr lang="en-US" sz="2400" b="1" dirty="0"/>
              <a:t> Traversal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FD16F6-9F0C-B417-EB0A-CC6F31C43E10}"/>
              </a:ext>
            </a:extLst>
          </p:cNvPr>
          <p:cNvSpPr txBox="1"/>
          <p:nvPr/>
        </p:nvSpPr>
        <p:spPr>
          <a:xfrm>
            <a:off x="6901157" y="5204622"/>
            <a:ext cx="3281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Left ---&gt; Right ---&gt; </a:t>
            </a:r>
            <a:r>
              <a:rPr lang="en-US" sz="2400" b="1" dirty="0"/>
              <a:t>Root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E65097-6730-E5CC-6315-FF5FEA6C0A13}"/>
              </a:ext>
            </a:extLst>
          </p:cNvPr>
          <p:cNvSpPr txBox="1"/>
          <p:nvPr/>
        </p:nvSpPr>
        <p:spPr>
          <a:xfrm>
            <a:off x="1350539" y="2499703"/>
            <a:ext cx="442582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200" dirty="0"/>
              <a:t>Visit the left subtree recursively</a:t>
            </a:r>
          </a:p>
          <a:p>
            <a:pPr marL="285750" indent="-285750">
              <a:buFontTx/>
              <a:buChar char="-"/>
            </a:pPr>
            <a:r>
              <a:rPr lang="en-US" sz="2200" dirty="0"/>
              <a:t>Visit the right subtree recursively</a:t>
            </a:r>
          </a:p>
          <a:p>
            <a:pPr marL="285750" indent="-285750">
              <a:buFontTx/>
              <a:buChar char="-"/>
            </a:pPr>
            <a:r>
              <a:rPr lang="en-US" sz="2200" dirty="0"/>
              <a:t>Visit the current node (root)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6AAA352-1F4B-54C5-64E8-D3CA0B78E117}"/>
              </a:ext>
            </a:extLst>
          </p:cNvPr>
          <p:cNvSpPr/>
          <p:nvPr/>
        </p:nvSpPr>
        <p:spPr>
          <a:xfrm>
            <a:off x="8092035" y="1836892"/>
            <a:ext cx="971045" cy="9467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Root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764AB6C-A259-67D2-2D2B-0203396FCA13}"/>
              </a:ext>
            </a:extLst>
          </p:cNvPr>
          <p:cNvSpPr/>
          <p:nvPr/>
        </p:nvSpPr>
        <p:spPr>
          <a:xfrm>
            <a:off x="6415635" y="3607699"/>
            <a:ext cx="971045" cy="9467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Left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22C31F4-09E0-E454-3F7C-E8EEDE55D133}"/>
              </a:ext>
            </a:extLst>
          </p:cNvPr>
          <p:cNvSpPr/>
          <p:nvPr/>
        </p:nvSpPr>
        <p:spPr>
          <a:xfrm>
            <a:off x="9610640" y="3607699"/>
            <a:ext cx="971045" cy="9467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Right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8CCF-2CF5-703C-808B-E73CC62207BA}"/>
              </a:ext>
            </a:extLst>
          </p:cNvPr>
          <p:cNvCxnSpPr>
            <a:stCxn id="8" idx="3"/>
            <a:endCxn id="11" idx="7"/>
          </p:cNvCxnSpPr>
          <p:nvPr/>
        </p:nvCxnSpPr>
        <p:spPr>
          <a:xfrm flipH="1">
            <a:off x="7244474" y="2645009"/>
            <a:ext cx="989767" cy="11013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A0B9BEE-B554-22E8-8F50-C45F8A310576}"/>
              </a:ext>
            </a:extLst>
          </p:cNvPr>
          <p:cNvCxnSpPr>
            <a:cxnSpLocks/>
            <a:stCxn id="8" idx="5"/>
            <a:endCxn id="12" idx="1"/>
          </p:cNvCxnSpPr>
          <p:nvPr/>
        </p:nvCxnSpPr>
        <p:spPr>
          <a:xfrm>
            <a:off x="8920874" y="2645009"/>
            <a:ext cx="831972" cy="11013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74771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46908A-62B6-5F80-85A0-38B7752B811C}"/>
              </a:ext>
            </a:extLst>
          </p:cNvPr>
          <p:cNvSpPr txBox="1"/>
          <p:nvPr/>
        </p:nvSpPr>
        <p:spPr>
          <a:xfrm>
            <a:off x="3112737" y="1960342"/>
            <a:ext cx="609734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sz="22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traversePreOrder</a:t>
            </a:r>
            <a:r>
              <a:rPr lang="en-US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(node):</a:t>
            </a:r>
            <a:br>
              <a:rPr lang="en-US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print(</a:t>
            </a:r>
            <a:r>
              <a:rPr lang="en-US" sz="22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node.value</a:t>
            </a:r>
            <a:r>
              <a:rPr lang="en-US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if </a:t>
            </a:r>
            <a:r>
              <a:rPr lang="en-US" sz="22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node.left</a:t>
            </a:r>
            <a:r>
              <a:rPr lang="en-US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!= None:</a:t>
            </a:r>
            <a:br>
              <a:rPr lang="en-US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22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traversePreOrder</a:t>
            </a:r>
            <a:r>
              <a:rPr lang="en-US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node.left</a:t>
            </a:r>
            <a:r>
              <a:rPr lang="en-US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if </a:t>
            </a:r>
            <a:r>
              <a:rPr lang="en-US" sz="22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node.right</a:t>
            </a:r>
            <a:r>
              <a:rPr lang="en-US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!= None:</a:t>
            </a:r>
            <a:br>
              <a:rPr lang="en-US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22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traversePreOrder</a:t>
            </a:r>
            <a:r>
              <a:rPr lang="en-US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node.right</a:t>
            </a:r>
            <a:r>
              <a:rPr lang="en-US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314595-CC7C-7DFB-D71E-64A361A02A81}"/>
              </a:ext>
            </a:extLst>
          </p:cNvPr>
          <p:cNvSpPr txBox="1"/>
          <p:nvPr/>
        </p:nvSpPr>
        <p:spPr>
          <a:xfrm>
            <a:off x="1156330" y="1030692"/>
            <a:ext cx="62940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Preorder Traversal – Python Implementation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E8BC3E-7EA0-E661-1552-614B9BDCF7CE}"/>
              </a:ext>
            </a:extLst>
          </p:cNvPr>
          <p:cNvSpPr txBox="1"/>
          <p:nvPr/>
        </p:nvSpPr>
        <p:spPr>
          <a:xfrm>
            <a:off x="4749177" y="4938476"/>
            <a:ext cx="33249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Output:  3 &gt; 9 &gt; 4 &gt; 5 &gt; 8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C717C1E-83BD-82E1-F95A-F3C9D2B2CFBE}"/>
              </a:ext>
            </a:extLst>
          </p:cNvPr>
          <p:cNvSpPr/>
          <p:nvPr/>
        </p:nvSpPr>
        <p:spPr>
          <a:xfrm>
            <a:off x="2429759" y="3755423"/>
            <a:ext cx="457200" cy="4463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997B980-CFE0-7D38-B200-FCFDA7C23634}"/>
              </a:ext>
            </a:extLst>
          </p:cNvPr>
          <p:cNvSpPr/>
          <p:nvPr/>
        </p:nvSpPr>
        <p:spPr>
          <a:xfrm>
            <a:off x="1791937" y="4788356"/>
            <a:ext cx="457200" cy="4463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882971C-0F6E-419B-4A75-EE5E8F3AA8A0}"/>
              </a:ext>
            </a:extLst>
          </p:cNvPr>
          <p:cNvSpPr/>
          <p:nvPr/>
        </p:nvSpPr>
        <p:spPr>
          <a:xfrm>
            <a:off x="3045003" y="4743201"/>
            <a:ext cx="457200" cy="4463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4481489-FB18-340E-C270-AD6F478C5558}"/>
              </a:ext>
            </a:extLst>
          </p:cNvPr>
          <p:cNvSpPr/>
          <p:nvPr/>
        </p:nvSpPr>
        <p:spPr>
          <a:xfrm>
            <a:off x="973493" y="5934178"/>
            <a:ext cx="457200" cy="4463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F234D50-86D1-4277-EA55-36C2E1C19B53}"/>
              </a:ext>
            </a:extLst>
          </p:cNvPr>
          <p:cNvSpPr/>
          <p:nvPr/>
        </p:nvSpPr>
        <p:spPr>
          <a:xfrm>
            <a:off x="2655537" y="5922889"/>
            <a:ext cx="457200" cy="4463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5790C9E-E840-085D-9DF1-4CC5B2AD2493}"/>
              </a:ext>
            </a:extLst>
          </p:cNvPr>
          <p:cNvCxnSpPr>
            <a:stCxn id="24" idx="3"/>
            <a:endCxn id="25" idx="0"/>
          </p:cNvCxnSpPr>
          <p:nvPr/>
        </p:nvCxnSpPr>
        <p:spPr>
          <a:xfrm flipH="1">
            <a:off x="2020537" y="4136376"/>
            <a:ext cx="476177" cy="6519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C6F33DF-9DBC-CDD6-5E8D-FCEEFF86DE50}"/>
              </a:ext>
            </a:extLst>
          </p:cNvPr>
          <p:cNvCxnSpPr>
            <a:cxnSpLocks/>
            <a:stCxn id="24" idx="5"/>
            <a:endCxn id="26" idx="0"/>
          </p:cNvCxnSpPr>
          <p:nvPr/>
        </p:nvCxnSpPr>
        <p:spPr>
          <a:xfrm>
            <a:off x="2820004" y="4136376"/>
            <a:ext cx="453599" cy="606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6160720-B582-8709-E8E5-357F01755482}"/>
              </a:ext>
            </a:extLst>
          </p:cNvPr>
          <p:cNvCxnSpPr>
            <a:cxnSpLocks/>
            <a:stCxn id="27" idx="0"/>
            <a:endCxn id="25" idx="3"/>
          </p:cNvCxnSpPr>
          <p:nvPr/>
        </p:nvCxnSpPr>
        <p:spPr>
          <a:xfrm flipV="1">
            <a:off x="1202093" y="5169309"/>
            <a:ext cx="656799" cy="764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2460ACE-04BE-E9D1-F6DE-DD9664105374}"/>
              </a:ext>
            </a:extLst>
          </p:cNvPr>
          <p:cNvCxnSpPr>
            <a:cxnSpLocks/>
            <a:stCxn id="28" idx="0"/>
            <a:endCxn id="25" idx="5"/>
          </p:cNvCxnSpPr>
          <p:nvPr/>
        </p:nvCxnSpPr>
        <p:spPr>
          <a:xfrm flipH="1" flipV="1">
            <a:off x="2182182" y="5169309"/>
            <a:ext cx="701955" cy="7535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8348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46908A-62B6-5F80-85A0-38B7752B811C}"/>
              </a:ext>
            </a:extLst>
          </p:cNvPr>
          <p:cNvSpPr txBox="1"/>
          <p:nvPr/>
        </p:nvSpPr>
        <p:spPr>
          <a:xfrm>
            <a:off x="3776958" y="1893413"/>
            <a:ext cx="60973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sz="24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traverseInOrder</a:t>
            </a: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(node):</a:t>
            </a:r>
            <a:b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if </a:t>
            </a:r>
            <a:r>
              <a:rPr lang="en-US" sz="24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node.left</a:t>
            </a: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!= None:</a:t>
            </a:r>
            <a:b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24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traverseInOrder</a:t>
            </a: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node.left</a:t>
            </a: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print(</a:t>
            </a:r>
            <a:r>
              <a:rPr lang="en-US" sz="24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node.value</a:t>
            </a: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if </a:t>
            </a:r>
            <a:r>
              <a:rPr lang="en-US" sz="24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node.right</a:t>
            </a: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!= None:</a:t>
            </a:r>
            <a:b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24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traverseInOrder</a:t>
            </a: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node.right</a:t>
            </a: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314595-CC7C-7DFB-D71E-64A361A02A81}"/>
              </a:ext>
            </a:extLst>
          </p:cNvPr>
          <p:cNvSpPr txBox="1"/>
          <p:nvPr/>
        </p:nvSpPr>
        <p:spPr>
          <a:xfrm>
            <a:off x="1156330" y="1030692"/>
            <a:ext cx="60969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Inorder</a:t>
            </a:r>
            <a:r>
              <a:rPr lang="en-US" sz="2400" b="1" dirty="0"/>
              <a:t> Traversal – Python Implementation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E8BC3E-7EA0-E661-1552-614B9BDCF7CE}"/>
              </a:ext>
            </a:extLst>
          </p:cNvPr>
          <p:cNvSpPr txBox="1"/>
          <p:nvPr/>
        </p:nvSpPr>
        <p:spPr>
          <a:xfrm>
            <a:off x="6096000" y="5265852"/>
            <a:ext cx="33249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Output:  4 &gt; 9 &gt; 5 &gt; 3 &gt; 8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C717C1E-83BD-82E1-F95A-F3C9D2B2CFBE}"/>
              </a:ext>
            </a:extLst>
          </p:cNvPr>
          <p:cNvSpPr/>
          <p:nvPr/>
        </p:nvSpPr>
        <p:spPr>
          <a:xfrm>
            <a:off x="2437851" y="3475176"/>
            <a:ext cx="457200" cy="4463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997B980-CFE0-7D38-B200-FCFDA7C23634}"/>
              </a:ext>
            </a:extLst>
          </p:cNvPr>
          <p:cNvSpPr/>
          <p:nvPr/>
        </p:nvSpPr>
        <p:spPr>
          <a:xfrm>
            <a:off x="1800029" y="4508109"/>
            <a:ext cx="457200" cy="4463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882971C-0F6E-419B-4A75-EE5E8F3AA8A0}"/>
              </a:ext>
            </a:extLst>
          </p:cNvPr>
          <p:cNvSpPr/>
          <p:nvPr/>
        </p:nvSpPr>
        <p:spPr>
          <a:xfrm>
            <a:off x="3053095" y="4462954"/>
            <a:ext cx="457200" cy="4463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4481489-FB18-340E-C270-AD6F478C5558}"/>
              </a:ext>
            </a:extLst>
          </p:cNvPr>
          <p:cNvSpPr/>
          <p:nvPr/>
        </p:nvSpPr>
        <p:spPr>
          <a:xfrm>
            <a:off x="981585" y="5653931"/>
            <a:ext cx="457200" cy="4463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F234D50-86D1-4277-EA55-36C2E1C19B53}"/>
              </a:ext>
            </a:extLst>
          </p:cNvPr>
          <p:cNvSpPr/>
          <p:nvPr/>
        </p:nvSpPr>
        <p:spPr>
          <a:xfrm>
            <a:off x="2663629" y="5642642"/>
            <a:ext cx="457200" cy="4463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5790C9E-E840-085D-9DF1-4CC5B2AD2493}"/>
              </a:ext>
            </a:extLst>
          </p:cNvPr>
          <p:cNvCxnSpPr>
            <a:stCxn id="24" idx="3"/>
            <a:endCxn id="25" idx="0"/>
          </p:cNvCxnSpPr>
          <p:nvPr/>
        </p:nvCxnSpPr>
        <p:spPr>
          <a:xfrm flipH="1">
            <a:off x="2028629" y="3856129"/>
            <a:ext cx="476177" cy="6519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C6F33DF-9DBC-CDD6-5E8D-FCEEFF86DE50}"/>
              </a:ext>
            </a:extLst>
          </p:cNvPr>
          <p:cNvCxnSpPr>
            <a:cxnSpLocks/>
            <a:stCxn id="24" idx="5"/>
            <a:endCxn id="26" idx="0"/>
          </p:cNvCxnSpPr>
          <p:nvPr/>
        </p:nvCxnSpPr>
        <p:spPr>
          <a:xfrm>
            <a:off x="2828096" y="3856129"/>
            <a:ext cx="453599" cy="606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6160720-B582-8709-E8E5-357F01755482}"/>
              </a:ext>
            </a:extLst>
          </p:cNvPr>
          <p:cNvCxnSpPr>
            <a:cxnSpLocks/>
            <a:stCxn id="27" idx="0"/>
            <a:endCxn id="25" idx="3"/>
          </p:cNvCxnSpPr>
          <p:nvPr/>
        </p:nvCxnSpPr>
        <p:spPr>
          <a:xfrm flipV="1">
            <a:off x="1210185" y="4889062"/>
            <a:ext cx="656799" cy="764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2460ACE-04BE-E9D1-F6DE-DD9664105374}"/>
              </a:ext>
            </a:extLst>
          </p:cNvPr>
          <p:cNvCxnSpPr>
            <a:cxnSpLocks/>
            <a:stCxn id="28" idx="0"/>
            <a:endCxn id="25" idx="5"/>
          </p:cNvCxnSpPr>
          <p:nvPr/>
        </p:nvCxnSpPr>
        <p:spPr>
          <a:xfrm flipH="1" flipV="1">
            <a:off x="2190274" y="4889062"/>
            <a:ext cx="701955" cy="7535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87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46908A-62B6-5F80-85A0-38B7752B811C}"/>
              </a:ext>
            </a:extLst>
          </p:cNvPr>
          <p:cNvSpPr txBox="1"/>
          <p:nvPr/>
        </p:nvSpPr>
        <p:spPr>
          <a:xfrm>
            <a:off x="3776957" y="1893413"/>
            <a:ext cx="698544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sz="24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traversePostOrder</a:t>
            </a: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(node):</a:t>
            </a:r>
            <a:b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if </a:t>
            </a:r>
            <a:r>
              <a:rPr lang="en-US" sz="24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node.left</a:t>
            </a: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!= None:</a:t>
            </a:r>
            <a:b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24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traversePostOrder</a:t>
            </a: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node.left</a:t>
            </a: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if </a:t>
            </a:r>
            <a:r>
              <a:rPr lang="en-US" sz="24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node.right</a:t>
            </a: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!= None:</a:t>
            </a:r>
            <a:b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24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traversePostOrder</a:t>
            </a: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node.right</a:t>
            </a: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print(</a:t>
            </a:r>
            <a:r>
              <a:rPr lang="en-US" sz="24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node.value</a:t>
            </a: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314595-CC7C-7DFB-D71E-64A361A02A81}"/>
              </a:ext>
            </a:extLst>
          </p:cNvPr>
          <p:cNvSpPr txBox="1"/>
          <p:nvPr/>
        </p:nvSpPr>
        <p:spPr>
          <a:xfrm>
            <a:off x="1156330" y="1030692"/>
            <a:ext cx="64450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Postorder</a:t>
            </a:r>
            <a:r>
              <a:rPr lang="en-US" sz="2400" b="1" dirty="0"/>
              <a:t> Traversal – Python Implementation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E8BC3E-7EA0-E661-1552-614B9BDCF7CE}"/>
              </a:ext>
            </a:extLst>
          </p:cNvPr>
          <p:cNvSpPr txBox="1"/>
          <p:nvPr/>
        </p:nvSpPr>
        <p:spPr>
          <a:xfrm>
            <a:off x="6789218" y="5081186"/>
            <a:ext cx="28248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Output:  4&gt;5&gt;9&gt;8&gt;3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C717C1E-83BD-82E1-F95A-F3C9D2B2CFBE}"/>
              </a:ext>
            </a:extLst>
          </p:cNvPr>
          <p:cNvSpPr/>
          <p:nvPr/>
        </p:nvSpPr>
        <p:spPr>
          <a:xfrm>
            <a:off x="2437851" y="3475176"/>
            <a:ext cx="457200" cy="4463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997B980-CFE0-7D38-B200-FCFDA7C23634}"/>
              </a:ext>
            </a:extLst>
          </p:cNvPr>
          <p:cNvSpPr/>
          <p:nvPr/>
        </p:nvSpPr>
        <p:spPr>
          <a:xfrm>
            <a:off x="1800029" y="4508109"/>
            <a:ext cx="457200" cy="4463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882971C-0F6E-419B-4A75-EE5E8F3AA8A0}"/>
              </a:ext>
            </a:extLst>
          </p:cNvPr>
          <p:cNvSpPr/>
          <p:nvPr/>
        </p:nvSpPr>
        <p:spPr>
          <a:xfrm>
            <a:off x="3053095" y="4462954"/>
            <a:ext cx="457200" cy="4463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4481489-FB18-340E-C270-AD6F478C5558}"/>
              </a:ext>
            </a:extLst>
          </p:cNvPr>
          <p:cNvSpPr/>
          <p:nvPr/>
        </p:nvSpPr>
        <p:spPr>
          <a:xfrm>
            <a:off x="981585" y="5653931"/>
            <a:ext cx="457200" cy="4463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F234D50-86D1-4277-EA55-36C2E1C19B53}"/>
              </a:ext>
            </a:extLst>
          </p:cNvPr>
          <p:cNvSpPr/>
          <p:nvPr/>
        </p:nvSpPr>
        <p:spPr>
          <a:xfrm>
            <a:off x="2663629" y="5642642"/>
            <a:ext cx="457200" cy="4463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5790C9E-E840-085D-9DF1-4CC5B2AD2493}"/>
              </a:ext>
            </a:extLst>
          </p:cNvPr>
          <p:cNvCxnSpPr>
            <a:stCxn id="24" idx="3"/>
            <a:endCxn id="25" idx="0"/>
          </p:cNvCxnSpPr>
          <p:nvPr/>
        </p:nvCxnSpPr>
        <p:spPr>
          <a:xfrm flipH="1">
            <a:off x="2028629" y="3856129"/>
            <a:ext cx="476177" cy="6519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C6F33DF-9DBC-CDD6-5E8D-FCEEFF86DE50}"/>
              </a:ext>
            </a:extLst>
          </p:cNvPr>
          <p:cNvCxnSpPr>
            <a:cxnSpLocks/>
            <a:stCxn id="24" idx="5"/>
            <a:endCxn id="26" idx="0"/>
          </p:cNvCxnSpPr>
          <p:nvPr/>
        </p:nvCxnSpPr>
        <p:spPr>
          <a:xfrm>
            <a:off x="2828096" y="3856129"/>
            <a:ext cx="453599" cy="606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6160720-B582-8709-E8E5-357F01755482}"/>
              </a:ext>
            </a:extLst>
          </p:cNvPr>
          <p:cNvCxnSpPr>
            <a:cxnSpLocks/>
            <a:stCxn id="27" idx="0"/>
            <a:endCxn id="25" idx="3"/>
          </p:cNvCxnSpPr>
          <p:nvPr/>
        </p:nvCxnSpPr>
        <p:spPr>
          <a:xfrm flipV="1">
            <a:off x="1210185" y="4889062"/>
            <a:ext cx="656799" cy="764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2460ACE-04BE-E9D1-F6DE-DD9664105374}"/>
              </a:ext>
            </a:extLst>
          </p:cNvPr>
          <p:cNvCxnSpPr>
            <a:cxnSpLocks/>
            <a:stCxn id="28" idx="0"/>
            <a:endCxn id="25" idx="5"/>
          </p:cNvCxnSpPr>
          <p:nvPr/>
        </p:nvCxnSpPr>
        <p:spPr>
          <a:xfrm flipH="1" flipV="1">
            <a:off x="2190274" y="4889062"/>
            <a:ext cx="701955" cy="7535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146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C4D2AC-5569-0DB5-6F1B-C4D73A8781F1}"/>
              </a:ext>
            </a:extLst>
          </p:cNvPr>
          <p:cNvSpPr txBox="1"/>
          <p:nvPr/>
        </p:nvSpPr>
        <p:spPr>
          <a:xfrm>
            <a:off x="1080260" y="419142"/>
            <a:ext cx="883709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Exercise:</a:t>
            </a:r>
          </a:p>
          <a:p>
            <a:endParaRPr lang="en-US" dirty="0"/>
          </a:p>
          <a:p>
            <a:r>
              <a:rPr lang="en-US" dirty="0"/>
              <a:t>Find out the preorder, </a:t>
            </a:r>
            <a:r>
              <a:rPr lang="en-US" dirty="0" err="1"/>
              <a:t>inorder</a:t>
            </a:r>
            <a:r>
              <a:rPr lang="en-US" dirty="0"/>
              <a:t>, and </a:t>
            </a:r>
            <a:r>
              <a:rPr lang="en-US" dirty="0" err="1"/>
              <a:t>postorder</a:t>
            </a:r>
            <a:r>
              <a:rPr lang="en-US" dirty="0"/>
              <a:t> traversal results for the </a:t>
            </a:r>
          </a:p>
          <a:p>
            <a:r>
              <a:rPr lang="en-US" dirty="0"/>
              <a:t>following binary tree: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E74BC00-7C68-F3C3-197A-A5432C86A9F1}"/>
              </a:ext>
            </a:extLst>
          </p:cNvPr>
          <p:cNvSpPr/>
          <p:nvPr/>
        </p:nvSpPr>
        <p:spPr>
          <a:xfrm>
            <a:off x="5127014" y="2590800"/>
            <a:ext cx="435586" cy="42840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AF6FEFD-159C-9AFE-6B05-3D9EB3FEE7B4}"/>
              </a:ext>
            </a:extLst>
          </p:cNvPr>
          <p:cNvSpPr/>
          <p:nvPr/>
        </p:nvSpPr>
        <p:spPr>
          <a:xfrm>
            <a:off x="4233294" y="3497960"/>
            <a:ext cx="487769" cy="4019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52693D2-F4F3-B1DD-C40F-D17D439CEAEF}"/>
              </a:ext>
            </a:extLst>
          </p:cNvPr>
          <p:cNvSpPr/>
          <p:nvPr/>
        </p:nvSpPr>
        <p:spPr>
          <a:xfrm>
            <a:off x="5913889" y="3497960"/>
            <a:ext cx="487769" cy="4708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2ADE636-5D23-5CF5-0756-49FA8BE7177B}"/>
              </a:ext>
            </a:extLst>
          </p:cNvPr>
          <p:cNvSpPr/>
          <p:nvPr/>
        </p:nvSpPr>
        <p:spPr>
          <a:xfrm>
            <a:off x="4705654" y="4575344"/>
            <a:ext cx="418234" cy="4317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9AEF293-EDCB-C97A-5C62-44C8E708293E}"/>
              </a:ext>
            </a:extLst>
          </p:cNvPr>
          <p:cNvSpPr/>
          <p:nvPr/>
        </p:nvSpPr>
        <p:spPr>
          <a:xfrm>
            <a:off x="3723304" y="4558344"/>
            <a:ext cx="440293" cy="4317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E7CF75-2BD3-AA37-AB41-D74B93CEB2B1}"/>
              </a:ext>
            </a:extLst>
          </p:cNvPr>
          <p:cNvCxnSpPr>
            <a:cxnSpLocks/>
            <a:stCxn id="3" idx="3"/>
            <a:endCxn id="4" idx="0"/>
          </p:cNvCxnSpPr>
          <p:nvPr/>
        </p:nvCxnSpPr>
        <p:spPr>
          <a:xfrm flipH="1">
            <a:off x="4477179" y="2956464"/>
            <a:ext cx="713625" cy="5414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AD8840C-40CE-EF92-129A-14497F9B0E68}"/>
              </a:ext>
            </a:extLst>
          </p:cNvPr>
          <p:cNvCxnSpPr>
            <a:cxnSpLocks/>
            <a:stCxn id="3" idx="5"/>
            <a:endCxn id="5" idx="0"/>
          </p:cNvCxnSpPr>
          <p:nvPr/>
        </p:nvCxnSpPr>
        <p:spPr>
          <a:xfrm>
            <a:off x="5498810" y="2956464"/>
            <a:ext cx="658964" cy="5414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F73EEBF-1478-0368-A26F-FB4828AD4051}"/>
              </a:ext>
            </a:extLst>
          </p:cNvPr>
          <p:cNvCxnSpPr>
            <a:cxnSpLocks/>
            <a:stCxn id="7" idx="0"/>
            <a:endCxn id="4" idx="3"/>
          </p:cNvCxnSpPr>
          <p:nvPr/>
        </p:nvCxnSpPr>
        <p:spPr>
          <a:xfrm flipV="1">
            <a:off x="3943451" y="3841024"/>
            <a:ext cx="361275" cy="717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BEF88B5-6E80-634A-1FF8-992F914E207E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4649631" y="3841024"/>
            <a:ext cx="265140" cy="73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328E3E5A-6A30-47B1-7EA3-8CC1F95346DB}"/>
              </a:ext>
            </a:extLst>
          </p:cNvPr>
          <p:cNvSpPr/>
          <p:nvPr/>
        </p:nvSpPr>
        <p:spPr>
          <a:xfrm>
            <a:off x="5560108" y="4575345"/>
            <a:ext cx="435586" cy="4317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1EDC17-FA6C-C96A-5F0B-CCF47CFA0014}"/>
              </a:ext>
            </a:extLst>
          </p:cNvPr>
          <p:cNvCxnSpPr>
            <a:cxnSpLocks/>
            <a:stCxn id="12" idx="0"/>
            <a:endCxn id="5" idx="3"/>
          </p:cNvCxnSpPr>
          <p:nvPr/>
        </p:nvCxnSpPr>
        <p:spPr>
          <a:xfrm flipV="1">
            <a:off x="5777901" y="3899885"/>
            <a:ext cx="207420" cy="675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EF4295A5-49C5-85FE-A6EB-EFDB35248CC0}"/>
              </a:ext>
            </a:extLst>
          </p:cNvPr>
          <p:cNvSpPr/>
          <p:nvPr/>
        </p:nvSpPr>
        <p:spPr>
          <a:xfrm>
            <a:off x="6553932" y="4558345"/>
            <a:ext cx="418234" cy="4317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20EF6AA-388E-B616-C9F2-398F8379A300}"/>
              </a:ext>
            </a:extLst>
          </p:cNvPr>
          <p:cNvCxnSpPr>
            <a:cxnSpLocks/>
            <a:stCxn id="14" idx="0"/>
            <a:endCxn id="5" idx="5"/>
          </p:cNvCxnSpPr>
          <p:nvPr/>
        </p:nvCxnSpPr>
        <p:spPr>
          <a:xfrm flipH="1" flipV="1">
            <a:off x="6330226" y="3899885"/>
            <a:ext cx="432823" cy="658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5306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46E219B-56A5-C6AF-2A86-2FA7935E5037}"/>
              </a:ext>
            </a:extLst>
          </p:cNvPr>
          <p:cNvSpPr txBox="1">
            <a:spLocks noChangeArrowheads="1"/>
          </p:cNvSpPr>
          <p:nvPr/>
        </p:nvSpPr>
        <p:spPr>
          <a:xfrm>
            <a:off x="4648200" y="2857500"/>
            <a:ext cx="7772400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54844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548446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548446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548446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548446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548446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548446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548446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548446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kern="0" dirty="0"/>
              <a:t>Attendance</a:t>
            </a:r>
          </a:p>
        </p:txBody>
      </p:sp>
    </p:spTree>
    <p:extLst>
      <p:ext uri="{BB962C8B-B14F-4D97-AF65-F5344CB8AC3E}">
        <p14:creationId xmlns:p14="http://schemas.microsoft.com/office/powerpoint/2010/main" val="2146154066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Arial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6369</TotalTime>
  <Words>1644</Words>
  <Application>Microsoft Macintosh PowerPoint</Application>
  <PresentationFormat>Widescreen</PresentationFormat>
  <Paragraphs>236</Paragraphs>
  <Slides>31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Consolas</vt:lpstr>
      <vt:lpstr>Courier New</vt:lpstr>
      <vt:lpstr>Times</vt:lpstr>
      <vt:lpstr>Times New Roman</vt:lpstr>
      <vt:lpstr>Wingdings</vt:lpstr>
      <vt:lpstr>Blank</vt:lpstr>
      <vt:lpstr>Trees</vt:lpstr>
      <vt:lpstr>Trees</vt:lpstr>
      <vt:lpstr>Properties</vt:lpstr>
      <vt:lpstr>PowerPoint Presentation</vt:lpstr>
      <vt:lpstr>PowerPoint Presentation</vt:lpstr>
      <vt:lpstr>PowerPoint Presentation</vt:lpstr>
      <vt:lpstr>Examples</vt:lpstr>
      <vt:lpstr>Terminology</vt:lpstr>
      <vt:lpstr>Terminology</vt:lpstr>
      <vt:lpstr>More Examples</vt:lpstr>
      <vt:lpstr>Terminology</vt:lpstr>
      <vt:lpstr>Terminology</vt:lpstr>
      <vt:lpstr>Tree Representation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11</dc:title>
  <dc:creator>soukaina</dc:creator>
  <cp:lastModifiedBy>S M Towhidul Islam</cp:lastModifiedBy>
  <cp:revision>143</cp:revision>
  <dcterms:created xsi:type="dcterms:W3CDTF">2003-05-23T15:49:24Z</dcterms:created>
  <dcterms:modified xsi:type="dcterms:W3CDTF">2025-10-15T19:29:07Z</dcterms:modified>
</cp:coreProperties>
</file>
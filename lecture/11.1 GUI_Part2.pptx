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21" r:id="rId3"/>
    <p:sldId id="320" r:id="rId4"/>
    <p:sldId id="313" r:id="rId5"/>
    <p:sldId id="293" r:id="rId6"/>
    <p:sldId id="311" r:id="rId7"/>
    <p:sldId id="314" r:id="rId8"/>
    <p:sldId id="298" r:id="rId9"/>
    <p:sldId id="300" r:id="rId10"/>
    <p:sldId id="301" r:id="rId11"/>
    <p:sldId id="316" r:id="rId12"/>
    <p:sldId id="317" r:id="rId13"/>
    <p:sldId id="3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/>
    <p:restoredTop sz="97030"/>
  </p:normalViewPr>
  <p:slideViewPr>
    <p:cSldViewPr snapToGrid="0">
      <p:cViewPr varScale="1">
        <p:scale>
          <a:sx n="105" d="100"/>
          <a:sy n="105" d="100"/>
        </p:scale>
        <p:origin x="2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C2C3B-021A-9D49-853F-B959A5CB5CB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FCCA4-38CF-C64A-95F9-6C37BF62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03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8E01-18E5-B3B2-6BD3-743EF6A67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2D2CD-59F6-183D-3748-5C42F233E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F5252-EC86-DBAE-96A0-D824EF5A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D4E8E-8122-D5E8-2747-CE5805D6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B75A5-DF98-0DF0-CBA3-81AEFC58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7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F0DB-1D3B-5572-13CB-E0D45993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DA7A0-B209-F58E-4120-9F4CCA719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944DF-3429-484B-3965-81231496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CBFCB-11FF-F03D-1993-3014F287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A83A1-CF18-BAE1-8EBA-7AEDAF4D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1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A76E-656E-5D8F-5FED-2F1095B8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55288-BBB8-740D-E170-43B067D53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5A12E-05A1-44B4-B6FE-645C1460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8010-B4DA-5EE6-B1E5-3468D0CB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DE51-6197-D34D-B9C6-825B6DBE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8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2FCA-41AC-0EB0-46D2-7E7D43D7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A9EBB-9F7E-D59A-27E2-39A596530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77FC8-6CAA-AC87-C47C-A3A34B7F5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CB1CE-4893-E93F-9CB0-12CD4D61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FB455-69EC-AB60-A930-5DB6B43B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5F92C-51C9-0062-9CA4-12D8DAE8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8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017B-3709-6E69-A0D6-E81D7275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0F84D-5DCE-4C4D-5EF8-25CB797A8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C9CB5-88A7-18A6-6D58-A05BF033D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0797EE-C922-AECC-EF0C-2E769AD6E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8B70A-4622-1079-21D9-DC14A3AC8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A59BB2-4138-AD4C-49DA-8196E400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7E879-2387-86F2-3CDC-3D7ECAC2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67F1B-8C6E-081A-2412-B91090A3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8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32AB-7671-F61F-3D86-132F22BB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5AC73-860A-C708-F1D1-F2234DAD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C2674-0A8F-BAEB-61C3-8C62F9E8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A21AF-AB73-6E95-DD5B-8D3D0EA4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8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236BC-0024-806B-A37C-6E45CBE25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7156D-CE7B-0F0A-6814-7C3496E3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A433B-4D6F-5FF0-6416-22B9265C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6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5E2DD-6842-C41C-C141-C844D34E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6B9B-F962-6782-5027-8D14C6A79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31846-42CF-3B68-F401-34E9CFD13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0CCB9-6BB6-71BD-8FDA-749CFDE5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EA86B-AF20-08AE-09A4-98BBB758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A871F-0BDD-E436-C1E5-FAD2A38E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1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6C6C-D8CC-51F3-F683-30C9BB50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EE5BB-92C8-DCB3-240A-957190CCD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6F5A0-75D8-E345-2558-3B0FB3536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9655C-7931-0249-C554-D666D993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68579-18A8-9A58-B7ED-9ADBBCF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6515F-2DA3-B308-4E41-491A4916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0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2EF4-FE52-54B3-5C65-FD4C9831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014FA-940E-7D1A-9B19-4D02AE498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D8E52-CED7-F3BA-7B89-357474BB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04327-7B8E-9297-0A27-3E3B524A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0B247-4685-2957-2660-484FDB1E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4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49B65-29FD-B5FE-51E3-310F3D19D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D51DB-B9AD-8AAB-B4F5-0B1F82B8E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71E2B-9F17-AFE7-879A-BBFDA872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1F6A1-0EFA-801B-45F5-E97B03F3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B11D-EC18-07D4-07DC-9E324A07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9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3518E-D86D-3F25-684B-39B7E2C2E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39F74-2871-FB2E-31F5-69D89B882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958FC-A432-A6A8-3902-D2AC4188C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3179B-AD67-9D48-B5F9-A9C3E68738A5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1DE9D-B8C2-AE26-0416-D0ECF4FAF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BB8DC-89AE-0EBB-7CF1-78B4ABAAA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E1A53-BC0D-7E40-95AB-B3567230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2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84C8-F5EE-5288-AC5C-38FCFE771E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Graphical User Interface – Part2</a:t>
            </a:r>
          </a:p>
        </p:txBody>
      </p:sp>
    </p:spTree>
    <p:extLst>
      <p:ext uri="{BB962C8B-B14F-4D97-AF65-F5344CB8AC3E}">
        <p14:creationId xmlns:p14="http://schemas.microsoft.com/office/powerpoint/2010/main" val="216234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F0B1-9FAF-7F85-56CE-D9F36781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Setting default window and font 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E6F46-2050-9691-DC3C-1C60D6160764}"/>
              </a:ext>
            </a:extLst>
          </p:cNvPr>
          <p:cNvSpPr txBox="1"/>
          <p:nvPr/>
        </p:nvSpPr>
        <p:spPr>
          <a:xfrm>
            <a:off x="3048990" y="1862309"/>
            <a:ext cx="609797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from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tkinter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import Tk, Label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root = Tk()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root.geometry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('1048x700')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custom_font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= ('Times New Roman', 28)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root.option_add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("*Font",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custom_font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)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 = Label(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root,text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="Hello World")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l.pack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()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root.mainloop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()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036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C115-0BA9-286A-07DC-DC27B8EC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E85FD-8F01-6A3F-2C25-405DEA56D22A}"/>
              </a:ext>
            </a:extLst>
          </p:cNvPr>
          <p:cNvSpPr txBox="1"/>
          <p:nvPr/>
        </p:nvSpPr>
        <p:spPr>
          <a:xfrm>
            <a:off x="2407723" y="1935679"/>
            <a:ext cx="83048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from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tkinter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import Tk, Label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root = Tk()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label_1 = Label(master=root, text='Hello')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label_2 = Label(master=root, text='World')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label_1.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highlight>
                  <a:srgbClr val="FFFF00"/>
                </a:highlight>
              </a:rPr>
              <a:t>place(x=100, y=10)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highlight>
                  <a:srgbClr val="FFFF00"/>
                </a:highlight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label_2.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highlight>
                  <a:srgbClr val="FFFF00"/>
                </a:highlight>
              </a:rPr>
              <a:t>place(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highlight>
                  <a:srgbClr val="FFFF00"/>
                </a:highlight>
              </a:rPr>
              <a:t>relx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highlight>
                  <a:srgbClr val="FFFF00"/>
                </a:highlight>
              </a:rPr>
              <a:t>=.5,rely=.5) 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root.mainloop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9761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7C87-1DB3-0755-9D50-DABBEBBE5C8E}"/>
              </a:ext>
            </a:extLst>
          </p:cNvPr>
          <p:cNvSpPr txBox="1">
            <a:spLocks/>
          </p:cNvSpPr>
          <p:nvPr/>
        </p:nvSpPr>
        <p:spPr>
          <a:xfrm>
            <a:off x="1109899" y="790367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Placing Widgets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34BA5-9B2E-FAB4-5F1D-18D5311A0DEC}"/>
              </a:ext>
            </a:extLst>
          </p:cNvPr>
          <p:cNvSpPr txBox="1"/>
          <p:nvPr/>
        </p:nvSpPr>
        <p:spPr>
          <a:xfrm>
            <a:off x="3496680" y="2629978"/>
            <a:ext cx="4727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pack() vs grid() vs place()</a:t>
            </a:r>
          </a:p>
        </p:txBody>
      </p:sp>
    </p:spTree>
    <p:extLst>
      <p:ext uri="{BB962C8B-B14F-4D97-AF65-F5344CB8AC3E}">
        <p14:creationId xmlns:p14="http://schemas.microsoft.com/office/powerpoint/2010/main" val="30199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2D3C6-B3B4-F221-5ABB-109FA2832D5C}"/>
              </a:ext>
            </a:extLst>
          </p:cNvPr>
          <p:cNvSpPr txBox="1"/>
          <p:nvPr/>
        </p:nvSpPr>
        <p:spPr>
          <a:xfrm>
            <a:off x="2299421" y="1344186"/>
            <a:ext cx="759315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33B3"/>
                </a:solidFill>
                <a:latin typeface="JetBrains Mono"/>
              </a:rPr>
              <a:t>from </a:t>
            </a:r>
            <a:r>
              <a:rPr lang="en-US" sz="2000" dirty="0" err="1">
                <a:solidFill>
                  <a:srgbClr val="080808"/>
                </a:solidFill>
                <a:latin typeface="JetBrains Mono"/>
              </a:rPr>
              <a:t>tkinter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sz="2000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Tk, Text</a:t>
            </a: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sz="2000" dirty="0">
                <a:solidFill>
                  <a:srgbClr val="0033B3"/>
                </a:solidFill>
                <a:highlight>
                  <a:srgbClr val="FFFF00"/>
                </a:highlight>
                <a:latin typeface="JetBrains Mono"/>
              </a:rPr>
              <a:t>def </a:t>
            </a:r>
            <a:r>
              <a:rPr lang="en-US" sz="2000" dirty="0">
                <a:solidFill>
                  <a:srgbClr val="00627A"/>
                </a:solidFill>
                <a:highlight>
                  <a:srgbClr val="FFFF00"/>
                </a:highlight>
                <a:latin typeface="JetBrains Mono"/>
              </a:rPr>
              <a:t>record</a:t>
            </a:r>
            <a:r>
              <a:rPr lang="en-US" sz="2000" dirty="0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(event):</a:t>
            </a:r>
            <a:br>
              <a:rPr lang="en-US" sz="2000" dirty="0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    </a:t>
            </a:r>
            <a:r>
              <a:rPr lang="en-US" sz="2000" dirty="0">
                <a:solidFill>
                  <a:srgbClr val="000080"/>
                </a:solidFill>
                <a:highlight>
                  <a:srgbClr val="FFFF00"/>
                </a:highlight>
                <a:latin typeface="JetBrains Mono"/>
              </a:rPr>
              <a:t>print</a:t>
            </a:r>
            <a:r>
              <a:rPr lang="en-US" sz="2000" dirty="0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(</a:t>
            </a:r>
            <a:r>
              <a:rPr lang="en-US" sz="2000" dirty="0" err="1">
                <a:solidFill>
                  <a:srgbClr val="067D17"/>
                </a:solidFill>
                <a:highlight>
                  <a:srgbClr val="FFFF00"/>
                </a:highlight>
                <a:latin typeface="JetBrains Mono"/>
              </a:rPr>
              <a:t>f'Key</a:t>
            </a:r>
            <a:r>
              <a:rPr lang="en-US" sz="2000" dirty="0">
                <a:solidFill>
                  <a:srgbClr val="067D17"/>
                </a:solidFill>
                <a:highlight>
                  <a:srgbClr val="FFFF00"/>
                </a:highlight>
                <a:latin typeface="JetBrains Mono"/>
              </a:rPr>
              <a:t>=</a:t>
            </a:r>
            <a:r>
              <a:rPr lang="en-US" sz="2000" dirty="0">
                <a:solidFill>
                  <a:srgbClr val="0037A6"/>
                </a:solidFill>
                <a:highlight>
                  <a:srgbClr val="FFFF00"/>
                </a:highlight>
                <a:latin typeface="JetBrains Mono"/>
              </a:rPr>
              <a:t>{</a:t>
            </a:r>
            <a:r>
              <a:rPr lang="en-US" sz="2000" dirty="0" err="1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event.keysym</a:t>
            </a:r>
            <a:r>
              <a:rPr lang="en-US" sz="2000" dirty="0">
                <a:solidFill>
                  <a:srgbClr val="0037A6"/>
                </a:solidFill>
                <a:highlight>
                  <a:srgbClr val="FFFF00"/>
                </a:highlight>
                <a:latin typeface="JetBrains Mono"/>
              </a:rPr>
              <a:t>}</a:t>
            </a:r>
            <a:r>
              <a:rPr lang="en-US" sz="2000" dirty="0">
                <a:solidFill>
                  <a:srgbClr val="067D17"/>
                </a:solidFill>
                <a:highlight>
                  <a:srgbClr val="FFFF00"/>
                </a:highlight>
                <a:latin typeface="JetBrains Mono"/>
              </a:rPr>
              <a:t>'</a:t>
            </a:r>
            <a:r>
              <a:rPr lang="en-US" sz="2000" dirty="0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)</a:t>
            </a: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latin typeface="JetBrains Mono"/>
              </a:rPr>
              <a:t>root = Tk()</a:t>
            </a: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latin typeface="JetBrains Mono"/>
              </a:rPr>
              <a:t>txt = Text(</a:t>
            </a:r>
            <a:r>
              <a:rPr lang="en-US" sz="2000" dirty="0">
                <a:solidFill>
                  <a:srgbClr val="660099"/>
                </a:solidFill>
                <a:latin typeface="JetBrains Mono"/>
              </a:rPr>
              <a:t>master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=root, </a:t>
            </a:r>
            <a:r>
              <a:rPr lang="en-US" sz="2000" dirty="0">
                <a:solidFill>
                  <a:srgbClr val="660099"/>
                </a:solidFill>
                <a:latin typeface="JetBrains Mono"/>
              </a:rPr>
              <a:t>height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sz="20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2000" dirty="0">
                <a:solidFill>
                  <a:srgbClr val="660099"/>
                </a:solidFill>
                <a:latin typeface="JetBrains Mono"/>
              </a:rPr>
              <a:t>width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sz="2000" dirty="0">
                <a:solidFill>
                  <a:srgbClr val="1750EB"/>
                </a:solidFill>
                <a:latin typeface="JetBrains Mono"/>
              </a:rPr>
              <a:t>20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sz="2000" i="1" dirty="0">
                <a:solidFill>
                  <a:srgbClr val="8C8C8C"/>
                </a:solidFill>
                <a:latin typeface="JetBrains Mono"/>
              </a:rPr>
              <a:t>#Bind Event</a:t>
            </a:r>
            <a:br>
              <a:rPr lang="en-US" sz="2000" i="1" dirty="0">
                <a:solidFill>
                  <a:srgbClr val="8C8C8C"/>
                </a:solidFill>
                <a:latin typeface="JetBrains Mono"/>
              </a:rPr>
            </a:br>
            <a:r>
              <a:rPr lang="en-US" sz="2000" dirty="0" err="1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txt.bind</a:t>
            </a:r>
            <a:r>
              <a:rPr lang="en-US" sz="2000" dirty="0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(</a:t>
            </a:r>
            <a:r>
              <a:rPr lang="en-US" sz="2000" dirty="0">
                <a:solidFill>
                  <a:srgbClr val="067D17"/>
                </a:solidFill>
                <a:highlight>
                  <a:srgbClr val="FFFF00"/>
                </a:highlight>
                <a:latin typeface="JetBrains Mono"/>
              </a:rPr>
              <a:t>'&lt;</a:t>
            </a:r>
            <a:r>
              <a:rPr lang="en-US" sz="2000" dirty="0" err="1">
                <a:solidFill>
                  <a:srgbClr val="067D17"/>
                </a:solidFill>
                <a:highlight>
                  <a:srgbClr val="FFFF00"/>
                </a:highlight>
                <a:latin typeface="JetBrains Mono"/>
              </a:rPr>
              <a:t>KeyPress</a:t>
            </a:r>
            <a:r>
              <a:rPr lang="en-US" sz="2000" dirty="0">
                <a:solidFill>
                  <a:srgbClr val="067D17"/>
                </a:solidFill>
                <a:highlight>
                  <a:srgbClr val="FFFF00"/>
                </a:highlight>
                <a:latin typeface="JetBrains Mono"/>
              </a:rPr>
              <a:t>&gt;'</a:t>
            </a:r>
            <a:r>
              <a:rPr lang="en-US" sz="2000" dirty="0">
                <a:solidFill>
                  <a:srgbClr val="080808"/>
                </a:solidFill>
                <a:highlight>
                  <a:srgbClr val="FFFF00"/>
                </a:highlight>
                <a:latin typeface="JetBrains Mono"/>
              </a:rPr>
              <a:t>, record)</a:t>
            </a: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sz="2000" dirty="0" err="1">
                <a:solidFill>
                  <a:srgbClr val="080808"/>
                </a:solidFill>
                <a:latin typeface="JetBrains Mono"/>
              </a:rPr>
              <a:t>txt.pack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sz="2000" dirty="0" err="1">
                <a:solidFill>
                  <a:srgbClr val="080808"/>
                </a:solidFill>
                <a:latin typeface="JetBrains Mono"/>
              </a:rPr>
              <a:t>root.mainloop</a:t>
            </a:r>
            <a:r>
              <a:rPr lang="en-US" sz="2000" dirty="0">
                <a:solidFill>
                  <a:srgbClr val="080808"/>
                </a:solidFill>
                <a:latin typeface="JetBrains Mono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FD671-811F-0620-CEF3-390BD4882FCA}"/>
              </a:ext>
            </a:extLst>
          </p:cNvPr>
          <p:cNvSpPr txBox="1"/>
          <p:nvPr/>
        </p:nvSpPr>
        <p:spPr>
          <a:xfrm>
            <a:off x="6282648" y="5821757"/>
            <a:ext cx="7746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text.bind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('&lt;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KeyPress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&gt;', record)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7896D1-4067-C804-BB1A-93A027252164}"/>
              </a:ext>
            </a:extLst>
          </p:cNvPr>
          <p:cNvSpPr txBox="1">
            <a:spLocks/>
          </p:cNvSpPr>
          <p:nvPr/>
        </p:nvSpPr>
        <p:spPr>
          <a:xfrm>
            <a:off x="832553" y="541595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Binding events – </a:t>
            </a:r>
            <a:r>
              <a:rPr lang="en-US" sz="3200" b="1" dirty="0" err="1"/>
              <a:t>KeyPress</a:t>
            </a:r>
            <a:r>
              <a:rPr lang="en-US" sz="3200" b="1" dirty="0"/>
              <a:t> 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58CB0F-6114-CE97-79C4-40373E67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244040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2D3C6-B3B4-F221-5ABB-109FA2832D5C}"/>
              </a:ext>
            </a:extLst>
          </p:cNvPr>
          <p:cNvSpPr txBox="1"/>
          <p:nvPr/>
        </p:nvSpPr>
        <p:spPr>
          <a:xfrm>
            <a:off x="2095940" y="1432634"/>
            <a:ext cx="75931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tkinter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import Tk, Text, END</a:t>
            </a:r>
          </a:p>
          <a:p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record(event):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text.delete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(1.0,END)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text.insert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END,f"Mouse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is at ({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event.x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event.y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})")</a:t>
            </a:r>
          </a:p>
          <a:p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root = Tk()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text = Text(master=root, height=10, width=50,font=('Arial',24))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text.pack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text.bind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('&lt;Motion&gt;',record)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root.mainloop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FD671-811F-0620-CEF3-390BD4882FCA}"/>
              </a:ext>
            </a:extLst>
          </p:cNvPr>
          <p:cNvSpPr txBox="1"/>
          <p:nvPr/>
        </p:nvSpPr>
        <p:spPr>
          <a:xfrm>
            <a:off x="6327037" y="5404507"/>
            <a:ext cx="7746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text.bind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(‘&lt;Motion&gt;', record)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7896D1-4067-C804-BB1A-93A027252164}"/>
              </a:ext>
            </a:extLst>
          </p:cNvPr>
          <p:cNvSpPr txBox="1">
            <a:spLocks/>
          </p:cNvSpPr>
          <p:nvPr/>
        </p:nvSpPr>
        <p:spPr>
          <a:xfrm>
            <a:off x="832553" y="541595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Binding events – Mouse Motion 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58CB0F-6114-CE97-79C4-40373E67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Computing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9327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2458C-E7BC-2DFC-7A97-D150F2F55FF6}"/>
              </a:ext>
            </a:extLst>
          </p:cNvPr>
          <p:cNvSpPr txBox="1"/>
          <p:nvPr/>
        </p:nvSpPr>
        <p:spPr>
          <a:xfrm>
            <a:off x="3681611" y="437322"/>
            <a:ext cx="4625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Building a Simple GUI Application</a:t>
            </a:r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CCFB13-3EBA-6A17-C675-C29EC3D1F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70" y="1028370"/>
            <a:ext cx="9906859" cy="52734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96E0B4-3A2F-427C-5A3E-B96BEA7AD3E5}"/>
              </a:ext>
            </a:extLst>
          </p:cNvPr>
          <p:cNvSpPr/>
          <p:nvPr/>
        </p:nvSpPr>
        <p:spPr>
          <a:xfrm>
            <a:off x="4333863" y="6273225"/>
            <a:ext cx="367357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Student Records App</a:t>
            </a:r>
          </a:p>
        </p:txBody>
      </p:sp>
    </p:spTree>
    <p:extLst>
      <p:ext uri="{BB962C8B-B14F-4D97-AF65-F5344CB8AC3E}">
        <p14:creationId xmlns:p14="http://schemas.microsoft.com/office/powerpoint/2010/main" val="417230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763038-0552-4F20-48E5-9ABBBAACF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95" y="913616"/>
            <a:ext cx="9307715" cy="495456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0F9239A-32C5-8DFC-D0A6-037B770986E0}"/>
              </a:ext>
            </a:extLst>
          </p:cNvPr>
          <p:cNvSpPr/>
          <p:nvPr/>
        </p:nvSpPr>
        <p:spPr>
          <a:xfrm>
            <a:off x="1483567" y="914400"/>
            <a:ext cx="9349274" cy="5093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0209FF-EE1F-7482-799B-9BA5FA96B021}"/>
              </a:ext>
            </a:extLst>
          </p:cNvPr>
          <p:cNvSpPr/>
          <p:nvPr/>
        </p:nvSpPr>
        <p:spPr>
          <a:xfrm>
            <a:off x="1981944" y="6037106"/>
            <a:ext cx="837742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Student Records App – Frontend / User Interface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FAC91-3E02-AAC7-881D-204C34047AAE}"/>
              </a:ext>
            </a:extLst>
          </p:cNvPr>
          <p:cNvSpPr/>
          <p:nvPr/>
        </p:nvSpPr>
        <p:spPr>
          <a:xfrm>
            <a:off x="83975" y="1418453"/>
            <a:ext cx="12298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Labels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840D275-FE5B-6A39-9DB5-320DB17D2FD5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313799" y="1707502"/>
            <a:ext cx="1644005" cy="3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A9C6C9D-9997-294D-78F6-DE22B95F16D7}"/>
              </a:ext>
            </a:extLst>
          </p:cNvPr>
          <p:cNvSpPr/>
          <p:nvPr/>
        </p:nvSpPr>
        <p:spPr>
          <a:xfrm>
            <a:off x="4405633" y="152600"/>
            <a:ext cx="91563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Title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A8929C-5FA1-9847-6BCF-95E3F7ECBA9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491273" y="444988"/>
            <a:ext cx="1914360" cy="4507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2D35CA1-8813-D702-A79F-469C21013B55}"/>
              </a:ext>
            </a:extLst>
          </p:cNvPr>
          <p:cNvSpPr/>
          <p:nvPr/>
        </p:nvSpPr>
        <p:spPr>
          <a:xfrm>
            <a:off x="10920913" y="1322036"/>
            <a:ext cx="106612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Entry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52153F-8CB7-4A6F-C1BD-F99B8DF6656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479902" y="1614424"/>
            <a:ext cx="14410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4FD75D7-A0FB-2CA1-69FF-EF0EF6FA6381}"/>
              </a:ext>
            </a:extLst>
          </p:cNvPr>
          <p:cNvSpPr/>
          <p:nvPr/>
        </p:nvSpPr>
        <p:spPr>
          <a:xfrm>
            <a:off x="10888120" y="2426159"/>
            <a:ext cx="13225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Button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EA0D8C-65E0-C90C-6105-F50BE8ECE31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053944" y="2718547"/>
            <a:ext cx="38341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194EE44-C031-10D5-788C-36AF385FF476}"/>
              </a:ext>
            </a:extLst>
          </p:cNvPr>
          <p:cNvSpPr/>
          <p:nvPr/>
        </p:nvSpPr>
        <p:spPr>
          <a:xfrm>
            <a:off x="10893991" y="4230078"/>
            <a:ext cx="86293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Text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0187A5-F4EF-C5A4-4083-E3DA31CCE368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6096000" y="4522466"/>
            <a:ext cx="4797991" cy="37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40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1" grpId="0"/>
      <p:bldP spid="17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0209FF-EE1F-7482-799B-9BA5FA96B021}"/>
              </a:ext>
            </a:extLst>
          </p:cNvPr>
          <p:cNvSpPr/>
          <p:nvPr/>
        </p:nvSpPr>
        <p:spPr>
          <a:xfrm>
            <a:off x="4455166" y="588028"/>
            <a:ext cx="367357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Student Records App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CE0A8-BF1E-0C23-3206-2917C393D2D1}"/>
              </a:ext>
            </a:extLst>
          </p:cNvPr>
          <p:cNvSpPr txBox="1"/>
          <p:nvPr/>
        </p:nvSpPr>
        <p:spPr>
          <a:xfrm>
            <a:off x="1464907" y="1791477"/>
            <a:ext cx="812607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Required </a:t>
            </a:r>
            <a:r>
              <a:rPr lang="en-US" sz="2800" b="1" dirty="0" err="1"/>
              <a:t>tkinter</a:t>
            </a:r>
            <a:r>
              <a:rPr lang="en-US" sz="2800" b="1" dirty="0"/>
              <a:t> widgets:</a:t>
            </a:r>
          </a:p>
          <a:p>
            <a:r>
              <a:rPr lang="en-US" sz="2800" dirty="0"/>
              <a:t>	Labels – 3 (To display the text)</a:t>
            </a:r>
          </a:p>
          <a:p>
            <a:r>
              <a:rPr lang="en-US" sz="2800" dirty="0"/>
              <a:t>	Entries – 3 (To take inputs from user)</a:t>
            </a:r>
          </a:p>
          <a:p>
            <a:r>
              <a:rPr lang="en-US" sz="2800" dirty="0"/>
              <a:t>	Buttons – 2 (To add and display student records)</a:t>
            </a:r>
          </a:p>
          <a:p>
            <a:r>
              <a:rPr lang="en-US" sz="2800" dirty="0"/>
              <a:t>	Text – 1 (To display student records)</a:t>
            </a:r>
          </a:p>
        </p:txBody>
      </p:sp>
    </p:spTree>
    <p:extLst>
      <p:ext uri="{BB962C8B-B14F-4D97-AF65-F5344CB8AC3E}">
        <p14:creationId xmlns:p14="http://schemas.microsoft.com/office/powerpoint/2010/main" val="231088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0209FF-EE1F-7482-799B-9BA5FA96B021}"/>
              </a:ext>
            </a:extLst>
          </p:cNvPr>
          <p:cNvSpPr/>
          <p:nvPr/>
        </p:nvSpPr>
        <p:spPr>
          <a:xfrm>
            <a:off x="3062744" y="588028"/>
            <a:ext cx="645843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Student Records App – Storing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CE0A8-BF1E-0C23-3206-2917C393D2D1}"/>
              </a:ext>
            </a:extLst>
          </p:cNvPr>
          <p:cNvSpPr txBox="1"/>
          <p:nvPr/>
        </p:nvSpPr>
        <p:spPr>
          <a:xfrm>
            <a:off x="1352940" y="3657600"/>
            <a:ext cx="1706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Example: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39EFB6-53E0-3BE4-2A13-85AACB80F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97437"/>
              </p:ext>
            </p:extLst>
          </p:nvPr>
        </p:nvGraphicFramePr>
        <p:xfrm>
          <a:off x="3169296" y="4504819"/>
          <a:ext cx="663048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0162">
                  <a:extLst>
                    <a:ext uri="{9D8B030D-6E8A-4147-A177-3AD203B41FA5}">
                      <a16:colId xmlns:a16="http://schemas.microsoft.com/office/drawing/2014/main" val="797965714"/>
                    </a:ext>
                  </a:extLst>
                </a:gridCol>
                <a:gridCol w="1908033">
                  <a:extLst>
                    <a:ext uri="{9D8B030D-6E8A-4147-A177-3AD203B41FA5}">
                      <a16:colId xmlns:a16="http://schemas.microsoft.com/office/drawing/2014/main" val="1991339509"/>
                    </a:ext>
                  </a:extLst>
                </a:gridCol>
                <a:gridCol w="2512291">
                  <a:extLst>
                    <a:ext uri="{9D8B030D-6E8A-4147-A177-3AD203B41FA5}">
                      <a16:colId xmlns:a16="http://schemas.microsoft.com/office/drawing/2014/main" val="385445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PantherID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74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ab@student.gsu.edu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3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cd@student.gsu.edu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3428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1621B3-A567-BA5A-8290-D82E1BBBBC78}"/>
              </a:ext>
            </a:extLst>
          </p:cNvPr>
          <p:cNvSpPr txBox="1"/>
          <p:nvPr/>
        </p:nvSpPr>
        <p:spPr>
          <a:xfrm>
            <a:off x="1328058" y="1607975"/>
            <a:ext cx="61857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To save Student Records to a csv file:</a:t>
            </a:r>
          </a:p>
          <a:p>
            <a:endParaRPr lang="en-US" sz="2800" b="1" dirty="0"/>
          </a:p>
          <a:p>
            <a:r>
              <a:rPr lang="en-US" sz="2800" dirty="0"/>
              <a:t>	</a:t>
            </a:r>
            <a:r>
              <a:rPr lang="en-US" sz="2800" dirty="0" err="1"/>
              <a:t>student_records.csv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812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F01B79-5C7E-6F4C-8431-13FC7102B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066" y="1151427"/>
            <a:ext cx="7535322" cy="4011110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6FCFFDAA-10C0-63C9-7A6A-7F4A6B95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4583" y="9071559"/>
            <a:ext cx="4114800" cy="365125"/>
          </a:xfrm>
        </p:spPr>
        <p:txBody>
          <a:bodyPr/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Computing Using 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5C628A-F626-3C44-D4B4-21FBB25CD70B}"/>
              </a:ext>
            </a:extLst>
          </p:cNvPr>
          <p:cNvSpPr/>
          <p:nvPr/>
        </p:nvSpPr>
        <p:spPr>
          <a:xfrm>
            <a:off x="976944" y="422993"/>
            <a:ext cx="85151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1FEB36F6-9D0F-76D0-E5E2-A32EFF9F2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5781" y="3732349"/>
            <a:ext cx="438150" cy="438150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2AFE51CE-3CE9-0942-4FFB-23B82684C86C}"/>
              </a:ext>
            </a:extLst>
          </p:cNvPr>
          <p:cNvSpPr/>
          <p:nvPr/>
        </p:nvSpPr>
        <p:spPr>
          <a:xfrm>
            <a:off x="821093" y="3748676"/>
            <a:ext cx="1651519" cy="438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Student</a:t>
            </a:r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88691E07-35D6-EFF0-6BD1-940E3CFBB5BF}"/>
              </a:ext>
            </a:extLst>
          </p:cNvPr>
          <p:cNvSpPr/>
          <p:nvPr/>
        </p:nvSpPr>
        <p:spPr>
          <a:xfrm>
            <a:off x="839755" y="5483394"/>
            <a:ext cx="1813250" cy="4673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Students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C3DF13-8CA8-D070-76B3-4D531FF46EF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72612" y="3967946"/>
            <a:ext cx="8677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6A327C-373A-870F-5D16-5544234E0A3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853931" y="3951424"/>
            <a:ext cx="15982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DE46A7-CC87-79C1-8324-78AA3884B17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653005" y="5717049"/>
            <a:ext cx="715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7CAB0AEA-2177-153C-0677-1ADFD45F6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3577" y="5474258"/>
            <a:ext cx="438150" cy="43815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12904B-8376-4B72-DAE9-6618FA051709}"/>
              </a:ext>
            </a:extLst>
          </p:cNvPr>
          <p:cNvCxnSpPr>
            <a:cxnSpLocks/>
          </p:cNvCxnSpPr>
          <p:nvPr/>
        </p:nvCxnSpPr>
        <p:spPr>
          <a:xfrm>
            <a:off x="3825939" y="5693333"/>
            <a:ext cx="15982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4FFC67-D154-C63F-3DCD-0F218B4A56A0}"/>
              </a:ext>
            </a:extLst>
          </p:cNvPr>
          <p:cNvSpPr txBox="1"/>
          <p:nvPr/>
        </p:nvSpPr>
        <p:spPr>
          <a:xfrm>
            <a:off x="5589036" y="3711356"/>
            <a:ext cx="49359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-Obtain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PantherID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and Email from GUI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-Insert a row in 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student_records.csv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-clear the entries for user friendliness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2104A-B819-6432-FB9B-EBB9476BB50A}"/>
              </a:ext>
            </a:extLst>
          </p:cNvPr>
          <p:cNvSpPr txBox="1"/>
          <p:nvPr/>
        </p:nvSpPr>
        <p:spPr>
          <a:xfrm>
            <a:off x="5601477" y="5477952"/>
            <a:ext cx="41024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-Clear the Text widget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-Obtain the student records from Database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-Display the records in the Text widget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55E834-B9E5-20A9-2FA1-46B9FB01541A}"/>
              </a:ext>
            </a:extLst>
          </p:cNvPr>
          <p:cNvSpPr txBox="1"/>
          <p:nvPr/>
        </p:nvSpPr>
        <p:spPr>
          <a:xfrm>
            <a:off x="2827176" y="4149112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21BAF2-6A6B-D71C-E8FB-7481B20FED8B}"/>
              </a:ext>
            </a:extLst>
          </p:cNvPr>
          <p:cNvSpPr txBox="1"/>
          <p:nvPr/>
        </p:nvSpPr>
        <p:spPr>
          <a:xfrm>
            <a:off x="2970245" y="6018345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list_student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0602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0CD3B-5E9E-36A9-CE98-69AF238DE765}"/>
              </a:ext>
            </a:extLst>
          </p:cNvPr>
          <p:cNvSpPr txBox="1"/>
          <p:nvPr/>
        </p:nvSpPr>
        <p:spPr>
          <a:xfrm>
            <a:off x="2838616" y="2234317"/>
            <a:ext cx="60752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 Records App – Source Code</a:t>
            </a:r>
          </a:p>
          <a:p>
            <a:endParaRPr lang="en-US" dirty="0"/>
          </a:p>
          <a:p>
            <a:r>
              <a:rPr lang="en-US" dirty="0" err="1"/>
              <a:t>iCollege</a:t>
            </a:r>
            <a:r>
              <a:rPr lang="en-US" dirty="0"/>
              <a:t> &gt; Content &gt; Coding Demo &gt; </a:t>
            </a:r>
            <a:r>
              <a:rPr lang="en-US" dirty="0" err="1"/>
              <a:t>student_record_app.py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605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F2D92-0C49-549A-787F-BCC525F44E46}"/>
              </a:ext>
            </a:extLst>
          </p:cNvPr>
          <p:cNvSpPr txBox="1"/>
          <p:nvPr/>
        </p:nvSpPr>
        <p:spPr>
          <a:xfrm>
            <a:off x="4728256" y="3136612"/>
            <a:ext cx="23501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291201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577</Words>
  <Application>Microsoft Macintosh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JetBrains Mono</vt:lpstr>
      <vt:lpstr>Times New Roman</vt:lpstr>
      <vt:lpstr>Office Theme</vt:lpstr>
      <vt:lpstr>Graphical User Interface – Part2</vt:lpstr>
      <vt:lpstr>Setting default window and font size</vt:lpstr>
      <vt:lpstr>place()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 User Interface – Part2</dc:title>
  <dc:creator>Towhid Islam</dc:creator>
  <cp:lastModifiedBy>S M Towhidul Islam</cp:lastModifiedBy>
  <cp:revision>14</cp:revision>
  <dcterms:created xsi:type="dcterms:W3CDTF">2024-04-02T17:29:20Z</dcterms:created>
  <dcterms:modified xsi:type="dcterms:W3CDTF">2025-11-03T20:31:52Z</dcterms:modified>
</cp:coreProperties>
</file>